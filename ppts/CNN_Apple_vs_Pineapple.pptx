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B6403E-E832-4DB4-90FA-C9BE1231BC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9178FD-24F3-4F16-864A-8B6A5408A0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516F52-40B2-4FB3-B866-9FE13CD92C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87A1F2-77B5-4E0C-ADA6-840A1DDD24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98601B-6906-4F24-994E-9CF58747F1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5D4AA3-B492-47F5-8631-752FA043CA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BFF53D-FDA6-4D76-9B70-E7D20CB54E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40607F-2441-4033-9701-F449C41B97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C9581C-4723-4672-BC33-5E63F3D644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4560BF-C8F6-4819-ABCA-441CB0CB2A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FCB97B-700A-4080-A501-465C49039E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3291840"/>
            <a:ext cx="12188520" cy="7272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365760" y="4572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UNDERSTANDING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365760" y="100584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Convolutional Neural Networks</a:t>
            </a: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365760" y="20116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 Visual Journey with Apple vs Pineapple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365760" y="352044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8961120" y="3657600"/>
            <a:ext cx="2925720" cy="2742840"/>
          </a:xfrm>
          <a:prstGeom prst="rect">
            <a:avLst/>
          </a:prstGeom>
          <a:solidFill>
            <a:srgbClr val="0f1732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9144000" y="379476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What you will learn: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9144000" y="416052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  ✓  What a CNN is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9144000" y="450792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  ✓  How each layer works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9144000" y="485532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  ✓  Data Augmentation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9144000" y="52030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  ✓  Training parameters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9144000" y="55504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  ✓  Live Python example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The Problem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How does a computer 'see' and recognise objects?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5"/>
          <p:cNvSpPr/>
          <p:nvPr/>
        </p:nvSpPr>
        <p:spPr>
          <a:xfrm>
            <a:off x="274320" y="1554480"/>
            <a:ext cx="5394600" cy="4937400"/>
          </a:xfrm>
          <a:prstGeom prst="rect">
            <a:avLst/>
          </a:prstGeom>
          <a:solidFill>
            <a:srgbClr val="0f1732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457200" y="169164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How WE see it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457200" y="2194560"/>
            <a:ext cx="482760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 look at shape, colour, texture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 instantly recognise a Pineapple by its crown &amp; diamond skin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 instantly recognise an Apple by its round shape &amp; red/green colour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 learned from seeing thousands of examples as children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752400" y="2693160"/>
            <a:ext cx="4827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2"/>
          <p:cNvSpPr/>
          <p:nvPr/>
        </p:nvSpPr>
        <p:spPr>
          <a:xfrm>
            <a:off x="749880" y="3271680"/>
            <a:ext cx="48276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4"/>
          <p:cNvSpPr/>
          <p:nvPr/>
        </p:nvSpPr>
        <p:spPr>
          <a:xfrm>
            <a:off x="752400" y="3932280"/>
            <a:ext cx="4827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15"/>
          <p:cNvSpPr/>
          <p:nvPr/>
        </p:nvSpPr>
        <p:spPr>
          <a:xfrm>
            <a:off x="5943600" y="1554480"/>
            <a:ext cx="5943240" cy="4937400"/>
          </a:xfrm>
          <a:prstGeom prst="rect">
            <a:avLst/>
          </a:prstGeom>
          <a:solidFill>
            <a:srgbClr val="0f1732"/>
          </a:solidFill>
          <a:ln w="1905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6"/>
          <p:cNvSpPr/>
          <p:nvPr/>
        </p:nvSpPr>
        <p:spPr>
          <a:xfrm>
            <a:off x="6126480" y="1691640"/>
            <a:ext cx="5577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How a COMPUTER sees it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7"/>
          <p:cNvSpPr/>
          <p:nvPr/>
        </p:nvSpPr>
        <p:spPr>
          <a:xfrm>
            <a:off x="6126480" y="2194560"/>
            <a:ext cx="273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8"/>
          <p:cNvSpPr/>
          <p:nvPr/>
        </p:nvSpPr>
        <p:spPr>
          <a:xfrm>
            <a:off x="6126480" y="2194560"/>
            <a:ext cx="528480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 computer sees only a grid of numbers (pixels)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Each pixel is 3 numbers: Red, Green, Blue (0-255)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 128x128 image = 49,152 individual numbers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 CNN learns patterns in these numbers through training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0"/>
          <p:cNvSpPr/>
          <p:nvPr/>
        </p:nvSpPr>
        <p:spPr>
          <a:xfrm>
            <a:off x="6419160" y="3063240"/>
            <a:ext cx="5284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2"/>
          <p:cNvSpPr/>
          <p:nvPr/>
        </p:nvSpPr>
        <p:spPr>
          <a:xfrm>
            <a:off x="6419160" y="3931920"/>
            <a:ext cx="5284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4"/>
          <p:cNvSpPr/>
          <p:nvPr/>
        </p:nvSpPr>
        <p:spPr>
          <a:xfrm>
            <a:off x="6419160" y="4800600"/>
            <a:ext cx="5284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00e57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What is a CNN?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Convolutional Neural Network — A series of specialised inspectors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320040" y="1463040"/>
            <a:ext cx="11521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Imagine a conveyor belt with specialised inspectors, each trained to look for specific features.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6"/>
          <p:cNvSpPr/>
          <p:nvPr/>
        </p:nvSpPr>
        <p:spPr>
          <a:xfrm>
            <a:off x="274320" y="2286000"/>
            <a:ext cx="1462680" cy="1645560"/>
          </a:xfrm>
          <a:prstGeom prst="rect">
            <a:avLst/>
          </a:prstGeom>
          <a:solidFill>
            <a:srgbClr val="121e3a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274320" y="237744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Input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Image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274320" y="297180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128×128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pixels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9"/>
          <p:cNvSpPr/>
          <p:nvPr/>
        </p:nvSpPr>
        <p:spPr>
          <a:xfrm>
            <a:off x="1755720" y="2834640"/>
            <a:ext cx="23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a4a6a"/>
                </a:solidFill>
                <a:effectLst/>
                <a:uFillTx/>
                <a:latin typeface="Calibri"/>
              </a:rPr>
              <a:t>→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10"/>
          <p:cNvSpPr/>
          <p:nvPr/>
        </p:nvSpPr>
        <p:spPr>
          <a:xfrm>
            <a:off x="1920240" y="2286000"/>
            <a:ext cx="1462680" cy="1645560"/>
          </a:xfrm>
          <a:prstGeom prst="rect">
            <a:avLst/>
          </a:prstGeom>
          <a:solidFill>
            <a:srgbClr val="121e3a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11"/>
          <p:cNvSpPr/>
          <p:nvPr/>
        </p:nvSpPr>
        <p:spPr>
          <a:xfrm>
            <a:off x="1920240" y="237744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Conv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Block 1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2"/>
          <p:cNvSpPr/>
          <p:nvPr/>
        </p:nvSpPr>
        <p:spPr>
          <a:xfrm>
            <a:off x="1920240" y="297180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Edges &amp;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textures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3"/>
          <p:cNvSpPr/>
          <p:nvPr/>
        </p:nvSpPr>
        <p:spPr>
          <a:xfrm>
            <a:off x="3401640" y="2834640"/>
            <a:ext cx="23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a4a6a"/>
                </a:solidFill>
                <a:effectLst/>
                <a:uFillTx/>
                <a:latin typeface="Calibri"/>
              </a:rPr>
              <a:t>→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14"/>
          <p:cNvSpPr/>
          <p:nvPr/>
        </p:nvSpPr>
        <p:spPr>
          <a:xfrm>
            <a:off x="3566160" y="2286000"/>
            <a:ext cx="1462680" cy="1645560"/>
          </a:xfrm>
          <a:prstGeom prst="rect">
            <a:avLst/>
          </a:prstGeom>
          <a:solidFill>
            <a:srgbClr val="121e3a"/>
          </a:solidFill>
          <a:ln w="1905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5"/>
          <p:cNvSpPr/>
          <p:nvPr/>
        </p:nvSpPr>
        <p:spPr>
          <a:xfrm>
            <a:off x="3566160" y="237744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Conv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Block 2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6"/>
          <p:cNvSpPr/>
          <p:nvPr/>
        </p:nvSpPr>
        <p:spPr>
          <a:xfrm>
            <a:off x="3566160" y="297180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Shapes &amp;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patterns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7"/>
          <p:cNvSpPr/>
          <p:nvPr/>
        </p:nvSpPr>
        <p:spPr>
          <a:xfrm>
            <a:off x="5047560" y="2834640"/>
            <a:ext cx="23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a4a6a"/>
                </a:solidFill>
                <a:effectLst/>
                <a:uFillTx/>
                <a:latin typeface="Calibri"/>
              </a:rPr>
              <a:t>→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8"/>
          <p:cNvSpPr/>
          <p:nvPr/>
        </p:nvSpPr>
        <p:spPr>
          <a:xfrm>
            <a:off x="5212080" y="2286000"/>
            <a:ext cx="1462680" cy="1645560"/>
          </a:xfrm>
          <a:prstGeom prst="rect">
            <a:avLst/>
          </a:prstGeom>
          <a:solidFill>
            <a:srgbClr val="121e3a"/>
          </a:solidFill>
          <a:ln w="1905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19"/>
          <p:cNvSpPr/>
          <p:nvPr/>
        </p:nvSpPr>
        <p:spPr>
          <a:xfrm>
            <a:off x="5212080" y="237744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Conv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Block 3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0"/>
          <p:cNvSpPr/>
          <p:nvPr/>
        </p:nvSpPr>
        <p:spPr>
          <a:xfrm>
            <a:off x="5212080" y="297180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Object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parts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1"/>
          <p:cNvSpPr/>
          <p:nvPr/>
        </p:nvSpPr>
        <p:spPr>
          <a:xfrm>
            <a:off x="6693480" y="2834640"/>
            <a:ext cx="23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a4a6a"/>
                </a:solidFill>
                <a:effectLst/>
                <a:uFillTx/>
                <a:latin typeface="Calibri"/>
              </a:rPr>
              <a:t>→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22"/>
          <p:cNvSpPr/>
          <p:nvPr/>
        </p:nvSpPr>
        <p:spPr>
          <a:xfrm>
            <a:off x="6858000" y="2286000"/>
            <a:ext cx="1462680" cy="1645560"/>
          </a:xfrm>
          <a:prstGeom prst="rect">
            <a:avLst/>
          </a:prstGeom>
          <a:solidFill>
            <a:srgbClr val="121e3a"/>
          </a:solidFill>
          <a:ln w="1905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3"/>
          <p:cNvSpPr/>
          <p:nvPr/>
        </p:nvSpPr>
        <p:spPr>
          <a:xfrm>
            <a:off x="6858000" y="237744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Conv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Block 4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4"/>
          <p:cNvSpPr/>
          <p:nvPr/>
        </p:nvSpPr>
        <p:spPr>
          <a:xfrm>
            <a:off x="6858000" y="297180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High-level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features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5"/>
          <p:cNvSpPr/>
          <p:nvPr/>
        </p:nvSpPr>
        <p:spPr>
          <a:xfrm>
            <a:off x="8339400" y="2834640"/>
            <a:ext cx="23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a4a6a"/>
                </a:solidFill>
                <a:effectLst/>
                <a:uFillTx/>
                <a:latin typeface="Calibri"/>
              </a:rPr>
              <a:t>→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26"/>
          <p:cNvSpPr/>
          <p:nvPr/>
        </p:nvSpPr>
        <p:spPr>
          <a:xfrm>
            <a:off x="8503920" y="2286000"/>
            <a:ext cx="1462680" cy="1645560"/>
          </a:xfrm>
          <a:prstGeom prst="rect">
            <a:avLst/>
          </a:prstGeom>
          <a:solidFill>
            <a:srgbClr val="121e3a"/>
          </a:solidFill>
          <a:ln w="19050">
            <a:solidFill>
              <a:srgbClr val="a04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27"/>
          <p:cNvSpPr/>
          <p:nvPr/>
        </p:nvSpPr>
        <p:spPr>
          <a:xfrm>
            <a:off x="8503920" y="237744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1" u="none" strike="noStrike">
                <a:solidFill>
                  <a:srgbClr val="a040c0"/>
                </a:solidFill>
                <a:effectLst/>
                <a:uFillTx/>
                <a:latin typeface="Calibri"/>
              </a:rPr>
              <a:t>FC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a040c0"/>
                </a:solidFill>
                <a:effectLst/>
                <a:uFillTx/>
                <a:latin typeface="Calibri"/>
              </a:rPr>
              <a:t>Head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8"/>
          <p:cNvSpPr/>
          <p:nvPr/>
        </p:nvSpPr>
        <p:spPr>
          <a:xfrm>
            <a:off x="8503920" y="297180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Decision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logic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9"/>
          <p:cNvSpPr/>
          <p:nvPr/>
        </p:nvSpPr>
        <p:spPr>
          <a:xfrm>
            <a:off x="9985320" y="2834640"/>
            <a:ext cx="23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a4a6a"/>
                </a:solidFill>
                <a:effectLst/>
                <a:uFillTx/>
                <a:latin typeface="Calibri"/>
              </a:rPr>
              <a:t>→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30"/>
          <p:cNvSpPr/>
          <p:nvPr/>
        </p:nvSpPr>
        <p:spPr>
          <a:xfrm>
            <a:off x="10149840" y="2286000"/>
            <a:ext cx="1462680" cy="1645560"/>
          </a:xfrm>
          <a:prstGeom prst="rect">
            <a:avLst/>
          </a:prstGeom>
          <a:solidFill>
            <a:srgbClr val="121e3a"/>
          </a:solidFill>
          <a:ln w="19050">
            <a:solidFill>
              <a:srgbClr val="00bfa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31"/>
          <p:cNvSpPr/>
          <p:nvPr/>
        </p:nvSpPr>
        <p:spPr>
          <a:xfrm>
            <a:off x="10149840" y="237744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bfa5"/>
                </a:solidFill>
                <a:effectLst/>
                <a:uFillTx/>
                <a:latin typeface="Calibri"/>
              </a:rPr>
              <a:t>Output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32"/>
          <p:cNvSpPr/>
          <p:nvPr/>
        </p:nvSpPr>
        <p:spPr>
          <a:xfrm>
            <a:off x="10149840" y="2971800"/>
            <a:ext cx="1462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Apple or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Pineapple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3"/>
          <p:cNvSpPr/>
          <p:nvPr/>
        </p:nvSpPr>
        <p:spPr>
          <a:xfrm>
            <a:off x="274320" y="4251960"/>
            <a:ext cx="11521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Each Conv Block = Conv2d  →  BatchNorm  →  ReLU  →  MaxPool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4"/>
          <p:cNvSpPr/>
          <p:nvPr/>
        </p:nvSpPr>
        <p:spPr>
          <a:xfrm>
            <a:off x="274320" y="4709160"/>
            <a:ext cx="11521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CNN learns to map pixel patterns → fruit identity through hundreds of training examples.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5"/>
          <p:cNvSpPr/>
          <p:nvPr/>
        </p:nvSpPr>
        <p:spPr>
          <a:xfrm>
            <a:off x="274320" y="5257800"/>
            <a:ext cx="11521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Apple score: 8.5     Pineapple score: 0.2     →     Predicted: APPLE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Data Augmentation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Teaching the model to handle real-world variation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320040" y="1463040"/>
            <a:ext cx="11521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We artificially create new training images by applying small, random changes to existing ones.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6"/>
          <p:cNvSpPr/>
          <p:nvPr/>
        </p:nvSpPr>
        <p:spPr>
          <a:xfrm>
            <a:off x="274320" y="2103120"/>
            <a:ext cx="3748680" cy="4388760"/>
          </a:xfrm>
          <a:prstGeom prst="rect">
            <a:avLst/>
          </a:prstGeom>
          <a:solidFill>
            <a:srgbClr val="0f1732"/>
          </a:solidFill>
          <a:ln w="1905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7"/>
          <p:cNvSpPr/>
          <p:nvPr/>
        </p:nvSpPr>
        <p:spPr>
          <a:xfrm>
            <a:off x="411480" y="224028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Why Augmentation?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8"/>
          <p:cNvSpPr/>
          <p:nvPr/>
        </p:nvSpPr>
        <p:spPr>
          <a:xfrm>
            <a:off x="365760" y="2697480"/>
            <a:ext cx="27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•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9"/>
          <p:cNvSpPr/>
          <p:nvPr/>
        </p:nvSpPr>
        <p:spPr>
          <a:xfrm>
            <a:off x="658440" y="2697480"/>
            <a:ext cx="331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Models tend to memorise training data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0"/>
          <p:cNvSpPr/>
          <p:nvPr/>
        </p:nvSpPr>
        <p:spPr>
          <a:xfrm>
            <a:off x="365760" y="3337560"/>
            <a:ext cx="27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•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1"/>
          <p:cNvSpPr/>
          <p:nvPr/>
        </p:nvSpPr>
        <p:spPr>
          <a:xfrm>
            <a:off x="658440" y="3337560"/>
            <a:ext cx="331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Augmentation forces generalisation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2"/>
          <p:cNvSpPr/>
          <p:nvPr/>
        </p:nvSpPr>
        <p:spPr>
          <a:xfrm>
            <a:off x="365760" y="3977640"/>
            <a:ext cx="27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•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3"/>
          <p:cNvSpPr/>
          <p:nvPr/>
        </p:nvSpPr>
        <p:spPr>
          <a:xfrm>
            <a:off x="658440" y="3977640"/>
            <a:ext cx="331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 learns: 'A pineapple in dim light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is still a pineapple'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4"/>
          <p:cNvSpPr/>
          <p:nvPr/>
        </p:nvSpPr>
        <p:spPr>
          <a:xfrm>
            <a:off x="365760" y="4617720"/>
            <a:ext cx="27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•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5"/>
          <p:cNvSpPr/>
          <p:nvPr/>
        </p:nvSpPr>
        <p:spPr>
          <a:xfrm>
            <a:off x="658440" y="4617720"/>
            <a:ext cx="331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Multiplies dataset size without manual labelling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16"/>
          <p:cNvSpPr/>
          <p:nvPr/>
        </p:nvSpPr>
        <p:spPr>
          <a:xfrm>
            <a:off x="4160520" y="2103120"/>
            <a:ext cx="3748680" cy="4388760"/>
          </a:xfrm>
          <a:prstGeom prst="rect">
            <a:avLst/>
          </a:prstGeom>
          <a:solidFill>
            <a:srgbClr val="0f1732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7"/>
          <p:cNvSpPr/>
          <p:nvPr/>
        </p:nvSpPr>
        <p:spPr>
          <a:xfrm>
            <a:off x="4297680" y="224028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Augmentations Used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8"/>
          <p:cNvSpPr/>
          <p:nvPr/>
        </p:nvSpPr>
        <p:spPr>
          <a:xfrm>
            <a:off x="4251960" y="2697480"/>
            <a:ext cx="27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•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9"/>
          <p:cNvSpPr/>
          <p:nvPr/>
        </p:nvSpPr>
        <p:spPr>
          <a:xfrm>
            <a:off x="4544640" y="2697480"/>
            <a:ext cx="331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Random Horizontal Flip — mirror the image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0"/>
          <p:cNvSpPr/>
          <p:nvPr/>
        </p:nvSpPr>
        <p:spPr>
          <a:xfrm>
            <a:off x="4251960" y="3337560"/>
            <a:ext cx="27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•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1"/>
          <p:cNvSpPr/>
          <p:nvPr/>
        </p:nvSpPr>
        <p:spPr>
          <a:xfrm>
            <a:off x="4544640" y="3337560"/>
            <a:ext cx="331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Random Rotation — tilt ±10 degrees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2"/>
          <p:cNvSpPr/>
          <p:nvPr/>
        </p:nvSpPr>
        <p:spPr>
          <a:xfrm>
            <a:off x="4251960" y="3977640"/>
            <a:ext cx="27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•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3"/>
          <p:cNvSpPr/>
          <p:nvPr/>
        </p:nvSpPr>
        <p:spPr>
          <a:xfrm>
            <a:off x="4544640" y="3977640"/>
            <a:ext cx="331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Color Jitter — change brightness/contrast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4"/>
          <p:cNvSpPr/>
          <p:nvPr/>
        </p:nvSpPr>
        <p:spPr>
          <a:xfrm>
            <a:off x="4251960" y="4617720"/>
            <a:ext cx="27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•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5"/>
          <p:cNvSpPr/>
          <p:nvPr/>
        </p:nvSpPr>
        <p:spPr>
          <a:xfrm>
            <a:off x="4544640" y="4617720"/>
            <a:ext cx="331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Random Grayscale — remove colour sometimes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6"/>
          <p:cNvSpPr/>
          <p:nvPr/>
        </p:nvSpPr>
        <p:spPr>
          <a:xfrm>
            <a:off x="4251960" y="5257800"/>
            <a:ext cx="27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•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7"/>
          <p:cNvSpPr/>
          <p:nvPr/>
        </p:nvSpPr>
        <p:spPr>
          <a:xfrm>
            <a:off x="4544640" y="5257800"/>
            <a:ext cx="331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Random Crop — zoom/shift slightly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28"/>
          <p:cNvSpPr/>
          <p:nvPr/>
        </p:nvSpPr>
        <p:spPr>
          <a:xfrm>
            <a:off x="8046720" y="2103120"/>
            <a:ext cx="3748680" cy="4388760"/>
          </a:xfrm>
          <a:prstGeom prst="rect">
            <a:avLst/>
          </a:prstGeom>
          <a:solidFill>
            <a:srgbClr val="0f1732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29"/>
          <p:cNvSpPr/>
          <p:nvPr/>
        </p:nvSpPr>
        <p:spPr>
          <a:xfrm>
            <a:off x="8183880" y="224028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Standard Normalisation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0"/>
          <p:cNvSpPr/>
          <p:nvPr/>
        </p:nvSpPr>
        <p:spPr>
          <a:xfrm>
            <a:off x="8138160" y="2697480"/>
            <a:ext cx="27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•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31"/>
          <p:cNvSpPr/>
          <p:nvPr/>
        </p:nvSpPr>
        <p:spPr>
          <a:xfrm>
            <a:off x="8430840" y="2697480"/>
            <a:ext cx="331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Converts pixel values 0–255 → ~-2 to +2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32"/>
          <p:cNvSpPr/>
          <p:nvPr/>
        </p:nvSpPr>
        <p:spPr>
          <a:xfrm>
            <a:off x="8138160" y="3337560"/>
            <a:ext cx="27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•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33"/>
          <p:cNvSpPr/>
          <p:nvPr/>
        </p:nvSpPr>
        <p:spPr>
          <a:xfrm>
            <a:off x="8430840" y="3337560"/>
            <a:ext cx="331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Mean: [0.485, 0.456, 0.406]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34"/>
          <p:cNvSpPr/>
          <p:nvPr/>
        </p:nvSpPr>
        <p:spPr>
          <a:xfrm>
            <a:off x="8138160" y="3977640"/>
            <a:ext cx="27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•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35"/>
          <p:cNvSpPr/>
          <p:nvPr/>
        </p:nvSpPr>
        <p:spPr>
          <a:xfrm>
            <a:off x="8430840" y="3977640"/>
            <a:ext cx="331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Std:  [0.229, 0.224, 0.225]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36"/>
          <p:cNvSpPr/>
          <p:nvPr/>
        </p:nvSpPr>
        <p:spPr>
          <a:xfrm>
            <a:off x="8138160" y="4617720"/>
            <a:ext cx="27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•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7"/>
          <p:cNvSpPr/>
          <p:nvPr/>
        </p:nvSpPr>
        <p:spPr>
          <a:xfrm>
            <a:off x="8430840" y="4617720"/>
            <a:ext cx="331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Based on ImageNet statistics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8"/>
          <p:cNvSpPr/>
          <p:nvPr/>
        </p:nvSpPr>
        <p:spPr>
          <a:xfrm>
            <a:off x="8138160" y="5257800"/>
            <a:ext cx="273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•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39"/>
          <p:cNvSpPr/>
          <p:nvPr/>
        </p:nvSpPr>
        <p:spPr>
          <a:xfrm>
            <a:off x="8430840" y="5257800"/>
            <a:ext cx="331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Helps gradient descent converge faster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00e57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Layer 1 — Conv2d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The Feature Detector — slides a filter across the image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ectangle 5"/>
          <p:cNvSpPr/>
          <p:nvPr/>
        </p:nvSpPr>
        <p:spPr>
          <a:xfrm>
            <a:off x="274320" y="1554480"/>
            <a:ext cx="6400440" cy="5028840"/>
          </a:xfrm>
          <a:prstGeom prst="rect">
            <a:avLst/>
          </a:prstGeom>
          <a:solidFill>
            <a:srgbClr val="0f1732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6"/>
          <p:cNvSpPr/>
          <p:nvPr/>
        </p:nvSpPr>
        <p:spPr>
          <a:xfrm>
            <a:off x="457200" y="1691640"/>
            <a:ext cx="6034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What does it do?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7"/>
          <p:cNvSpPr/>
          <p:nvPr/>
        </p:nvSpPr>
        <p:spPr>
          <a:xfrm>
            <a:off x="457200" y="2194560"/>
            <a:ext cx="273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→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8"/>
          <p:cNvSpPr/>
          <p:nvPr/>
        </p:nvSpPr>
        <p:spPr>
          <a:xfrm>
            <a:off x="749880" y="2194560"/>
            <a:ext cx="5650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 small filter (e.g. 3×3) slides across the entire image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9"/>
          <p:cNvSpPr/>
          <p:nvPr/>
        </p:nvSpPr>
        <p:spPr>
          <a:xfrm>
            <a:off x="457200" y="2907720"/>
            <a:ext cx="273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→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10"/>
          <p:cNvSpPr/>
          <p:nvPr/>
        </p:nvSpPr>
        <p:spPr>
          <a:xfrm>
            <a:off x="749880" y="2907720"/>
            <a:ext cx="5650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Each position: multiply filter weights × pixel values, sum up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1"/>
          <p:cNvSpPr/>
          <p:nvPr/>
        </p:nvSpPr>
        <p:spPr>
          <a:xfrm>
            <a:off x="457200" y="3620880"/>
            <a:ext cx="273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→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2"/>
          <p:cNvSpPr/>
          <p:nvPr/>
        </p:nvSpPr>
        <p:spPr>
          <a:xfrm>
            <a:off x="749880" y="3620880"/>
            <a:ext cx="5650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Output: a 'feature map' highlighting where a pattern appears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3"/>
          <p:cNvSpPr/>
          <p:nvPr/>
        </p:nvSpPr>
        <p:spPr>
          <a:xfrm>
            <a:off x="457200" y="4334400"/>
            <a:ext cx="273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→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14"/>
          <p:cNvSpPr/>
          <p:nvPr/>
        </p:nvSpPr>
        <p:spPr>
          <a:xfrm>
            <a:off x="749880" y="4334400"/>
            <a:ext cx="5650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Multiple filters run in parallel — each detects a different feature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5"/>
          <p:cNvSpPr/>
          <p:nvPr/>
        </p:nvSpPr>
        <p:spPr>
          <a:xfrm>
            <a:off x="457200" y="5120640"/>
            <a:ext cx="5943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Block 1: 32 filters — detects basic edges &amp; textures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Block 2: 64 filters — combines edges into shapes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Block 3: 128 filters — complex patterns (skin texture, crown)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Block 4: 256 filters — high-level object parts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16"/>
          <p:cNvSpPr/>
          <p:nvPr/>
        </p:nvSpPr>
        <p:spPr>
          <a:xfrm>
            <a:off x="6949440" y="1554480"/>
            <a:ext cx="4937400" cy="5028840"/>
          </a:xfrm>
          <a:prstGeom prst="rect">
            <a:avLst/>
          </a:prstGeom>
          <a:solidFill>
            <a:srgbClr val="0f1732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7"/>
          <p:cNvSpPr/>
          <p:nvPr/>
        </p:nvSpPr>
        <p:spPr>
          <a:xfrm>
            <a:off x="7132320" y="169164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What does each block 'see'?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18"/>
          <p:cNvSpPr/>
          <p:nvPr/>
        </p:nvSpPr>
        <p:spPr>
          <a:xfrm>
            <a:off x="7132320" y="2240280"/>
            <a:ext cx="1096920" cy="347040"/>
          </a:xfrm>
          <a:prstGeom prst="roundRect">
            <a:avLst>
              <a:gd name="adj" fmla="val 16667"/>
            </a:avLst>
          </a:prstGeom>
          <a:solidFill>
            <a:srgbClr val="00e57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19"/>
          <p:cNvSpPr/>
          <p:nvPr/>
        </p:nvSpPr>
        <p:spPr>
          <a:xfrm>
            <a:off x="7132320" y="2240280"/>
            <a:ext cx="1096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Block 1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20"/>
          <p:cNvSpPr/>
          <p:nvPr/>
        </p:nvSpPr>
        <p:spPr>
          <a:xfrm>
            <a:off x="8366760" y="224028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Pixel edges, fine texture lines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21"/>
          <p:cNvSpPr/>
          <p:nvPr/>
        </p:nvSpPr>
        <p:spPr>
          <a:xfrm>
            <a:off x="7132320" y="3246120"/>
            <a:ext cx="1096920" cy="347040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22"/>
          <p:cNvSpPr/>
          <p:nvPr/>
        </p:nvSpPr>
        <p:spPr>
          <a:xfrm>
            <a:off x="7132320" y="3246120"/>
            <a:ext cx="1096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Block 2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23"/>
          <p:cNvSpPr/>
          <p:nvPr/>
        </p:nvSpPr>
        <p:spPr>
          <a:xfrm>
            <a:off x="8366760" y="324612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Skin patterns: diamond vs smooth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24"/>
          <p:cNvSpPr/>
          <p:nvPr/>
        </p:nvSpPr>
        <p:spPr>
          <a:xfrm>
            <a:off x="7132320" y="4251960"/>
            <a:ext cx="1096920" cy="34704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25"/>
          <p:cNvSpPr/>
          <p:nvPr/>
        </p:nvSpPr>
        <p:spPr>
          <a:xfrm>
            <a:off x="7132320" y="4251960"/>
            <a:ext cx="1096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Block 3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26"/>
          <p:cNvSpPr/>
          <p:nvPr/>
        </p:nvSpPr>
        <p:spPr>
          <a:xfrm>
            <a:off x="8366760" y="425196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Crown vs stem shape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27"/>
          <p:cNvSpPr/>
          <p:nvPr/>
        </p:nvSpPr>
        <p:spPr>
          <a:xfrm>
            <a:off x="7132320" y="5257800"/>
            <a:ext cx="1096920" cy="347040"/>
          </a:xfrm>
          <a:prstGeom prst="roundRect">
            <a:avLst>
              <a:gd name="adj" fmla="val 16667"/>
            </a:avLst>
          </a:prstGeom>
          <a:solidFill>
            <a:srgbClr val="ff4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28"/>
          <p:cNvSpPr/>
          <p:nvPr/>
        </p:nvSpPr>
        <p:spPr>
          <a:xfrm>
            <a:off x="7132320" y="5257800"/>
            <a:ext cx="1096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Block 4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9"/>
          <p:cNvSpPr/>
          <p:nvPr/>
        </p:nvSpPr>
        <p:spPr>
          <a:xfrm>
            <a:off x="8366760" y="525780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Overall silhouette — oval vs round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Layers 2 &amp; 3 — BatchNorm + ReLU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The Standardiser and the Noise Filter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ectangle 5"/>
          <p:cNvSpPr/>
          <p:nvPr/>
        </p:nvSpPr>
        <p:spPr>
          <a:xfrm>
            <a:off x="274320" y="1554480"/>
            <a:ext cx="5760360" cy="5028840"/>
          </a:xfrm>
          <a:prstGeom prst="rect">
            <a:avLst/>
          </a:prstGeom>
          <a:solidFill>
            <a:srgbClr val="0f1732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6"/>
          <p:cNvSpPr/>
          <p:nvPr/>
        </p:nvSpPr>
        <p:spPr>
          <a:xfrm>
            <a:off x="457200" y="169164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BatchNorm2d — The Standardiser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7"/>
          <p:cNvSpPr/>
          <p:nvPr/>
        </p:nvSpPr>
        <p:spPr>
          <a:xfrm>
            <a:off x="457200" y="2286000"/>
            <a:ext cx="273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✓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8"/>
          <p:cNvSpPr/>
          <p:nvPr/>
        </p:nvSpPr>
        <p:spPr>
          <a:xfrm>
            <a:off x="749880" y="2286000"/>
            <a:ext cx="5101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Adjusts each feature map to have mean ≈ 0, std ≈ 1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9"/>
          <p:cNvSpPr/>
          <p:nvPr/>
        </p:nvSpPr>
        <p:spPr>
          <a:xfrm>
            <a:off x="457200" y="2971800"/>
            <a:ext cx="273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✓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0"/>
          <p:cNvSpPr/>
          <p:nvPr/>
        </p:nvSpPr>
        <p:spPr>
          <a:xfrm>
            <a:off x="749880" y="2971800"/>
            <a:ext cx="5101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Prevents one batch of bright images from confusing the model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1"/>
          <p:cNvSpPr/>
          <p:nvPr/>
        </p:nvSpPr>
        <p:spPr>
          <a:xfrm>
            <a:off x="457200" y="3657600"/>
            <a:ext cx="273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✓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2"/>
          <p:cNvSpPr/>
          <p:nvPr/>
        </p:nvSpPr>
        <p:spPr>
          <a:xfrm>
            <a:off x="749880" y="3657600"/>
            <a:ext cx="5101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Keeps 'signal strength' consistent across the whole network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3"/>
          <p:cNvSpPr/>
          <p:nvPr/>
        </p:nvSpPr>
        <p:spPr>
          <a:xfrm>
            <a:off x="457200" y="4343400"/>
            <a:ext cx="273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✓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4"/>
          <p:cNvSpPr/>
          <p:nvPr/>
        </p:nvSpPr>
        <p:spPr>
          <a:xfrm>
            <a:off x="749880" y="4343400"/>
            <a:ext cx="5101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Allows higher learning rates → trains faster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5"/>
          <p:cNvSpPr/>
          <p:nvPr/>
        </p:nvSpPr>
        <p:spPr>
          <a:xfrm>
            <a:off x="457200" y="5029200"/>
            <a:ext cx="273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✓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6"/>
          <p:cNvSpPr/>
          <p:nvPr/>
        </p:nvSpPr>
        <p:spPr>
          <a:xfrm>
            <a:off x="749880" y="5029200"/>
            <a:ext cx="5101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Acts as a mild regulariser (reduces overfitting)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7"/>
          <p:cNvSpPr/>
          <p:nvPr/>
        </p:nvSpPr>
        <p:spPr>
          <a:xfrm>
            <a:off x="457200" y="5486400"/>
            <a:ext cx="5394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Analogy: Adjusting all photos to the same brightness and contrast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before showing them to the network.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18"/>
          <p:cNvSpPr/>
          <p:nvPr/>
        </p:nvSpPr>
        <p:spPr>
          <a:xfrm>
            <a:off x="6309360" y="1554480"/>
            <a:ext cx="5577480" cy="5028840"/>
          </a:xfrm>
          <a:prstGeom prst="rect">
            <a:avLst/>
          </a:prstGeom>
          <a:solidFill>
            <a:srgbClr val="0f1732"/>
          </a:solidFill>
          <a:ln w="1905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19"/>
          <p:cNvSpPr/>
          <p:nvPr/>
        </p:nvSpPr>
        <p:spPr>
          <a:xfrm>
            <a:off x="6492240" y="1691640"/>
            <a:ext cx="5211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ReLU — The Noise Filter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0"/>
          <p:cNvSpPr/>
          <p:nvPr/>
        </p:nvSpPr>
        <p:spPr>
          <a:xfrm>
            <a:off x="6492240" y="2286000"/>
            <a:ext cx="273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→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1"/>
          <p:cNvSpPr/>
          <p:nvPr/>
        </p:nvSpPr>
        <p:spPr>
          <a:xfrm>
            <a:off x="6784920" y="2286000"/>
            <a:ext cx="49190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Very simple rule:  f(x) = max(0, x)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22"/>
          <p:cNvSpPr/>
          <p:nvPr/>
        </p:nvSpPr>
        <p:spPr>
          <a:xfrm>
            <a:off x="6492240" y="2871360"/>
            <a:ext cx="273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→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3"/>
          <p:cNvSpPr/>
          <p:nvPr/>
        </p:nvSpPr>
        <p:spPr>
          <a:xfrm>
            <a:off x="6784920" y="2871360"/>
            <a:ext cx="49190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Positive values pass through unchanged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24"/>
          <p:cNvSpPr/>
          <p:nvPr/>
        </p:nvSpPr>
        <p:spPr>
          <a:xfrm>
            <a:off x="6492240" y="3456360"/>
            <a:ext cx="273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→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5"/>
          <p:cNvSpPr/>
          <p:nvPr/>
        </p:nvSpPr>
        <p:spPr>
          <a:xfrm>
            <a:off x="6784920" y="3456360"/>
            <a:ext cx="49190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Negative values become zero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6"/>
          <p:cNvSpPr/>
          <p:nvPr/>
        </p:nvSpPr>
        <p:spPr>
          <a:xfrm>
            <a:off x="6492240" y="4041720"/>
            <a:ext cx="273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→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27"/>
          <p:cNvSpPr/>
          <p:nvPr/>
        </p:nvSpPr>
        <p:spPr>
          <a:xfrm>
            <a:off x="6784920" y="4041720"/>
            <a:ext cx="49190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Removes irrelevant/background signal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28"/>
          <p:cNvSpPr/>
          <p:nvPr/>
        </p:nvSpPr>
        <p:spPr>
          <a:xfrm>
            <a:off x="6492240" y="4626720"/>
            <a:ext cx="273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→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29"/>
          <p:cNvSpPr/>
          <p:nvPr/>
        </p:nvSpPr>
        <p:spPr>
          <a:xfrm>
            <a:off x="6784920" y="4626720"/>
            <a:ext cx="49190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Introduces non-linearity — essential for learning complex patterns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30"/>
          <p:cNvSpPr/>
          <p:nvPr/>
        </p:nvSpPr>
        <p:spPr>
          <a:xfrm>
            <a:off x="6492240" y="5212080"/>
            <a:ext cx="273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→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31"/>
          <p:cNvSpPr/>
          <p:nvPr/>
        </p:nvSpPr>
        <p:spPr>
          <a:xfrm>
            <a:off x="6784920" y="5212080"/>
            <a:ext cx="49190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Avoids 'vanishing gradient' problem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32"/>
          <p:cNvSpPr/>
          <p:nvPr/>
        </p:nvSpPr>
        <p:spPr>
          <a:xfrm>
            <a:off x="6492240" y="5486400"/>
            <a:ext cx="5211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Analogy: If an inspector finds nothing relevant in a region,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they report '0' instead of a negative number.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Layer 4 — MaxPool2d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The Big Picture Summariser — reduces size while keeping important info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ectangle 5"/>
          <p:cNvSpPr/>
          <p:nvPr/>
        </p:nvSpPr>
        <p:spPr>
          <a:xfrm>
            <a:off x="274320" y="1554480"/>
            <a:ext cx="5668920" cy="5028840"/>
          </a:xfrm>
          <a:prstGeom prst="rect">
            <a:avLst/>
          </a:prstGeom>
          <a:solidFill>
            <a:srgbClr val="0f1732"/>
          </a:solidFill>
          <a:ln w="1905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6"/>
          <p:cNvSpPr/>
          <p:nvPr/>
        </p:nvSpPr>
        <p:spPr>
          <a:xfrm>
            <a:off x="457200" y="1691640"/>
            <a:ext cx="5303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What does it do?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7"/>
          <p:cNvSpPr/>
          <p:nvPr/>
        </p:nvSpPr>
        <p:spPr>
          <a:xfrm>
            <a:off x="457200" y="2194560"/>
            <a:ext cx="27396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8"/>
          <p:cNvSpPr/>
          <p:nvPr/>
        </p:nvSpPr>
        <p:spPr>
          <a:xfrm>
            <a:off x="749880" y="2194560"/>
            <a:ext cx="50104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Divides the feature map into 2×2 windows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9"/>
          <p:cNvSpPr/>
          <p:nvPr/>
        </p:nvSpPr>
        <p:spPr>
          <a:xfrm>
            <a:off x="457200" y="2862000"/>
            <a:ext cx="27396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10"/>
          <p:cNvSpPr/>
          <p:nvPr/>
        </p:nvSpPr>
        <p:spPr>
          <a:xfrm>
            <a:off x="749880" y="2862000"/>
            <a:ext cx="50104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Keeps only the MAXIMUM value from each window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11"/>
          <p:cNvSpPr/>
          <p:nvPr/>
        </p:nvSpPr>
        <p:spPr>
          <a:xfrm>
            <a:off x="457200" y="3529440"/>
            <a:ext cx="27396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12"/>
          <p:cNvSpPr/>
          <p:nvPr/>
        </p:nvSpPr>
        <p:spPr>
          <a:xfrm>
            <a:off x="749880" y="3529440"/>
            <a:ext cx="50104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Output is half the size (128 → 64 → 32 → 16 → 8)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13"/>
          <p:cNvSpPr/>
          <p:nvPr/>
        </p:nvSpPr>
        <p:spPr>
          <a:xfrm>
            <a:off x="457200" y="4197240"/>
            <a:ext cx="27396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4"/>
          <p:cNvSpPr/>
          <p:nvPr/>
        </p:nvSpPr>
        <p:spPr>
          <a:xfrm>
            <a:off x="749880" y="4197240"/>
            <a:ext cx="50104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Reduces computation dramatically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5"/>
          <p:cNvSpPr/>
          <p:nvPr/>
        </p:nvSpPr>
        <p:spPr>
          <a:xfrm>
            <a:off x="457200" y="4864680"/>
            <a:ext cx="27396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6"/>
          <p:cNvSpPr/>
          <p:nvPr/>
        </p:nvSpPr>
        <p:spPr>
          <a:xfrm>
            <a:off x="749880" y="4864680"/>
            <a:ext cx="50104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Provides 'translation invariance' — the fruit in any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17"/>
          <p:cNvSpPr/>
          <p:nvPr/>
        </p:nvSpPr>
        <p:spPr>
          <a:xfrm>
            <a:off x="457200" y="5532120"/>
            <a:ext cx="27396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18"/>
          <p:cNvSpPr/>
          <p:nvPr/>
        </p:nvSpPr>
        <p:spPr>
          <a:xfrm>
            <a:off x="749880" y="5532120"/>
            <a:ext cx="50104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position of the image is still detected correctly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19"/>
          <p:cNvSpPr/>
          <p:nvPr/>
        </p:nvSpPr>
        <p:spPr>
          <a:xfrm>
            <a:off x="365760" y="5349240"/>
            <a:ext cx="5486040" cy="822600"/>
          </a:xfrm>
          <a:prstGeom prst="rect">
            <a:avLst/>
          </a:prstGeom>
          <a:solidFill>
            <a:srgbClr val="121e3a"/>
          </a:solidFill>
          <a:ln w="1905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20"/>
          <p:cNvSpPr/>
          <p:nvPr/>
        </p:nvSpPr>
        <p:spPr>
          <a:xfrm>
            <a:off x="457200" y="5394960"/>
            <a:ext cx="5303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After 4 MaxPool layers:  128×128  →  64×64  →  32×32  →  16×16  →  8×8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21"/>
          <p:cNvSpPr/>
          <p:nvPr/>
        </p:nvSpPr>
        <p:spPr>
          <a:xfrm>
            <a:off x="6217920" y="1554480"/>
            <a:ext cx="5668920" cy="5028840"/>
          </a:xfrm>
          <a:prstGeom prst="rect">
            <a:avLst/>
          </a:prstGeom>
          <a:solidFill>
            <a:srgbClr val="0f1732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22"/>
          <p:cNvSpPr/>
          <p:nvPr/>
        </p:nvSpPr>
        <p:spPr>
          <a:xfrm>
            <a:off x="6400800" y="1691640"/>
            <a:ext cx="5303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Why is this important?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23"/>
          <p:cNvSpPr/>
          <p:nvPr/>
        </p:nvSpPr>
        <p:spPr>
          <a:xfrm>
            <a:off x="6400800" y="2194560"/>
            <a:ext cx="273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✓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24"/>
          <p:cNvSpPr/>
          <p:nvPr/>
        </p:nvSpPr>
        <p:spPr>
          <a:xfrm>
            <a:off x="6693480" y="2194560"/>
            <a:ext cx="50104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Without MaxPool: too many numbers to process efficiently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25"/>
          <p:cNvSpPr/>
          <p:nvPr/>
        </p:nvSpPr>
        <p:spPr>
          <a:xfrm>
            <a:off x="6400800" y="2907720"/>
            <a:ext cx="273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✓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26"/>
          <p:cNvSpPr/>
          <p:nvPr/>
        </p:nvSpPr>
        <p:spPr>
          <a:xfrm>
            <a:off x="6693480" y="2907720"/>
            <a:ext cx="50104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Pineapple crown at top-left vs top-right? Still recognised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27"/>
          <p:cNvSpPr/>
          <p:nvPr/>
        </p:nvSpPr>
        <p:spPr>
          <a:xfrm>
            <a:off x="6400800" y="3620880"/>
            <a:ext cx="273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✓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28"/>
          <p:cNvSpPr/>
          <p:nvPr/>
        </p:nvSpPr>
        <p:spPr>
          <a:xfrm>
            <a:off x="6693480" y="3620880"/>
            <a:ext cx="50104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Apple slightly off-centre? Still recognised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29"/>
          <p:cNvSpPr/>
          <p:nvPr/>
        </p:nvSpPr>
        <p:spPr>
          <a:xfrm>
            <a:off x="6400800" y="4334400"/>
            <a:ext cx="273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✓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30"/>
          <p:cNvSpPr/>
          <p:nvPr/>
        </p:nvSpPr>
        <p:spPr>
          <a:xfrm>
            <a:off x="6693480" y="4334400"/>
            <a:ext cx="50104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Smaller feature maps = faster training and inference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31"/>
          <p:cNvSpPr/>
          <p:nvPr/>
        </p:nvSpPr>
        <p:spPr>
          <a:xfrm>
            <a:off x="6400800" y="5047560"/>
            <a:ext cx="273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✓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32"/>
          <p:cNvSpPr/>
          <p:nvPr/>
        </p:nvSpPr>
        <p:spPr>
          <a:xfrm>
            <a:off x="6693480" y="5047560"/>
            <a:ext cx="50104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Forces the network to focus on 'important' activations only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33"/>
          <p:cNvSpPr/>
          <p:nvPr/>
        </p:nvSpPr>
        <p:spPr>
          <a:xfrm>
            <a:off x="6400800" y="5486400"/>
            <a:ext cx="5303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Analogy: Instead of memorising every word, you summarise each paragraph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into its key idea.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a04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a040c0"/>
                </a:solidFill>
                <a:effectLst/>
                <a:uFillTx/>
                <a:latin typeface="Calibri"/>
              </a:rPr>
              <a:t>Layers 5–7 — Flatten, FC &amp; Dropout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From feature maps to a final decision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Rectangle 5"/>
          <p:cNvSpPr/>
          <p:nvPr/>
        </p:nvSpPr>
        <p:spPr>
          <a:xfrm>
            <a:off x="274320" y="1554480"/>
            <a:ext cx="3748680" cy="5028840"/>
          </a:xfrm>
          <a:prstGeom prst="rect">
            <a:avLst/>
          </a:prstGeom>
          <a:solidFill>
            <a:srgbClr val="0f1732"/>
          </a:solidFill>
          <a:ln w="19050">
            <a:solidFill>
              <a:srgbClr val="a04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6"/>
          <p:cNvSpPr/>
          <p:nvPr/>
        </p:nvSpPr>
        <p:spPr>
          <a:xfrm>
            <a:off x="411480" y="1691640"/>
            <a:ext cx="3565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a040c0"/>
                </a:solidFill>
                <a:effectLst/>
                <a:uFillTx/>
                <a:latin typeface="Calibri"/>
              </a:rPr>
              <a:t>Flatten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7"/>
          <p:cNvSpPr/>
          <p:nvPr/>
        </p:nvSpPr>
        <p:spPr>
          <a:xfrm>
            <a:off x="365760" y="2331720"/>
            <a:ext cx="3565800" cy="27000"/>
          </a:xfrm>
          <a:prstGeom prst="rect">
            <a:avLst/>
          </a:prstGeom>
          <a:solidFill>
            <a:srgbClr val="a04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8"/>
          <p:cNvSpPr/>
          <p:nvPr/>
        </p:nvSpPr>
        <p:spPr>
          <a:xfrm>
            <a:off x="411480" y="2423160"/>
            <a:ext cx="356580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Converts 3D feature maps [256, 8, 8] into a 1D vector of 16,384 numbers.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Like unrolling a 3D sculpture into a single list of measurements.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This list is the 'report' handed to the decision-maker.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9"/>
          <p:cNvSpPr/>
          <p:nvPr/>
        </p:nvSpPr>
        <p:spPr>
          <a:xfrm>
            <a:off x="4251960" y="1554480"/>
            <a:ext cx="3748680" cy="5028840"/>
          </a:xfrm>
          <a:prstGeom prst="rect">
            <a:avLst/>
          </a:prstGeom>
          <a:solidFill>
            <a:srgbClr val="0f1732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10"/>
          <p:cNvSpPr/>
          <p:nvPr/>
        </p:nvSpPr>
        <p:spPr>
          <a:xfrm>
            <a:off x="4389120" y="1691640"/>
            <a:ext cx="3565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7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FC Hidden Layer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(512 units)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Rectangle 11"/>
          <p:cNvSpPr/>
          <p:nvPr/>
        </p:nvSpPr>
        <p:spPr>
          <a:xfrm>
            <a:off x="4343400" y="2331720"/>
            <a:ext cx="3565800" cy="2700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12"/>
          <p:cNvSpPr/>
          <p:nvPr/>
        </p:nvSpPr>
        <p:spPr>
          <a:xfrm>
            <a:off x="4389120" y="2423160"/>
            <a:ext cx="356580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 fully-connected layer where every input is connected to every output.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Weighs all 16,384 features and learns complex combinations.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16,384 → 512 — learns: 'crown + diamond skin = pineapple'.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13"/>
          <p:cNvSpPr/>
          <p:nvPr/>
        </p:nvSpPr>
        <p:spPr>
          <a:xfrm>
            <a:off x="8229600" y="1554480"/>
            <a:ext cx="3748680" cy="5028840"/>
          </a:xfrm>
          <a:prstGeom prst="rect">
            <a:avLst/>
          </a:prstGeom>
          <a:solidFill>
            <a:srgbClr val="0f1732"/>
          </a:solidFill>
          <a:ln w="1905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14"/>
          <p:cNvSpPr/>
          <p:nvPr/>
        </p:nvSpPr>
        <p:spPr>
          <a:xfrm>
            <a:off x="8366760" y="1691640"/>
            <a:ext cx="3565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7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Dropout (50%)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+ Output Layer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15"/>
          <p:cNvSpPr/>
          <p:nvPr/>
        </p:nvSpPr>
        <p:spPr>
          <a:xfrm>
            <a:off x="8321040" y="2331720"/>
            <a:ext cx="3565800" cy="270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16"/>
          <p:cNvSpPr/>
          <p:nvPr/>
        </p:nvSpPr>
        <p:spPr>
          <a:xfrm>
            <a:off x="8366760" y="2423160"/>
            <a:ext cx="356580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Dropout: randomly turns off 50% of neurons during training.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Prevents the network from relying too heavily on any single feature.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Output: 512 → 2 logits  (one score per class)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Higher score wins → predicted class.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bfa5"/>
                </a:solidFill>
                <a:effectLst/>
                <a:uFillTx/>
                <a:latin typeface="Calibri"/>
              </a:rPr>
              <a:t>The Final Verdict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How the CNN decides: Apple or Pineapple?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Rectangle 5"/>
          <p:cNvSpPr/>
          <p:nvPr/>
        </p:nvSpPr>
        <p:spPr>
          <a:xfrm>
            <a:off x="3200400" y="1554480"/>
            <a:ext cx="5760360" cy="1919880"/>
          </a:xfrm>
          <a:prstGeom prst="rect">
            <a:avLst/>
          </a:prstGeom>
          <a:solidFill>
            <a:srgbClr val="0f1732"/>
          </a:solidFill>
          <a:ln w="19050">
            <a:solidFill>
              <a:srgbClr val="00bfa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6"/>
          <p:cNvSpPr/>
          <p:nvPr/>
        </p:nvSpPr>
        <p:spPr>
          <a:xfrm>
            <a:off x="3383280" y="1691640"/>
            <a:ext cx="5394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bfa5"/>
                </a:solidFill>
                <a:effectLst/>
                <a:uFillTx/>
                <a:latin typeface="Calibri"/>
              </a:rPr>
              <a:t>Example Output Scores (Logits)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7"/>
          <p:cNvSpPr/>
          <p:nvPr/>
        </p:nvSpPr>
        <p:spPr>
          <a:xfrm>
            <a:off x="3383280" y="2148840"/>
            <a:ext cx="1645560" cy="411120"/>
          </a:xfrm>
          <a:prstGeom prst="roundRect">
            <a:avLst>
              <a:gd name="adj" fmla="val 16667"/>
            </a:avLst>
          </a:prstGeom>
          <a:solidFill>
            <a:srgbClr val="00e57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8"/>
          <p:cNvSpPr/>
          <p:nvPr/>
        </p:nvSpPr>
        <p:spPr>
          <a:xfrm>
            <a:off x="3383280" y="214884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Apple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9"/>
          <p:cNvSpPr/>
          <p:nvPr/>
        </p:nvSpPr>
        <p:spPr>
          <a:xfrm>
            <a:off x="5166360" y="214884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Score: 8.5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0"/>
          <p:cNvSpPr/>
          <p:nvPr/>
        </p:nvSpPr>
        <p:spPr>
          <a:xfrm>
            <a:off x="6629400" y="21488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→  Winner!  Predicted: Apple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11"/>
          <p:cNvSpPr/>
          <p:nvPr/>
        </p:nvSpPr>
        <p:spPr>
          <a:xfrm>
            <a:off x="3383280" y="2743200"/>
            <a:ext cx="1645560" cy="41112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12"/>
          <p:cNvSpPr/>
          <p:nvPr/>
        </p:nvSpPr>
        <p:spPr>
          <a:xfrm>
            <a:off x="3383280" y="274320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Pineapple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3"/>
          <p:cNvSpPr/>
          <p:nvPr/>
        </p:nvSpPr>
        <p:spPr>
          <a:xfrm>
            <a:off x="5166360" y="274320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Score: 0.2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14"/>
          <p:cNvSpPr/>
          <p:nvPr/>
        </p:nvSpPr>
        <p:spPr>
          <a:xfrm>
            <a:off x="274320" y="3657600"/>
            <a:ext cx="5577480" cy="2880000"/>
          </a:xfrm>
          <a:prstGeom prst="rect">
            <a:avLst/>
          </a:prstGeom>
          <a:solidFill>
            <a:srgbClr val="0f1732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15"/>
          <p:cNvSpPr/>
          <p:nvPr/>
        </p:nvSpPr>
        <p:spPr>
          <a:xfrm>
            <a:off x="457200" y="3794760"/>
            <a:ext cx="5211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Softmax — Converting Scores to Probabilities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6"/>
          <p:cNvSpPr/>
          <p:nvPr/>
        </p:nvSpPr>
        <p:spPr>
          <a:xfrm>
            <a:off x="457200" y="4297680"/>
            <a:ext cx="52117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The raw scores (logits) are converted to probabilities that sum to 100%.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Example:  Apple = 99.9%   Pineapple = 0.1%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Confidence threshold (default 0.5 = 50%):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If the top probability ≥ 50%, that class is declared the prediction.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17"/>
          <p:cNvSpPr/>
          <p:nvPr/>
        </p:nvSpPr>
        <p:spPr>
          <a:xfrm>
            <a:off x="6126480" y="3657600"/>
            <a:ext cx="5760360" cy="2880000"/>
          </a:xfrm>
          <a:prstGeom prst="rect">
            <a:avLst/>
          </a:prstGeom>
          <a:solidFill>
            <a:srgbClr val="0f1732"/>
          </a:solidFill>
          <a:ln w="19050">
            <a:solidFill>
              <a:srgbClr val="a04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18"/>
          <p:cNvSpPr/>
          <p:nvPr/>
        </p:nvSpPr>
        <p:spPr>
          <a:xfrm>
            <a:off x="6309360" y="3794760"/>
            <a:ext cx="5394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a040c0"/>
                </a:solidFill>
                <a:effectLst/>
                <a:uFillTx/>
                <a:latin typeface="Calibri"/>
              </a:rPr>
              <a:t>Complete Pipeline Summary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19"/>
          <p:cNvSpPr/>
          <p:nvPr/>
        </p:nvSpPr>
        <p:spPr>
          <a:xfrm>
            <a:off x="6309360" y="4297680"/>
            <a:ext cx="5394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Image (128×128 pixels)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20"/>
          <p:cNvSpPr/>
          <p:nvPr/>
        </p:nvSpPr>
        <p:spPr>
          <a:xfrm>
            <a:off x="6309360" y="4645080"/>
            <a:ext cx="5394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→  4 Conv Blocks  (feature extraction)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21"/>
          <p:cNvSpPr/>
          <p:nvPr/>
        </p:nvSpPr>
        <p:spPr>
          <a:xfrm>
            <a:off x="6309360" y="4992480"/>
            <a:ext cx="5394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→  Flatten  (16,384 numbers)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22"/>
          <p:cNvSpPr/>
          <p:nvPr/>
        </p:nvSpPr>
        <p:spPr>
          <a:xfrm>
            <a:off x="6309360" y="5340240"/>
            <a:ext cx="5394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→  FC Hidden  (512 units + ReLU + Dropout)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23"/>
          <p:cNvSpPr/>
          <p:nvPr/>
        </p:nvSpPr>
        <p:spPr>
          <a:xfrm>
            <a:off x="6309360" y="5687640"/>
            <a:ext cx="5394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→  Output  (2 logits)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24"/>
          <p:cNvSpPr/>
          <p:nvPr/>
        </p:nvSpPr>
        <p:spPr>
          <a:xfrm>
            <a:off x="6309360" y="6035040"/>
            <a:ext cx="5394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→  Softmax  →  Predicted Class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Training Parameters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The rules and schedule the model follows to learn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4"/>
          <p:cNvSpPr/>
          <p:nvPr/>
        </p:nvSpPr>
        <p:spPr>
          <a:xfrm>
            <a:off x="448920" y="1172160"/>
            <a:ext cx="11022120" cy="2484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800" bIns="-198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Rectangle 5"/>
          <p:cNvSpPr/>
          <p:nvPr/>
        </p:nvSpPr>
        <p:spPr>
          <a:xfrm>
            <a:off x="405360" y="1383120"/>
            <a:ext cx="5160960" cy="1222560"/>
          </a:xfrm>
          <a:prstGeom prst="rect">
            <a:avLst/>
          </a:prstGeom>
          <a:solidFill>
            <a:srgbClr val="0f1732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6"/>
          <p:cNvSpPr/>
          <p:nvPr/>
        </p:nvSpPr>
        <p:spPr>
          <a:xfrm>
            <a:off x="536400" y="1450440"/>
            <a:ext cx="49860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Batch Size: 8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7"/>
          <p:cNvSpPr/>
          <p:nvPr/>
        </p:nvSpPr>
        <p:spPr>
          <a:xfrm>
            <a:off x="536400" y="1787760"/>
            <a:ext cx="498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The model learns from 8 images at a time (a 'study session').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After each batch, it updates its weights based on mistakes made.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Rectangle 8"/>
          <p:cNvSpPr/>
          <p:nvPr/>
        </p:nvSpPr>
        <p:spPr>
          <a:xfrm>
            <a:off x="5671800" y="1383120"/>
            <a:ext cx="5160600" cy="1222560"/>
          </a:xfrm>
          <a:prstGeom prst="rect">
            <a:avLst/>
          </a:prstGeom>
          <a:solidFill>
            <a:srgbClr val="0f1732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9"/>
          <p:cNvSpPr/>
          <p:nvPr/>
        </p:nvSpPr>
        <p:spPr>
          <a:xfrm>
            <a:off x="5802840" y="1450440"/>
            <a:ext cx="49860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Max Epochs: 50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10"/>
          <p:cNvSpPr/>
          <p:nvPr/>
        </p:nvSpPr>
        <p:spPr>
          <a:xfrm>
            <a:off x="5802840" y="1787760"/>
            <a:ext cx="498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One epoch = one complete pass through all training images.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With 50 epochs, the model sees every image up to 50 times.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11"/>
          <p:cNvSpPr/>
          <p:nvPr/>
        </p:nvSpPr>
        <p:spPr>
          <a:xfrm>
            <a:off x="405360" y="2707200"/>
            <a:ext cx="5160960" cy="1222920"/>
          </a:xfrm>
          <a:prstGeom prst="rect">
            <a:avLst/>
          </a:prstGeom>
          <a:solidFill>
            <a:srgbClr val="0f1732"/>
          </a:solidFill>
          <a:ln w="1905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12"/>
          <p:cNvSpPr/>
          <p:nvPr/>
        </p:nvSpPr>
        <p:spPr>
          <a:xfrm>
            <a:off x="536400" y="2774880"/>
            <a:ext cx="49860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Learning Rate: 0.001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13"/>
          <p:cNvSpPr/>
          <p:nvPr/>
        </p:nvSpPr>
        <p:spPr>
          <a:xfrm>
            <a:off x="536400" y="3112200"/>
            <a:ext cx="498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How much the model adjusts after each mistake.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Too high → overshoots. Too low → learns too slowly.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Rectangle 14"/>
          <p:cNvSpPr/>
          <p:nvPr/>
        </p:nvSpPr>
        <p:spPr>
          <a:xfrm>
            <a:off x="5671800" y="2707200"/>
            <a:ext cx="5160600" cy="1222920"/>
          </a:xfrm>
          <a:prstGeom prst="rect">
            <a:avLst/>
          </a:prstGeom>
          <a:solidFill>
            <a:srgbClr val="0f1732"/>
          </a:solidFill>
          <a:ln w="1905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Box 15"/>
          <p:cNvSpPr/>
          <p:nvPr/>
        </p:nvSpPr>
        <p:spPr>
          <a:xfrm>
            <a:off x="5802840" y="2774880"/>
            <a:ext cx="49860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Weight Decay: 0.0001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6"/>
          <p:cNvSpPr/>
          <p:nvPr/>
        </p:nvSpPr>
        <p:spPr>
          <a:xfrm>
            <a:off x="5802840" y="3112200"/>
            <a:ext cx="498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 penalty for complex patterns, preventing over-reliance on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specific features. Helps the model generalise to new images.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17"/>
          <p:cNvSpPr/>
          <p:nvPr/>
        </p:nvSpPr>
        <p:spPr>
          <a:xfrm>
            <a:off x="405360" y="4031640"/>
            <a:ext cx="5160960" cy="1222560"/>
          </a:xfrm>
          <a:prstGeom prst="rect">
            <a:avLst/>
          </a:prstGeom>
          <a:solidFill>
            <a:srgbClr val="0f1732"/>
          </a:solidFill>
          <a:ln w="19050">
            <a:solidFill>
              <a:srgbClr val="a04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18"/>
          <p:cNvSpPr/>
          <p:nvPr/>
        </p:nvSpPr>
        <p:spPr>
          <a:xfrm>
            <a:off x="536400" y="4098960"/>
            <a:ext cx="49860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040c0"/>
                </a:solidFill>
                <a:effectLst/>
                <a:uFillTx/>
                <a:latin typeface="Calibri"/>
              </a:rPr>
              <a:t>Optimizer: ADAM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19"/>
          <p:cNvSpPr/>
          <p:nvPr/>
        </p:nvSpPr>
        <p:spPr>
          <a:xfrm>
            <a:off x="536400" y="4436280"/>
            <a:ext cx="498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The strategy for minimising errors.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ADAM adjusts its step size automatically — smart and efficient.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Rectangle 20"/>
          <p:cNvSpPr/>
          <p:nvPr/>
        </p:nvSpPr>
        <p:spPr>
          <a:xfrm>
            <a:off x="5671800" y="4031640"/>
            <a:ext cx="5160600" cy="1222560"/>
          </a:xfrm>
          <a:prstGeom prst="rect">
            <a:avLst/>
          </a:prstGeom>
          <a:solidFill>
            <a:srgbClr val="0f1732"/>
          </a:solidFill>
          <a:ln w="1905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Box 21"/>
          <p:cNvSpPr/>
          <p:nvPr/>
        </p:nvSpPr>
        <p:spPr>
          <a:xfrm>
            <a:off x="5802840" y="4098960"/>
            <a:ext cx="49860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LR Scheduler: Cosine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22"/>
          <p:cNvSpPr/>
          <p:nvPr/>
        </p:nvSpPr>
        <p:spPr>
          <a:xfrm>
            <a:off x="5802840" y="4436280"/>
            <a:ext cx="498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Gradually reduces the learning rate following a cosine curve.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Fast at the start, slows down as training nears completion.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 23"/>
          <p:cNvSpPr/>
          <p:nvPr/>
        </p:nvSpPr>
        <p:spPr>
          <a:xfrm>
            <a:off x="405360" y="5355720"/>
            <a:ext cx="5160960" cy="1222560"/>
          </a:xfrm>
          <a:prstGeom prst="rect">
            <a:avLst/>
          </a:prstGeom>
          <a:solidFill>
            <a:srgbClr val="0f1732"/>
          </a:solidFill>
          <a:ln w="1905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24"/>
          <p:cNvSpPr/>
          <p:nvPr/>
        </p:nvSpPr>
        <p:spPr>
          <a:xfrm>
            <a:off x="536400" y="5423400"/>
            <a:ext cx="49860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Early Stopping: 10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25"/>
          <p:cNvSpPr/>
          <p:nvPr/>
        </p:nvSpPr>
        <p:spPr>
          <a:xfrm>
            <a:off x="536400" y="5760720"/>
            <a:ext cx="498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If validation accuracy stops improving for 10 epochs in a row,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training stops automatically. Prevents wasted time and overfitting.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Rectangle 26"/>
          <p:cNvSpPr/>
          <p:nvPr/>
        </p:nvSpPr>
        <p:spPr>
          <a:xfrm>
            <a:off x="5671800" y="5355720"/>
            <a:ext cx="5160600" cy="1222560"/>
          </a:xfrm>
          <a:prstGeom prst="rect">
            <a:avLst/>
          </a:prstGeom>
          <a:solidFill>
            <a:srgbClr val="0f1732"/>
          </a:solidFill>
          <a:ln w="1905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27"/>
          <p:cNvSpPr/>
          <p:nvPr/>
        </p:nvSpPr>
        <p:spPr>
          <a:xfrm>
            <a:off x="5802840" y="5423400"/>
            <a:ext cx="49860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76"/>
                </a:solidFill>
                <a:effectLst/>
                <a:uFillTx/>
                <a:latin typeface="Calibri"/>
              </a:rPr>
              <a:t>Save Best Model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28"/>
          <p:cNvSpPr/>
          <p:nvPr/>
        </p:nvSpPr>
        <p:spPr>
          <a:xfrm>
            <a:off x="5802840" y="5760720"/>
            <a:ext cx="498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After every epoch, if performance improves, a checkpoint is saved.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The best version is kept even if later epochs perform worse.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ff4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Early Stopping &amp; Checkpoints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Preventing wasted effort and saving progress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Rectangle 5"/>
          <p:cNvSpPr/>
          <p:nvPr/>
        </p:nvSpPr>
        <p:spPr>
          <a:xfrm>
            <a:off x="274320" y="1554480"/>
            <a:ext cx="5668920" cy="5028840"/>
          </a:xfrm>
          <a:prstGeom prst="rect">
            <a:avLst/>
          </a:prstGeom>
          <a:solidFill>
            <a:srgbClr val="0f1732"/>
          </a:solidFill>
          <a:ln w="1905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6"/>
          <p:cNvSpPr/>
          <p:nvPr/>
        </p:nvSpPr>
        <p:spPr>
          <a:xfrm>
            <a:off x="457200" y="169164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Early Stopping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7"/>
          <p:cNvSpPr/>
          <p:nvPr/>
        </p:nvSpPr>
        <p:spPr>
          <a:xfrm>
            <a:off x="457200" y="224028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8"/>
          <p:cNvSpPr/>
          <p:nvPr/>
        </p:nvSpPr>
        <p:spPr>
          <a:xfrm>
            <a:off x="749880" y="2240280"/>
            <a:ext cx="5010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Monitors validation loss after every epoch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9"/>
          <p:cNvSpPr/>
          <p:nvPr/>
        </p:nvSpPr>
        <p:spPr>
          <a:xfrm>
            <a:off x="457200" y="289872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10"/>
          <p:cNvSpPr/>
          <p:nvPr/>
        </p:nvSpPr>
        <p:spPr>
          <a:xfrm>
            <a:off x="749880" y="2898720"/>
            <a:ext cx="5010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Keeps track of the best value seen so far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11"/>
          <p:cNvSpPr/>
          <p:nvPr/>
        </p:nvSpPr>
        <p:spPr>
          <a:xfrm>
            <a:off x="457200" y="355716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12"/>
          <p:cNvSpPr/>
          <p:nvPr/>
        </p:nvSpPr>
        <p:spPr>
          <a:xfrm>
            <a:off x="749880" y="3557160"/>
            <a:ext cx="5010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Counter increments if no improvement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13"/>
          <p:cNvSpPr/>
          <p:nvPr/>
        </p:nvSpPr>
        <p:spPr>
          <a:xfrm>
            <a:off x="457200" y="421524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4"/>
          <p:cNvSpPr/>
          <p:nvPr/>
        </p:nvSpPr>
        <p:spPr>
          <a:xfrm>
            <a:off x="749880" y="4215240"/>
            <a:ext cx="5010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After 10 epochs without improvement → STOP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15"/>
          <p:cNvSpPr/>
          <p:nvPr/>
        </p:nvSpPr>
        <p:spPr>
          <a:xfrm>
            <a:off x="457200" y="487368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16"/>
          <p:cNvSpPr/>
          <p:nvPr/>
        </p:nvSpPr>
        <p:spPr>
          <a:xfrm>
            <a:off x="749880" y="4873680"/>
            <a:ext cx="5010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Restores the best model weights automatically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17"/>
          <p:cNvSpPr/>
          <p:nvPr/>
        </p:nvSpPr>
        <p:spPr>
          <a:xfrm>
            <a:off x="457200" y="553212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4545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18"/>
          <p:cNvSpPr/>
          <p:nvPr/>
        </p:nvSpPr>
        <p:spPr>
          <a:xfrm>
            <a:off x="749880" y="5532120"/>
            <a:ext cx="5010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Saves hours of training on a plateau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19"/>
          <p:cNvSpPr/>
          <p:nvPr/>
        </p:nvSpPr>
        <p:spPr>
          <a:xfrm>
            <a:off x="457200" y="5852160"/>
            <a:ext cx="53031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Why? Without this, the model could 'over-study'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and memorise noise instead of real patterns.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20"/>
          <p:cNvSpPr/>
          <p:nvPr/>
        </p:nvSpPr>
        <p:spPr>
          <a:xfrm>
            <a:off x="6217920" y="1554480"/>
            <a:ext cx="5668920" cy="5028840"/>
          </a:xfrm>
          <a:prstGeom prst="rect">
            <a:avLst/>
          </a:prstGeom>
          <a:solidFill>
            <a:srgbClr val="0f1732"/>
          </a:solidFill>
          <a:ln w="1905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21"/>
          <p:cNvSpPr/>
          <p:nvPr/>
        </p:nvSpPr>
        <p:spPr>
          <a:xfrm>
            <a:off x="6400800" y="169164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Checkpoints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22"/>
          <p:cNvSpPr/>
          <p:nvPr/>
        </p:nvSpPr>
        <p:spPr>
          <a:xfrm>
            <a:off x="6400800" y="224028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23"/>
          <p:cNvSpPr/>
          <p:nvPr/>
        </p:nvSpPr>
        <p:spPr>
          <a:xfrm>
            <a:off x="6693480" y="2240280"/>
            <a:ext cx="5010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Periodically saves the model to disk (every 5 epochs)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24"/>
          <p:cNvSpPr/>
          <p:nvPr/>
        </p:nvSpPr>
        <p:spPr>
          <a:xfrm>
            <a:off x="6400800" y="289872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25"/>
          <p:cNvSpPr/>
          <p:nvPr/>
        </p:nvSpPr>
        <p:spPr>
          <a:xfrm>
            <a:off x="6693480" y="2898720"/>
            <a:ext cx="5010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Also saves when a new best performance is achieved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26"/>
          <p:cNvSpPr/>
          <p:nvPr/>
        </p:nvSpPr>
        <p:spPr>
          <a:xfrm>
            <a:off x="6400800" y="355716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27"/>
          <p:cNvSpPr/>
          <p:nvPr/>
        </p:nvSpPr>
        <p:spPr>
          <a:xfrm>
            <a:off x="6693480" y="3557160"/>
            <a:ext cx="5010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Saves model weights, optimizer state, epoch number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28"/>
          <p:cNvSpPr/>
          <p:nvPr/>
        </p:nvSpPr>
        <p:spPr>
          <a:xfrm>
            <a:off x="6400800" y="421524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29"/>
          <p:cNvSpPr/>
          <p:nvPr/>
        </p:nvSpPr>
        <p:spPr>
          <a:xfrm>
            <a:off x="6693480" y="4215240"/>
            <a:ext cx="5010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Allows training to resume if interrupted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30"/>
          <p:cNvSpPr/>
          <p:nvPr/>
        </p:nvSpPr>
        <p:spPr>
          <a:xfrm>
            <a:off x="6400800" y="487368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31"/>
          <p:cNvSpPr/>
          <p:nvPr/>
        </p:nvSpPr>
        <p:spPr>
          <a:xfrm>
            <a:off x="6693480" y="4873680"/>
            <a:ext cx="5010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Maximum 3 checkpoints kept (oldest auto-deleted)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32"/>
          <p:cNvSpPr/>
          <p:nvPr/>
        </p:nvSpPr>
        <p:spPr>
          <a:xfrm>
            <a:off x="6400800" y="553212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▶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33"/>
          <p:cNvSpPr/>
          <p:nvPr/>
        </p:nvSpPr>
        <p:spPr>
          <a:xfrm>
            <a:off x="6693480" y="5532120"/>
            <a:ext cx="5010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best_model.pth = the overall best model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34"/>
          <p:cNvSpPr/>
          <p:nvPr/>
        </p:nvSpPr>
        <p:spPr>
          <a:xfrm>
            <a:off x="6400800" y="5940000"/>
            <a:ext cx="530316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Why? Training can take hours. Checkpoints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ensure no progress is ever truly lost.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Box 2"/>
          <p:cNvSpPr/>
          <p:nvPr/>
        </p:nvSpPr>
        <p:spPr>
          <a:xfrm>
            <a:off x="320040" y="182880"/>
            <a:ext cx="1142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bfa5"/>
                </a:solidFill>
                <a:effectLst/>
                <a:uFillTx/>
                <a:latin typeface="Calibri"/>
              </a:rPr>
              <a:t>Summary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3"/>
          <p:cNvSpPr/>
          <p:nvPr/>
        </p:nvSpPr>
        <p:spPr>
          <a:xfrm>
            <a:off x="320040" y="868680"/>
            <a:ext cx="1142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Everything you learned today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Rectangle 4"/>
          <p:cNvSpPr/>
          <p:nvPr/>
        </p:nvSpPr>
        <p:spPr>
          <a:xfrm>
            <a:off x="320040" y="1325880"/>
            <a:ext cx="11521080" cy="27000"/>
          </a:xfrm>
          <a:prstGeom prst="rect">
            <a:avLst/>
          </a:prstGeom>
          <a:solidFill>
            <a:srgbClr val="3a4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Rectangle 5"/>
          <p:cNvSpPr/>
          <p:nvPr/>
        </p:nvSpPr>
        <p:spPr>
          <a:xfrm>
            <a:off x="274320" y="1554480"/>
            <a:ext cx="5706000" cy="1127880"/>
          </a:xfrm>
          <a:prstGeom prst="rect">
            <a:avLst/>
          </a:prstGeom>
          <a:solidFill>
            <a:srgbClr val="121e3a"/>
          </a:solidFill>
          <a:ln w="15240">
            <a:solidFill>
              <a:srgbClr val="00d4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Rounded Rectangle 6"/>
          <p:cNvSpPr/>
          <p:nvPr/>
        </p:nvSpPr>
        <p:spPr>
          <a:xfrm>
            <a:off x="371160" y="1719720"/>
            <a:ext cx="1933920" cy="522360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7"/>
          <p:cNvSpPr/>
          <p:nvPr/>
        </p:nvSpPr>
        <p:spPr>
          <a:xfrm>
            <a:off x="310320" y="1769400"/>
            <a:ext cx="1933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CNN Architecture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8"/>
          <p:cNvSpPr/>
          <p:nvPr/>
        </p:nvSpPr>
        <p:spPr>
          <a:xfrm>
            <a:off x="2401920" y="1719720"/>
            <a:ext cx="34815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Input → [Conv2d + BN + ReLU + MaxPool] × 4 → Flatten → FC → Dropout → Output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9"/>
          <p:cNvSpPr/>
          <p:nvPr/>
        </p:nvSpPr>
        <p:spPr>
          <a:xfrm>
            <a:off x="6174000" y="1554480"/>
            <a:ext cx="5706000" cy="1127880"/>
          </a:xfrm>
          <a:prstGeom prst="rect">
            <a:avLst/>
          </a:prstGeom>
          <a:solidFill>
            <a:srgbClr val="121e3a"/>
          </a:solidFill>
          <a:ln w="15240">
            <a:solidFill>
              <a:srgbClr val="00e5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Rounded Rectangle 10"/>
          <p:cNvSpPr/>
          <p:nvPr/>
        </p:nvSpPr>
        <p:spPr>
          <a:xfrm>
            <a:off x="6270840" y="1719720"/>
            <a:ext cx="1933920" cy="522360"/>
          </a:xfrm>
          <a:prstGeom prst="roundRect">
            <a:avLst>
              <a:gd name="adj" fmla="val 16667"/>
            </a:avLst>
          </a:prstGeom>
          <a:solidFill>
            <a:srgbClr val="00e57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11"/>
          <p:cNvSpPr/>
          <p:nvPr/>
        </p:nvSpPr>
        <p:spPr>
          <a:xfrm>
            <a:off x="6270840" y="1791720"/>
            <a:ext cx="1933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Conv2d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12"/>
          <p:cNvSpPr/>
          <p:nvPr/>
        </p:nvSpPr>
        <p:spPr>
          <a:xfrm>
            <a:off x="8301960" y="1719720"/>
            <a:ext cx="34812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Detects local patterns: edges, textures, shapes — using learnable filters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Rectangle 13"/>
          <p:cNvSpPr/>
          <p:nvPr/>
        </p:nvSpPr>
        <p:spPr>
          <a:xfrm>
            <a:off x="274320" y="2820600"/>
            <a:ext cx="5706000" cy="1127880"/>
          </a:xfrm>
          <a:prstGeom prst="rect">
            <a:avLst/>
          </a:prstGeom>
          <a:solidFill>
            <a:srgbClr val="121e3a"/>
          </a:solidFill>
          <a:ln w="15240">
            <a:solidFill>
              <a:srgbClr val="ffc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Rounded Rectangle 14"/>
          <p:cNvSpPr/>
          <p:nvPr/>
        </p:nvSpPr>
        <p:spPr>
          <a:xfrm>
            <a:off x="371160" y="2985840"/>
            <a:ext cx="1933920" cy="522000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TextBox 15"/>
          <p:cNvSpPr/>
          <p:nvPr/>
        </p:nvSpPr>
        <p:spPr>
          <a:xfrm>
            <a:off x="371160" y="2913840"/>
            <a:ext cx="19339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BatchNorm + ReLU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16"/>
          <p:cNvSpPr/>
          <p:nvPr/>
        </p:nvSpPr>
        <p:spPr>
          <a:xfrm>
            <a:off x="2401920" y="2985840"/>
            <a:ext cx="3481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Stabilise training (BN) and remove irrelevant signals (ReLU)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Rectangle 17"/>
          <p:cNvSpPr/>
          <p:nvPr/>
        </p:nvSpPr>
        <p:spPr>
          <a:xfrm>
            <a:off x="6174000" y="2820600"/>
            <a:ext cx="5706000" cy="1127880"/>
          </a:xfrm>
          <a:prstGeom prst="rect">
            <a:avLst/>
          </a:prstGeom>
          <a:solidFill>
            <a:srgbClr val="121e3a"/>
          </a:solidFill>
          <a:ln w="15240">
            <a:solidFill>
              <a:srgbClr val="ff6b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Rounded Rectangle 18"/>
          <p:cNvSpPr/>
          <p:nvPr/>
        </p:nvSpPr>
        <p:spPr>
          <a:xfrm>
            <a:off x="6270840" y="2985840"/>
            <a:ext cx="1933920" cy="52200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19"/>
          <p:cNvSpPr/>
          <p:nvPr/>
        </p:nvSpPr>
        <p:spPr>
          <a:xfrm>
            <a:off x="6270840" y="3057840"/>
            <a:ext cx="1933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MaxPool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20"/>
          <p:cNvSpPr/>
          <p:nvPr/>
        </p:nvSpPr>
        <p:spPr>
          <a:xfrm>
            <a:off x="8301960" y="2985840"/>
            <a:ext cx="34812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Shrink feature maps by half; keeps translation invariance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Rectangle 21"/>
          <p:cNvSpPr/>
          <p:nvPr/>
        </p:nvSpPr>
        <p:spPr>
          <a:xfrm>
            <a:off x="274320" y="4086720"/>
            <a:ext cx="5706000" cy="1127880"/>
          </a:xfrm>
          <a:prstGeom prst="rect">
            <a:avLst/>
          </a:prstGeom>
          <a:solidFill>
            <a:srgbClr val="121e3a"/>
          </a:solidFill>
          <a:ln w="15240">
            <a:solidFill>
              <a:srgbClr val="a04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Rounded Rectangle 22"/>
          <p:cNvSpPr/>
          <p:nvPr/>
        </p:nvSpPr>
        <p:spPr>
          <a:xfrm>
            <a:off x="371160" y="4251240"/>
            <a:ext cx="1933920" cy="522360"/>
          </a:xfrm>
          <a:prstGeom prst="roundRect">
            <a:avLst>
              <a:gd name="adj" fmla="val 16667"/>
            </a:avLst>
          </a:prstGeom>
          <a:solidFill>
            <a:srgbClr val="a04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23"/>
          <p:cNvSpPr/>
          <p:nvPr/>
        </p:nvSpPr>
        <p:spPr>
          <a:xfrm>
            <a:off x="371160" y="4323240"/>
            <a:ext cx="1933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FC + Dropout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24"/>
          <p:cNvSpPr/>
          <p:nvPr/>
        </p:nvSpPr>
        <p:spPr>
          <a:xfrm>
            <a:off x="2401920" y="4251240"/>
            <a:ext cx="3481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Combine features into a prediction; Dropout prevents overfitting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Rectangle 25"/>
          <p:cNvSpPr/>
          <p:nvPr/>
        </p:nvSpPr>
        <p:spPr>
          <a:xfrm>
            <a:off x="6174000" y="4086720"/>
            <a:ext cx="5706000" cy="1127880"/>
          </a:xfrm>
          <a:prstGeom prst="rect">
            <a:avLst/>
          </a:prstGeom>
          <a:solidFill>
            <a:srgbClr val="121e3a"/>
          </a:solidFill>
          <a:ln w="15240">
            <a:solidFill>
              <a:srgbClr val="ff454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Rounded Rectangle 26"/>
          <p:cNvSpPr/>
          <p:nvPr/>
        </p:nvSpPr>
        <p:spPr>
          <a:xfrm>
            <a:off x="6270840" y="4251240"/>
            <a:ext cx="1933920" cy="522360"/>
          </a:xfrm>
          <a:prstGeom prst="roundRect">
            <a:avLst>
              <a:gd name="adj" fmla="val 16667"/>
            </a:avLst>
          </a:prstGeom>
          <a:solidFill>
            <a:srgbClr val="ff4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Box 27"/>
          <p:cNvSpPr/>
          <p:nvPr/>
        </p:nvSpPr>
        <p:spPr>
          <a:xfrm>
            <a:off x="6270840" y="4179240"/>
            <a:ext cx="1933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 Augmentation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28"/>
          <p:cNvSpPr/>
          <p:nvPr/>
        </p:nvSpPr>
        <p:spPr>
          <a:xfrm>
            <a:off x="8301960" y="4251240"/>
            <a:ext cx="348120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Artificially diversify training data; forces the model to generalise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29"/>
          <p:cNvSpPr/>
          <p:nvPr/>
        </p:nvSpPr>
        <p:spPr>
          <a:xfrm>
            <a:off x="274320" y="5352120"/>
            <a:ext cx="5706000" cy="1127880"/>
          </a:xfrm>
          <a:prstGeom prst="rect">
            <a:avLst/>
          </a:prstGeom>
          <a:solidFill>
            <a:srgbClr val="121e3a"/>
          </a:solidFill>
          <a:ln w="15240">
            <a:solidFill>
              <a:srgbClr val="00bfa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Rounded Rectangle 30"/>
          <p:cNvSpPr/>
          <p:nvPr/>
        </p:nvSpPr>
        <p:spPr>
          <a:xfrm>
            <a:off x="371160" y="5517360"/>
            <a:ext cx="1933920" cy="522360"/>
          </a:xfrm>
          <a:prstGeom prst="roundRect">
            <a:avLst>
              <a:gd name="adj" fmla="val 16667"/>
            </a:avLst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Box 31"/>
          <p:cNvSpPr/>
          <p:nvPr/>
        </p:nvSpPr>
        <p:spPr>
          <a:xfrm>
            <a:off x="371160" y="5445360"/>
            <a:ext cx="1933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Training Parameters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32"/>
          <p:cNvSpPr/>
          <p:nvPr/>
        </p:nvSpPr>
        <p:spPr>
          <a:xfrm>
            <a:off x="2401920" y="5517360"/>
            <a:ext cx="3481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Batch size, LR, optimiser, scheduler, early stopping — all in config.json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Rectangle 33"/>
          <p:cNvSpPr/>
          <p:nvPr/>
        </p:nvSpPr>
        <p:spPr>
          <a:xfrm>
            <a:off x="6174000" y="5352120"/>
            <a:ext cx="5706000" cy="1127880"/>
          </a:xfrm>
          <a:prstGeom prst="rect">
            <a:avLst/>
          </a:prstGeom>
          <a:solidFill>
            <a:srgbClr val="121e3a"/>
          </a:solidFill>
          <a:ln w="15240">
            <a:solidFill>
              <a:srgbClr val="ff50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Rounded Rectangle 34"/>
          <p:cNvSpPr/>
          <p:nvPr/>
        </p:nvSpPr>
        <p:spPr>
          <a:xfrm>
            <a:off x="6270840" y="5517360"/>
            <a:ext cx="1933920" cy="522360"/>
          </a:xfrm>
          <a:prstGeom prst="roundRect">
            <a:avLst>
              <a:gd name="adj" fmla="val 16667"/>
            </a:avLst>
          </a:prstGeom>
          <a:solidFill>
            <a:srgbClr val="ff50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TextBox 35"/>
          <p:cNvSpPr/>
          <p:nvPr/>
        </p:nvSpPr>
        <p:spPr>
          <a:xfrm>
            <a:off x="6270840" y="5589360"/>
            <a:ext cx="1933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Checkpoints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36"/>
          <p:cNvSpPr/>
          <p:nvPr/>
        </p:nvSpPr>
        <p:spPr>
          <a:xfrm>
            <a:off x="8301960" y="5517360"/>
            <a:ext cx="34812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9ab4cc"/>
                </a:solidFill>
                <a:effectLst/>
                <a:uFillTx/>
                <a:latin typeface="Calibri"/>
              </a:rPr>
              <a:t>Periodic saves + best model; training is resumable at any point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LibreOffice/25.8.6.2$Windows_X86_64 LibreOffice_project/b4b39682cd9868fa725bc664aff94278d315bd04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2026-05-12T22:17:52Z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