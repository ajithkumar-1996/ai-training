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88825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6755DA0-6CC0-4806-9A58-947DF1FEB3D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F74755F-A444-4C2F-A6E1-AF0DF232424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BED261B-4B8A-44ED-95F4-EFD2139B398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CEBA1F8-E256-47DC-B0C2-DD4312A3DCB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F5C39F4-FB0E-4DA7-9CEB-861F1740623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41C1069-75B9-4205-B1C8-170D8472728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FFFEBAB-01FB-4288-99B1-8D7B8512985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FE0EEED-0C1A-49FC-B12D-C7294ECD7EB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7F66521-C12E-450E-ACF9-04B5E42FC0F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664D0B2-119E-4CE6-8A5E-E7BC1A3B8F6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92F085A-9561-4A65-80E7-B67D8662E8D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80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1"/>
          <p:cNvSpPr/>
          <p:nvPr/>
        </p:nvSpPr>
        <p:spPr>
          <a:xfrm>
            <a:off x="0" y="0"/>
            <a:ext cx="91080" cy="6857640"/>
          </a:xfrm>
          <a:prstGeom prst="rect">
            <a:avLst/>
          </a:prstGeom>
          <a:solidFill>
            <a:srgbClr val="00d4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" name="Rectangle 2"/>
          <p:cNvSpPr/>
          <p:nvPr/>
        </p:nvSpPr>
        <p:spPr>
          <a:xfrm>
            <a:off x="0" y="3474720"/>
            <a:ext cx="12188520" cy="54360"/>
          </a:xfrm>
          <a:prstGeom prst="rect">
            <a:avLst/>
          </a:prstGeom>
          <a:solidFill>
            <a:srgbClr val="00d4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3" name="TextBox 3"/>
          <p:cNvSpPr/>
          <p:nvPr/>
        </p:nvSpPr>
        <p:spPr>
          <a:xfrm>
            <a:off x="320040" y="457200"/>
            <a:ext cx="10972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CONV2D — DEEP DIVE</a:t>
            </a:r>
            <a:endParaRPr lang="en-IN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TextBox 4"/>
          <p:cNvSpPr/>
          <p:nvPr/>
        </p:nvSpPr>
        <p:spPr>
          <a:xfrm>
            <a:off x="320040" y="1005840"/>
            <a:ext cx="109724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4200" b="1" u="none" strike="noStrike">
                <a:solidFill>
                  <a:srgbClr val="00d4ff"/>
                </a:solidFill>
                <a:effectLst/>
                <a:uFillTx/>
                <a:latin typeface="Calibri"/>
              </a:rPr>
              <a:t>The Mathematics of Feature Detection</a:t>
            </a:r>
            <a:endParaRPr lang="en-IN" sz="4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TextBox 5"/>
          <p:cNvSpPr/>
          <p:nvPr/>
        </p:nvSpPr>
        <p:spPr>
          <a:xfrm>
            <a:off x="320040" y="2057400"/>
            <a:ext cx="109724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How a 3×3 filter turns a 128×128 image into learned features</a:t>
            </a:r>
            <a:endParaRPr lang="en-IN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TextBox 6"/>
          <p:cNvSpPr/>
          <p:nvPr/>
        </p:nvSpPr>
        <p:spPr>
          <a:xfrm>
            <a:off x="320040" y="2743200"/>
            <a:ext cx="5486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i="1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Step-by-step · Visual · Mathematical</a:t>
            </a:r>
            <a:endParaRPr lang="en-IN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Rectangle 7"/>
          <p:cNvSpPr/>
          <p:nvPr/>
        </p:nvSpPr>
        <p:spPr>
          <a:xfrm>
            <a:off x="8046720" y="3657600"/>
            <a:ext cx="3840120" cy="2834280"/>
          </a:xfrm>
          <a:prstGeom prst="rect">
            <a:avLst/>
          </a:prstGeom>
          <a:solidFill>
            <a:srgbClr val="0f1732"/>
          </a:solidFill>
          <a:ln w="19050">
            <a:solidFill>
              <a:srgbClr val="00d4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8" name="TextBox 8"/>
          <p:cNvSpPr/>
          <p:nvPr/>
        </p:nvSpPr>
        <p:spPr>
          <a:xfrm>
            <a:off x="8229600" y="3794760"/>
            <a:ext cx="3474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00d4ff"/>
                </a:solidFill>
                <a:effectLst/>
                <a:uFillTx/>
                <a:latin typeface="Calibri"/>
              </a:rPr>
              <a:t>What you will see: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TextBox 9"/>
          <p:cNvSpPr/>
          <p:nvPr/>
        </p:nvSpPr>
        <p:spPr>
          <a:xfrm>
            <a:off x="8229600" y="4160520"/>
            <a:ext cx="34743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  ▶  An image as a grid of numbers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TextBox 10"/>
          <p:cNvSpPr/>
          <p:nvPr/>
        </p:nvSpPr>
        <p:spPr>
          <a:xfrm>
            <a:off x="8229600" y="4453200"/>
            <a:ext cx="34743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  ▶  What a filter/kernel contains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TextBox 11"/>
          <p:cNvSpPr/>
          <p:nvPr/>
        </p:nvSpPr>
        <p:spPr>
          <a:xfrm>
            <a:off x="8229600" y="4745880"/>
            <a:ext cx="34743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  ▶  The exact multiplication + sum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TextBox 12"/>
          <p:cNvSpPr/>
          <p:nvPr/>
        </p:nvSpPr>
        <p:spPr>
          <a:xfrm>
            <a:off x="8229600" y="5038200"/>
            <a:ext cx="34743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  ▶  How a feature map is built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TextBox 13"/>
          <p:cNvSpPr/>
          <p:nvPr/>
        </p:nvSpPr>
        <p:spPr>
          <a:xfrm>
            <a:off x="8229600" y="5330880"/>
            <a:ext cx="34743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  ▶  Padding &amp; stride explained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TextBox 14"/>
          <p:cNvSpPr/>
          <p:nvPr/>
        </p:nvSpPr>
        <p:spPr>
          <a:xfrm>
            <a:off x="8229600" y="5623560"/>
            <a:ext cx="34743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  ▶  Multiple filters in parallel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TextBox 15"/>
          <p:cNvSpPr/>
          <p:nvPr/>
        </p:nvSpPr>
        <p:spPr>
          <a:xfrm>
            <a:off x="8229600" y="5916240"/>
            <a:ext cx="34743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  ▶  What each filter detects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TextBox 16"/>
          <p:cNvSpPr/>
          <p:nvPr/>
        </p:nvSpPr>
        <p:spPr>
          <a:xfrm>
            <a:off x="8229600" y="6208920"/>
            <a:ext cx="34743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  ▶  All 4 blocks: dimension flow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80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Rectangle 1"/>
          <p:cNvSpPr/>
          <p:nvPr/>
        </p:nvSpPr>
        <p:spPr>
          <a:xfrm>
            <a:off x="0" y="0"/>
            <a:ext cx="72720" cy="6857640"/>
          </a:xfrm>
          <a:prstGeom prst="rect">
            <a:avLst/>
          </a:prstGeom>
          <a:solidFill>
            <a:srgbClr val="00bfa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8" name="TextBox 2"/>
          <p:cNvSpPr/>
          <p:nvPr/>
        </p:nvSpPr>
        <p:spPr>
          <a:xfrm>
            <a:off x="320040" y="182880"/>
            <a:ext cx="11429640" cy="60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400" b="1" u="none" strike="noStrike">
                <a:solidFill>
                  <a:srgbClr val="00bfa5"/>
                </a:solidFill>
                <a:effectLst/>
                <a:uFillTx/>
                <a:latin typeface="Calibri"/>
              </a:rPr>
              <a:t>Summary — The Complete Conv2d Picture</a:t>
            </a:r>
            <a:endParaRPr lang="en-IN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TextBox 3"/>
          <p:cNvSpPr/>
          <p:nvPr/>
        </p:nvSpPr>
        <p:spPr>
          <a:xfrm>
            <a:off x="320040" y="868680"/>
            <a:ext cx="11429640" cy="34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Everything that happens inside one Conv2d layer</a:t>
            </a:r>
            <a:endParaRPr lang="en-IN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Rectangle 4"/>
          <p:cNvSpPr/>
          <p:nvPr/>
        </p:nvSpPr>
        <p:spPr>
          <a:xfrm>
            <a:off x="320040" y="1325880"/>
            <a:ext cx="11521080" cy="27000"/>
          </a:xfrm>
          <a:prstGeom prst="rect">
            <a:avLst/>
          </a:prstGeom>
          <a:solidFill>
            <a:srgbClr val="3a4a6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7640" bIns="-17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1" name="Rectangle 5"/>
          <p:cNvSpPr/>
          <p:nvPr/>
        </p:nvSpPr>
        <p:spPr>
          <a:xfrm>
            <a:off x="274320" y="1600200"/>
            <a:ext cx="5705280" cy="1082160"/>
          </a:xfrm>
          <a:prstGeom prst="rect">
            <a:avLst/>
          </a:prstGeom>
          <a:solidFill>
            <a:srgbClr val="121e3a"/>
          </a:solidFill>
          <a:ln w="15240">
            <a:solidFill>
              <a:srgbClr val="00d4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2" name="Rounded Rectangle 6"/>
          <p:cNvSpPr/>
          <p:nvPr/>
        </p:nvSpPr>
        <p:spPr>
          <a:xfrm>
            <a:off x="352440" y="1723320"/>
            <a:ext cx="1462320" cy="430200"/>
          </a:xfrm>
          <a:prstGeom prst="roundRect">
            <a:avLst>
              <a:gd name="adj" fmla="val 16667"/>
            </a:avLst>
          </a:prstGeom>
          <a:solidFill>
            <a:srgbClr val="00d4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3" name="TextBox 7"/>
          <p:cNvSpPr/>
          <p:nvPr/>
        </p:nvSpPr>
        <p:spPr>
          <a:xfrm>
            <a:off x="352440" y="1723320"/>
            <a:ext cx="14623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Input Tensor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TextBox 8"/>
          <p:cNvSpPr/>
          <p:nvPr/>
        </p:nvSpPr>
        <p:spPr>
          <a:xfrm>
            <a:off x="1883520" y="1698480"/>
            <a:ext cx="136512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00d4ff"/>
                </a:solidFill>
                <a:effectLst/>
                <a:uFillTx/>
                <a:latin typeface="Calibri"/>
              </a:rPr>
              <a:t>[3, 128, 128]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TextBox 9"/>
          <p:cNvSpPr/>
          <p:nvPr/>
        </p:nvSpPr>
        <p:spPr>
          <a:xfrm>
            <a:off x="3297600" y="1698480"/>
            <a:ext cx="2633040" cy="42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3 channels × 128×128 pixels = 49,152 numbers entering the layer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Rectangle 10"/>
          <p:cNvSpPr/>
          <p:nvPr/>
        </p:nvSpPr>
        <p:spPr>
          <a:xfrm>
            <a:off x="6174720" y="1600200"/>
            <a:ext cx="5705280" cy="1082160"/>
          </a:xfrm>
          <a:prstGeom prst="rect">
            <a:avLst/>
          </a:prstGeom>
          <a:solidFill>
            <a:srgbClr val="121e3a"/>
          </a:solidFill>
          <a:ln w="15240">
            <a:solidFill>
              <a:srgbClr val="00e57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7" name="Rounded Rectangle 11"/>
          <p:cNvSpPr/>
          <p:nvPr/>
        </p:nvSpPr>
        <p:spPr>
          <a:xfrm>
            <a:off x="6252840" y="1723320"/>
            <a:ext cx="1462680" cy="430200"/>
          </a:xfrm>
          <a:prstGeom prst="roundRect">
            <a:avLst>
              <a:gd name="adj" fmla="val 16667"/>
            </a:avLst>
          </a:prstGeom>
          <a:solidFill>
            <a:srgbClr val="00e57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8" name="TextBox 12"/>
          <p:cNvSpPr/>
          <p:nvPr/>
        </p:nvSpPr>
        <p:spPr>
          <a:xfrm>
            <a:off x="6252840" y="1723320"/>
            <a:ext cx="14626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Each Filter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TextBox 13"/>
          <p:cNvSpPr/>
          <p:nvPr/>
        </p:nvSpPr>
        <p:spPr>
          <a:xfrm>
            <a:off x="7784280" y="1698480"/>
            <a:ext cx="1364760" cy="42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100" b="1" u="none" strike="noStrike">
                <a:solidFill>
                  <a:srgbClr val="00e576"/>
                </a:solidFill>
                <a:effectLst/>
                <a:uFillTx/>
                <a:latin typeface="Calibri"/>
              </a:rPr>
              <a:t>3×3×3 = 27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00e576"/>
                </a:solidFill>
                <a:effectLst/>
                <a:uFillTx/>
                <a:latin typeface="Calibri"/>
              </a:rPr>
              <a:t>weights + 1 bias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TextBox 14"/>
          <p:cNvSpPr/>
          <p:nvPr/>
        </p:nvSpPr>
        <p:spPr>
          <a:xfrm>
            <a:off x="9198360" y="1698480"/>
            <a:ext cx="2633040" cy="42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27 weights cover a 3×3 spatial window across all 3 colour channels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Rectangle 15"/>
          <p:cNvSpPr/>
          <p:nvPr/>
        </p:nvSpPr>
        <p:spPr>
          <a:xfrm>
            <a:off x="274320" y="2805840"/>
            <a:ext cx="5705280" cy="1082160"/>
          </a:xfrm>
          <a:prstGeom prst="rect">
            <a:avLst/>
          </a:prstGeom>
          <a:solidFill>
            <a:srgbClr val="121e3a"/>
          </a:solidFill>
          <a:ln w="15240">
            <a:solidFill>
              <a:srgbClr val="ffc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2" name="Rounded Rectangle 16"/>
          <p:cNvSpPr/>
          <p:nvPr/>
        </p:nvSpPr>
        <p:spPr>
          <a:xfrm>
            <a:off x="352440" y="2928960"/>
            <a:ext cx="1462320" cy="430200"/>
          </a:xfrm>
          <a:prstGeom prst="roundRect">
            <a:avLst>
              <a:gd name="adj" fmla="val 16667"/>
            </a:avLst>
          </a:prstGeom>
          <a:solidFill>
            <a:srgbClr val="ffcc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3" name="TextBox 17"/>
          <p:cNvSpPr/>
          <p:nvPr/>
        </p:nvSpPr>
        <p:spPr>
          <a:xfrm>
            <a:off x="352440" y="2928960"/>
            <a:ext cx="14623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One Output Value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TextBox 18"/>
          <p:cNvSpPr/>
          <p:nvPr/>
        </p:nvSpPr>
        <p:spPr>
          <a:xfrm>
            <a:off x="1883520" y="2904120"/>
            <a:ext cx="1365120" cy="42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100" b="1" u="none" strike="noStrike">
                <a:solidFill>
                  <a:srgbClr val="ffcc00"/>
                </a:solidFill>
                <a:effectLst/>
                <a:uFillTx/>
                <a:latin typeface="Calibri"/>
              </a:rPr>
              <a:t>Σ(patch × weights)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fcc00"/>
                </a:solidFill>
                <a:effectLst/>
                <a:uFillTx/>
                <a:latin typeface="Calibri"/>
              </a:rPr>
              <a:t>+ bias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TextBox 19"/>
          <p:cNvSpPr/>
          <p:nvPr/>
        </p:nvSpPr>
        <p:spPr>
          <a:xfrm>
            <a:off x="3297600" y="2904120"/>
            <a:ext cx="2633040" cy="42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Dot product of filter and image patch at one position — repeated 128×128 times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Rectangle 20"/>
          <p:cNvSpPr/>
          <p:nvPr/>
        </p:nvSpPr>
        <p:spPr>
          <a:xfrm>
            <a:off x="6174720" y="2805840"/>
            <a:ext cx="5705280" cy="1082160"/>
          </a:xfrm>
          <a:prstGeom prst="rect">
            <a:avLst/>
          </a:prstGeom>
          <a:solidFill>
            <a:srgbClr val="121e3a"/>
          </a:solidFill>
          <a:ln w="15240">
            <a:solidFill>
              <a:srgbClr val="ff6b3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7" name="Rounded Rectangle 21"/>
          <p:cNvSpPr/>
          <p:nvPr/>
        </p:nvSpPr>
        <p:spPr>
          <a:xfrm>
            <a:off x="6252840" y="2928960"/>
            <a:ext cx="1462680" cy="430200"/>
          </a:xfrm>
          <a:prstGeom prst="roundRect">
            <a:avLst>
              <a:gd name="adj" fmla="val 16667"/>
            </a:avLst>
          </a:prstGeom>
          <a:solidFill>
            <a:srgbClr val="ff6b3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8" name="TextBox 22"/>
          <p:cNvSpPr/>
          <p:nvPr/>
        </p:nvSpPr>
        <p:spPr>
          <a:xfrm>
            <a:off x="6252840" y="2928960"/>
            <a:ext cx="14626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Padding = 1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TextBox 23"/>
          <p:cNvSpPr/>
          <p:nvPr/>
        </p:nvSpPr>
        <p:spPr>
          <a:xfrm>
            <a:off x="7784280" y="2904120"/>
            <a:ext cx="1364760" cy="42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100" b="1" u="none" strike="noStrike">
                <a:solidFill>
                  <a:srgbClr val="ff6b35"/>
                </a:solidFill>
                <a:effectLst/>
                <a:uFillTx/>
                <a:latin typeface="Calibri"/>
              </a:rPr>
              <a:t>Adds zero border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f6b35"/>
                </a:solidFill>
                <a:effectLst/>
                <a:uFillTx/>
                <a:latin typeface="Calibri"/>
              </a:rPr>
              <a:t>→ output same size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Box 24"/>
          <p:cNvSpPr/>
          <p:nvPr/>
        </p:nvSpPr>
        <p:spPr>
          <a:xfrm>
            <a:off x="9198360" y="2904120"/>
            <a:ext cx="263304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Without padding: 128→126. With padding=1: 128→128. Preserves spatial dimensions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Rectangle 25"/>
          <p:cNvSpPr/>
          <p:nvPr/>
        </p:nvSpPr>
        <p:spPr>
          <a:xfrm>
            <a:off x="274320" y="4011480"/>
            <a:ext cx="5705280" cy="1082160"/>
          </a:xfrm>
          <a:prstGeom prst="rect">
            <a:avLst/>
          </a:prstGeom>
          <a:solidFill>
            <a:srgbClr val="121e3a"/>
          </a:solidFill>
          <a:ln w="15240">
            <a:solidFill>
              <a:srgbClr val="ff454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2" name="Rounded Rectangle 26"/>
          <p:cNvSpPr/>
          <p:nvPr/>
        </p:nvSpPr>
        <p:spPr>
          <a:xfrm>
            <a:off x="352440" y="4134600"/>
            <a:ext cx="1462320" cy="430200"/>
          </a:xfrm>
          <a:prstGeom prst="roundRect">
            <a:avLst>
              <a:gd name="adj" fmla="val 16667"/>
            </a:avLst>
          </a:prstGeom>
          <a:solidFill>
            <a:srgbClr val="ff454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3" name="TextBox 27"/>
          <p:cNvSpPr/>
          <p:nvPr/>
        </p:nvSpPr>
        <p:spPr>
          <a:xfrm>
            <a:off x="352440" y="4134600"/>
            <a:ext cx="14623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32 Filters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Box 28"/>
          <p:cNvSpPr/>
          <p:nvPr/>
        </p:nvSpPr>
        <p:spPr>
          <a:xfrm>
            <a:off x="1883520" y="4110480"/>
            <a:ext cx="1365120" cy="42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100" b="1" u="none" strike="noStrike">
                <a:solidFill>
                  <a:srgbClr val="ff4545"/>
                </a:solidFill>
                <a:effectLst/>
                <a:uFillTx/>
                <a:latin typeface="Calibri"/>
              </a:rPr>
              <a:t>→ 32 feature maps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f4545"/>
                </a:solidFill>
                <a:effectLst/>
                <a:uFillTx/>
                <a:latin typeface="Calibri"/>
              </a:rPr>
              <a:t>[32, 128, 128]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Box 29"/>
          <p:cNvSpPr/>
          <p:nvPr/>
        </p:nvSpPr>
        <p:spPr>
          <a:xfrm>
            <a:off x="3297600" y="4110480"/>
            <a:ext cx="263304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32 different patterns detected simultaneously, each producing its own 128×128 map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Rectangle 30"/>
          <p:cNvSpPr/>
          <p:nvPr/>
        </p:nvSpPr>
        <p:spPr>
          <a:xfrm>
            <a:off x="6174720" y="4011480"/>
            <a:ext cx="5705280" cy="1082160"/>
          </a:xfrm>
          <a:prstGeom prst="rect">
            <a:avLst/>
          </a:prstGeom>
          <a:solidFill>
            <a:srgbClr val="121e3a"/>
          </a:solidFill>
          <a:ln w="15240">
            <a:solidFill>
              <a:srgbClr val="a040c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7" name="Rounded Rectangle 31"/>
          <p:cNvSpPr/>
          <p:nvPr/>
        </p:nvSpPr>
        <p:spPr>
          <a:xfrm>
            <a:off x="6252840" y="4134600"/>
            <a:ext cx="1462680" cy="430200"/>
          </a:xfrm>
          <a:prstGeom prst="roundRect">
            <a:avLst>
              <a:gd name="adj" fmla="val 16667"/>
            </a:avLst>
          </a:prstGeom>
          <a:solidFill>
            <a:srgbClr val="a040c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8" name="TextBox 32"/>
          <p:cNvSpPr/>
          <p:nvPr/>
        </p:nvSpPr>
        <p:spPr>
          <a:xfrm>
            <a:off x="6252840" y="4134600"/>
            <a:ext cx="14626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BatchNorm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Box 33"/>
          <p:cNvSpPr/>
          <p:nvPr/>
        </p:nvSpPr>
        <p:spPr>
          <a:xfrm>
            <a:off x="7784280" y="4110480"/>
            <a:ext cx="1364760" cy="42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100" b="1" u="none" strike="noStrike">
                <a:solidFill>
                  <a:srgbClr val="a040c0"/>
                </a:solidFill>
                <a:effectLst/>
                <a:uFillTx/>
                <a:latin typeface="Calibri"/>
              </a:rPr>
              <a:t>Normalises each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a040c0"/>
                </a:solidFill>
                <a:effectLst/>
                <a:uFillTx/>
                <a:latin typeface="Calibri"/>
              </a:rPr>
              <a:t>feature map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Box 34"/>
          <p:cNvSpPr/>
          <p:nvPr/>
        </p:nvSpPr>
        <p:spPr>
          <a:xfrm>
            <a:off x="9198360" y="4110480"/>
            <a:ext cx="2633040" cy="42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Stabilises training by keeping activation values in a consistent range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Rectangle 35"/>
          <p:cNvSpPr/>
          <p:nvPr/>
        </p:nvSpPr>
        <p:spPr>
          <a:xfrm>
            <a:off x="274320" y="5217840"/>
            <a:ext cx="5705280" cy="1082160"/>
          </a:xfrm>
          <a:prstGeom prst="rect">
            <a:avLst/>
          </a:prstGeom>
          <a:solidFill>
            <a:srgbClr val="121e3a"/>
          </a:solidFill>
          <a:ln w="15240">
            <a:solidFill>
              <a:srgbClr val="ff50a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2" name="Rounded Rectangle 36"/>
          <p:cNvSpPr/>
          <p:nvPr/>
        </p:nvSpPr>
        <p:spPr>
          <a:xfrm>
            <a:off x="352440" y="5340960"/>
            <a:ext cx="1462320" cy="430200"/>
          </a:xfrm>
          <a:prstGeom prst="roundRect">
            <a:avLst>
              <a:gd name="adj" fmla="val 16667"/>
            </a:avLst>
          </a:prstGeom>
          <a:solidFill>
            <a:srgbClr val="ff50a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3" name="TextBox 37"/>
          <p:cNvSpPr/>
          <p:nvPr/>
        </p:nvSpPr>
        <p:spPr>
          <a:xfrm>
            <a:off x="352440" y="5340960"/>
            <a:ext cx="14623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ReLU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Box 38"/>
          <p:cNvSpPr/>
          <p:nvPr/>
        </p:nvSpPr>
        <p:spPr>
          <a:xfrm>
            <a:off x="1883520" y="5316120"/>
            <a:ext cx="1365120" cy="42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100" b="1" u="none" strike="noStrike">
                <a:solidFill>
                  <a:srgbClr val="ff50a0"/>
                </a:solidFill>
                <a:effectLst/>
                <a:uFillTx/>
                <a:latin typeface="Calibri"/>
              </a:rPr>
              <a:t>max(0, x)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f50a0"/>
                </a:solidFill>
                <a:effectLst/>
                <a:uFillTx/>
                <a:latin typeface="Calibri"/>
              </a:rPr>
              <a:t>for every value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Box 39"/>
          <p:cNvSpPr/>
          <p:nvPr/>
        </p:nvSpPr>
        <p:spPr>
          <a:xfrm>
            <a:off x="3297600" y="5316120"/>
            <a:ext cx="263304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Removes negative values (no pattern found here), keeps positives (pattern found)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Rectangle 40"/>
          <p:cNvSpPr/>
          <p:nvPr/>
        </p:nvSpPr>
        <p:spPr>
          <a:xfrm>
            <a:off x="6174720" y="5217840"/>
            <a:ext cx="5705280" cy="1082160"/>
          </a:xfrm>
          <a:prstGeom prst="rect">
            <a:avLst/>
          </a:prstGeom>
          <a:solidFill>
            <a:srgbClr val="121e3a"/>
          </a:solidFill>
          <a:ln w="15240">
            <a:solidFill>
              <a:srgbClr val="00bfa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7" name="Rounded Rectangle 41"/>
          <p:cNvSpPr/>
          <p:nvPr/>
        </p:nvSpPr>
        <p:spPr>
          <a:xfrm>
            <a:off x="6252840" y="5340960"/>
            <a:ext cx="1462680" cy="430200"/>
          </a:xfrm>
          <a:prstGeom prst="roundRect">
            <a:avLst>
              <a:gd name="adj" fmla="val 16667"/>
            </a:avLst>
          </a:prstGeom>
          <a:solidFill>
            <a:srgbClr val="00bfa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8" name="TextBox 42"/>
          <p:cNvSpPr/>
          <p:nvPr/>
        </p:nvSpPr>
        <p:spPr>
          <a:xfrm>
            <a:off x="6252840" y="5340960"/>
            <a:ext cx="14626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MaxPool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Box 43"/>
          <p:cNvSpPr/>
          <p:nvPr/>
        </p:nvSpPr>
        <p:spPr>
          <a:xfrm>
            <a:off x="7784280" y="5316120"/>
            <a:ext cx="1364760" cy="42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100" b="1" u="none" strike="noStrike">
                <a:solidFill>
                  <a:srgbClr val="00bfa5"/>
                </a:solidFill>
                <a:effectLst/>
                <a:uFillTx/>
                <a:latin typeface="Calibri"/>
              </a:rPr>
              <a:t>2×2 → halves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00bfa5"/>
                </a:solidFill>
                <a:effectLst/>
                <a:uFillTx/>
                <a:latin typeface="Calibri"/>
              </a:rPr>
              <a:t>[32, 64, 64]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Box 44"/>
          <p:cNvSpPr/>
          <p:nvPr/>
        </p:nvSpPr>
        <p:spPr>
          <a:xfrm>
            <a:off x="9198360" y="5316120"/>
            <a:ext cx="2633040" cy="42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Keeps the strongest activation in each 2×2 window. Reduces size, keeps key info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Rectangle 45"/>
          <p:cNvSpPr/>
          <p:nvPr/>
        </p:nvSpPr>
        <p:spPr>
          <a:xfrm>
            <a:off x="274320" y="6492240"/>
            <a:ext cx="11612520" cy="301320"/>
          </a:xfrm>
          <a:prstGeom prst="rect">
            <a:avLst/>
          </a:prstGeom>
          <a:solidFill>
            <a:srgbClr val="081e12"/>
          </a:solidFill>
          <a:ln w="19050">
            <a:solidFill>
              <a:srgbClr val="00e57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2" name="TextBox 46"/>
          <p:cNvSpPr/>
          <p:nvPr/>
        </p:nvSpPr>
        <p:spPr>
          <a:xfrm>
            <a:off x="457200" y="6510600"/>
            <a:ext cx="1142964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00e576"/>
                </a:solidFill>
                <a:effectLst/>
                <a:uFillTx/>
                <a:latin typeface="Calibri"/>
              </a:rPr>
              <a:t>Conv Block = Conv2d  →  BatchNorm2d  →  ReLU  →  MaxPool2d   |   [3,128,128]  →  [32,64,64]   in Block 1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80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Rectangle 1"/>
          <p:cNvSpPr/>
          <p:nvPr/>
        </p:nvSpPr>
        <p:spPr>
          <a:xfrm>
            <a:off x="0" y="0"/>
            <a:ext cx="72720" cy="6857640"/>
          </a:xfrm>
          <a:prstGeom prst="rect">
            <a:avLst/>
          </a:prstGeom>
          <a:solidFill>
            <a:srgbClr val="00d4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4" name="TextBox 2"/>
          <p:cNvSpPr/>
          <p:nvPr/>
        </p:nvSpPr>
        <p:spPr>
          <a:xfrm>
            <a:off x="320040" y="182880"/>
            <a:ext cx="114296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400" b="1" u="none" strike="noStrike">
                <a:solidFill>
                  <a:srgbClr val="00d4ff"/>
                </a:solidFill>
                <a:effectLst/>
                <a:uFillTx/>
                <a:latin typeface="Calibri"/>
              </a:rPr>
              <a:t>An Image is Just Numbers</a:t>
            </a:r>
            <a:endParaRPr lang="en-IN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Box 3"/>
          <p:cNvSpPr/>
          <p:nvPr/>
        </p:nvSpPr>
        <p:spPr>
          <a:xfrm>
            <a:off x="320040" y="868680"/>
            <a:ext cx="11429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Every pixel is one or three numbers — the raw input to the CNN</a:t>
            </a:r>
            <a:endParaRPr lang="en-IN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Rectangle 4"/>
          <p:cNvSpPr/>
          <p:nvPr/>
        </p:nvSpPr>
        <p:spPr>
          <a:xfrm>
            <a:off x="320040" y="1325880"/>
            <a:ext cx="11521080" cy="27000"/>
          </a:xfrm>
          <a:prstGeom prst="rect">
            <a:avLst/>
          </a:prstGeom>
          <a:solidFill>
            <a:srgbClr val="3a4a6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7640" bIns="-1764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7" name="Rectangle 5"/>
          <p:cNvSpPr/>
          <p:nvPr/>
        </p:nvSpPr>
        <p:spPr>
          <a:xfrm>
            <a:off x="274320" y="1508760"/>
            <a:ext cx="5303160" cy="4374720"/>
          </a:xfrm>
          <a:prstGeom prst="rect">
            <a:avLst/>
          </a:prstGeom>
          <a:solidFill>
            <a:srgbClr val="0f1732"/>
          </a:solidFill>
          <a:ln w="19050">
            <a:solidFill>
              <a:srgbClr val="00d4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8" name="TextBox 6"/>
          <p:cNvSpPr/>
          <p:nvPr/>
        </p:nvSpPr>
        <p:spPr>
          <a:xfrm>
            <a:off x="457200" y="1626840"/>
            <a:ext cx="493740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00d4ff"/>
                </a:solidFill>
                <a:effectLst/>
                <a:uFillTx/>
                <a:latin typeface="Calibri"/>
              </a:rPr>
              <a:t>Grayscale Image  (1 channel)</a:t>
            </a:r>
            <a:endParaRPr lang="en-IN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Box 7"/>
          <p:cNvSpPr/>
          <p:nvPr/>
        </p:nvSpPr>
        <p:spPr>
          <a:xfrm>
            <a:off x="457200" y="1942200"/>
            <a:ext cx="493740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Each cell = one pixel  (value 0–255)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Rectangle 8"/>
          <p:cNvSpPr/>
          <p:nvPr/>
        </p:nvSpPr>
        <p:spPr>
          <a:xfrm>
            <a:off x="457200" y="2297160"/>
            <a:ext cx="529920" cy="43308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1" name="TextBox 9"/>
          <p:cNvSpPr/>
          <p:nvPr/>
        </p:nvSpPr>
        <p:spPr>
          <a:xfrm>
            <a:off x="457200" y="2297160"/>
            <a:ext cx="52992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45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Rectangle 10"/>
          <p:cNvSpPr/>
          <p:nvPr/>
        </p:nvSpPr>
        <p:spPr>
          <a:xfrm>
            <a:off x="987480" y="2297160"/>
            <a:ext cx="529920" cy="43308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3" name="TextBox 11"/>
          <p:cNvSpPr/>
          <p:nvPr/>
        </p:nvSpPr>
        <p:spPr>
          <a:xfrm>
            <a:off x="987480" y="2297160"/>
            <a:ext cx="52992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50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Rectangle 12"/>
          <p:cNvSpPr/>
          <p:nvPr/>
        </p:nvSpPr>
        <p:spPr>
          <a:xfrm>
            <a:off x="1517760" y="2297160"/>
            <a:ext cx="529920" cy="43308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5" name="TextBox 13"/>
          <p:cNvSpPr/>
          <p:nvPr/>
        </p:nvSpPr>
        <p:spPr>
          <a:xfrm>
            <a:off x="1517760" y="2297160"/>
            <a:ext cx="52992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55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Rectangle 14"/>
          <p:cNvSpPr/>
          <p:nvPr/>
        </p:nvSpPr>
        <p:spPr>
          <a:xfrm>
            <a:off x="2048400" y="2297160"/>
            <a:ext cx="529920" cy="43308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7" name="TextBox 15"/>
          <p:cNvSpPr/>
          <p:nvPr/>
        </p:nvSpPr>
        <p:spPr>
          <a:xfrm>
            <a:off x="2048400" y="2297160"/>
            <a:ext cx="52992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60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Rectangle 16"/>
          <p:cNvSpPr/>
          <p:nvPr/>
        </p:nvSpPr>
        <p:spPr>
          <a:xfrm>
            <a:off x="2578680" y="2297160"/>
            <a:ext cx="529920" cy="43308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9" name="TextBox 17"/>
          <p:cNvSpPr/>
          <p:nvPr/>
        </p:nvSpPr>
        <p:spPr>
          <a:xfrm>
            <a:off x="2578680" y="2297160"/>
            <a:ext cx="52992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62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Rectangle 18"/>
          <p:cNvSpPr/>
          <p:nvPr/>
        </p:nvSpPr>
        <p:spPr>
          <a:xfrm>
            <a:off x="3108960" y="2297160"/>
            <a:ext cx="529920" cy="43308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1" name="TextBox 19"/>
          <p:cNvSpPr/>
          <p:nvPr/>
        </p:nvSpPr>
        <p:spPr>
          <a:xfrm>
            <a:off x="3108960" y="2297160"/>
            <a:ext cx="52992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58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Rectangle 20"/>
          <p:cNvSpPr/>
          <p:nvPr/>
        </p:nvSpPr>
        <p:spPr>
          <a:xfrm>
            <a:off x="3639240" y="2297160"/>
            <a:ext cx="529920" cy="43308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3" name="TextBox 21"/>
          <p:cNvSpPr/>
          <p:nvPr/>
        </p:nvSpPr>
        <p:spPr>
          <a:xfrm>
            <a:off x="3639240" y="2297160"/>
            <a:ext cx="52992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52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Rectangle 22"/>
          <p:cNvSpPr/>
          <p:nvPr/>
        </p:nvSpPr>
        <p:spPr>
          <a:xfrm>
            <a:off x="4169520" y="2297160"/>
            <a:ext cx="529920" cy="43308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5" name="TextBox 23"/>
          <p:cNvSpPr/>
          <p:nvPr/>
        </p:nvSpPr>
        <p:spPr>
          <a:xfrm>
            <a:off x="4169520" y="2297160"/>
            <a:ext cx="52992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48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Rectangle 24"/>
          <p:cNvSpPr/>
          <p:nvPr/>
        </p:nvSpPr>
        <p:spPr>
          <a:xfrm>
            <a:off x="457200" y="2730600"/>
            <a:ext cx="529920" cy="43344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7" name="TextBox 25"/>
          <p:cNvSpPr/>
          <p:nvPr/>
        </p:nvSpPr>
        <p:spPr>
          <a:xfrm>
            <a:off x="457200" y="2730600"/>
            <a:ext cx="52992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50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Rectangle 26"/>
          <p:cNvSpPr/>
          <p:nvPr/>
        </p:nvSpPr>
        <p:spPr>
          <a:xfrm>
            <a:off x="987480" y="2730600"/>
            <a:ext cx="529920" cy="43344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9" name="TextBox 27"/>
          <p:cNvSpPr/>
          <p:nvPr/>
        </p:nvSpPr>
        <p:spPr>
          <a:xfrm>
            <a:off x="987480" y="2730600"/>
            <a:ext cx="52992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120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Rectangle 28"/>
          <p:cNvSpPr/>
          <p:nvPr/>
        </p:nvSpPr>
        <p:spPr>
          <a:xfrm>
            <a:off x="1517760" y="2730600"/>
            <a:ext cx="529920" cy="43344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1" name="TextBox 29"/>
          <p:cNvSpPr/>
          <p:nvPr/>
        </p:nvSpPr>
        <p:spPr>
          <a:xfrm>
            <a:off x="1517760" y="2730600"/>
            <a:ext cx="52992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180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Rectangle 30"/>
          <p:cNvSpPr/>
          <p:nvPr/>
        </p:nvSpPr>
        <p:spPr>
          <a:xfrm>
            <a:off x="2048400" y="2730600"/>
            <a:ext cx="529920" cy="43344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3" name="TextBox 31"/>
          <p:cNvSpPr/>
          <p:nvPr/>
        </p:nvSpPr>
        <p:spPr>
          <a:xfrm>
            <a:off x="2048400" y="2730600"/>
            <a:ext cx="52992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200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Rectangle 32"/>
          <p:cNvSpPr/>
          <p:nvPr/>
        </p:nvSpPr>
        <p:spPr>
          <a:xfrm>
            <a:off x="2578680" y="2730600"/>
            <a:ext cx="529920" cy="43344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5" name="TextBox 33"/>
          <p:cNvSpPr/>
          <p:nvPr/>
        </p:nvSpPr>
        <p:spPr>
          <a:xfrm>
            <a:off x="2578680" y="2730600"/>
            <a:ext cx="52992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195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Rectangle 34"/>
          <p:cNvSpPr/>
          <p:nvPr/>
        </p:nvSpPr>
        <p:spPr>
          <a:xfrm>
            <a:off x="3108960" y="2730600"/>
            <a:ext cx="529920" cy="43344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7" name="TextBox 35"/>
          <p:cNvSpPr/>
          <p:nvPr/>
        </p:nvSpPr>
        <p:spPr>
          <a:xfrm>
            <a:off x="3108960" y="2730600"/>
            <a:ext cx="52992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175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Rectangle 36"/>
          <p:cNvSpPr/>
          <p:nvPr/>
        </p:nvSpPr>
        <p:spPr>
          <a:xfrm>
            <a:off x="3639240" y="2730600"/>
            <a:ext cx="529920" cy="43344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9" name="TextBox 37"/>
          <p:cNvSpPr/>
          <p:nvPr/>
        </p:nvSpPr>
        <p:spPr>
          <a:xfrm>
            <a:off x="3639240" y="2730600"/>
            <a:ext cx="52992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115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Rectangle 38"/>
          <p:cNvSpPr/>
          <p:nvPr/>
        </p:nvSpPr>
        <p:spPr>
          <a:xfrm>
            <a:off x="4169520" y="2730600"/>
            <a:ext cx="529920" cy="43344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1" name="TextBox 39"/>
          <p:cNvSpPr/>
          <p:nvPr/>
        </p:nvSpPr>
        <p:spPr>
          <a:xfrm>
            <a:off x="4169520" y="2730600"/>
            <a:ext cx="52992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55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Rectangle 40"/>
          <p:cNvSpPr/>
          <p:nvPr/>
        </p:nvSpPr>
        <p:spPr>
          <a:xfrm>
            <a:off x="457200" y="3164040"/>
            <a:ext cx="529920" cy="43344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3" name="TextBox 41"/>
          <p:cNvSpPr/>
          <p:nvPr/>
        </p:nvSpPr>
        <p:spPr>
          <a:xfrm>
            <a:off x="457200" y="3164040"/>
            <a:ext cx="52992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55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Rectangle 42"/>
          <p:cNvSpPr/>
          <p:nvPr/>
        </p:nvSpPr>
        <p:spPr>
          <a:xfrm>
            <a:off x="987480" y="3164040"/>
            <a:ext cx="529920" cy="43344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5" name="TextBox 43"/>
          <p:cNvSpPr/>
          <p:nvPr/>
        </p:nvSpPr>
        <p:spPr>
          <a:xfrm>
            <a:off x="987480" y="3164040"/>
            <a:ext cx="52992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175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Rectangle 44"/>
          <p:cNvSpPr/>
          <p:nvPr/>
        </p:nvSpPr>
        <p:spPr>
          <a:xfrm>
            <a:off x="1517760" y="3164040"/>
            <a:ext cx="529920" cy="433440"/>
          </a:xfrm>
          <a:prstGeom prst="rect">
            <a:avLst/>
          </a:prstGeom>
          <a:solidFill>
            <a:srgbClr val="183050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7" name="TextBox 45"/>
          <p:cNvSpPr/>
          <p:nvPr/>
        </p:nvSpPr>
        <p:spPr>
          <a:xfrm>
            <a:off x="1517760" y="3164040"/>
            <a:ext cx="52992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210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Rectangle 46"/>
          <p:cNvSpPr/>
          <p:nvPr/>
        </p:nvSpPr>
        <p:spPr>
          <a:xfrm>
            <a:off x="2048400" y="3164040"/>
            <a:ext cx="529920" cy="433440"/>
          </a:xfrm>
          <a:prstGeom prst="rect">
            <a:avLst/>
          </a:prstGeom>
          <a:solidFill>
            <a:srgbClr val="183050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9" name="TextBox 47"/>
          <p:cNvSpPr/>
          <p:nvPr/>
        </p:nvSpPr>
        <p:spPr>
          <a:xfrm>
            <a:off x="2048400" y="3164040"/>
            <a:ext cx="52992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230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Rectangle 48"/>
          <p:cNvSpPr/>
          <p:nvPr/>
        </p:nvSpPr>
        <p:spPr>
          <a:xfrm>
            <a:off x="2578680" y="3164040"/>
            <a:ext cx="529920" cy="433440"/>
          </a:xfrm>
          <a:prstGeom prst="rect">
            <a:avLst/>
          </a:prstGeom>
          <a:solidFill>
            <a:srgbClr val="183050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1" name="TextBox 49"/>
          <p:cNvSpPr/>
          <p:nvPr/>
        </p:nvSpPr>
        <p:spPr>
          <a:xfrm>
            <a:off x="2578680" y="3164040"/>
            <a:ext cx="52992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228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Rectangle 50"/>
          <p:cNvSpPr/>
          <p:nvPr/>
        </p:nvSpPr>
        <p:spPr>
          <a:xfrm>
            <a:off x="3108960" y="3164040"/>
            <a:ext cx="529920" cy="433440"/>
          </a:xfrm>
          <a:prstGeom prst="rect">
            <a:avLst/>
          </a:prstGeom>
          <a:solidFill>
            <a:srgbClr val="183050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3" name="TextBox 51"/>
          <p:cNvSpPr/>
          <p:nvPr/>
        </p:nvSpPr>
        <p:spPr>
          <a:xfrm>
            <a:off x="3108960" y="3164040"/>
            <a:ext cx="52992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208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" name="Rectangle 52"/>
          <p:cNvSpPr/>
          <p:nvPr/>
        </p:nvSpPr>
        <p:spPr>
          <a:xfrm>
            <a:off x="3639240" y="3164040"/>
            <a:ext cx="529920" cy="43344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5" name="TextBox 53"/>
          <p:cNvSpPr/>
          <p:nvPr/>
        </p:nvSpPr>
        <p:spPr>
          <a:xfrm>
            <a:off x="3639240" y="3164040"/>
            <a:ext cx="52992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170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Rectangle 54"/>
          <p:cNvSpPr/>
          <p:nvPr/>
        </p:nvSpPr>
        <p:spPr>
          <a:xfrm>
            <a:off x="4169520" y="3164040"/>
            <a:ext cx="529920" cy="43344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7" name="TextBox 55"/>
          <p:cNvSpPr/>
          <p:nvPr/>
        </p:nvSpPr>
        <p:spPr>
          <a:xfrm>
            <a:off x="4169520" y="3164040"/>
            <a:ext cx="52992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60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Rectangle 56"/>
          <p:cNvSpPr/>
          <p:nvPr/>
        </p:nvSpPr>
        <p:spPr>
          <a:xfrm>
            <a:off x="457200" y="3597840"/>
            <a:ext cx="529920" cy="43308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9" name="TextBox 57"/>
          <p:cNvSpPr/>
          <p:nvPr/>
        </p:nvSpPr>
        <p:spPr>
          <a:xfrm>
            <a:off x="457200" y="3597840"/>
            <a:ext cx="52992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58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" name="Rectangle 58"/>
          <p:cNvSpPr/>
          <p:nvPr/>
        </p:nvSpPr>
        <p:spPr>
          <a:xfrm>
            <a:off x="987480" y="3597840"/>
            <a:ext cx="529920" cy="43308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1" name="TextBox 59"/>
          <p:cNvSpPr/>
          <p:nvPr/>
        </p:nvSpPr>
        <p:spPr>
          <a:xfrm>
            <a:off x="987480" y="3597840"/>
            <a:ext cx="52992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195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Rectangle 60"/>
          <p:cNvSpPr/>
          <p:nvPr/>
        </p:nvSpPr>
        <p:spPr>
          <a:xfrm>
            <a:off x="1517760" y="3597840"/>
            <a:ext cx="529920" cy="433080"/>
          </a:xfrm>
          <a:prstGeom prst="rect">
            <a:avLst/>
          </a:prstGeom>
          <a:solidFill>
            <a:srgbClr val="183050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3" name="TextBox 61"/>
          <p:cNvSpPr/>
          <p:nvPr/>
        </p:nvSpPr>
        <p:spPr>
          <a:xfrm>
            <a:off x="1517760" y="3597840"/>
            <a:ext cx="52992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228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Rectangle 62"/>
          <p:cNvSpPr/>
          <p:nvPr/>
        </p:nvSpPr>
        <p:spPr>
          <a:xfrm>
            <a:off x="2048400" y="3597840"/>
            <a:ext cx="529920" cy="433080"/>
          </a:xfrm>
          <a:prstGeom prst="rect">
            <a:avLst/>
          </a:prstGeom>
          <a:solidFill>
            <a:srgbClr val="183050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5" name="TextBox 63"/>
          <p:cNvSpPr/>
          <p:nvPr/>
        </p:nvSpPr>
        <p:spPr>
          <a:xfrm>
            <a:off x="2048400" y="3597840"/>
            <a:ext cx="52992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245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Rectangle 64"/>
          <p:cNvSpPr/>
          <p:nvPr/>
        </p:nvSpPr>
        <p:spPr>
          <a:xfrm>
            <a:off x="2578680" y="3597840"/>
            <a:ext cx="529920" cy="433080"/>
          </a:xfrm>
          <a:prstGeom prst="rect">
            <a:avLst/>
          </a:prstGeom>
          <a:solidFill>
            <a:srgbClr val="183050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7" name="TextBox 65"/>
          <p:cNvSpPr/>
          <p:nvPr/>
        </p:nvSpPr>
        <p:spPr>
          <a:xfrm>
            <a:off x="2578680" y="3597840"/>
            <a:ext cx="52992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242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" name="Rectangle 66"/>
          <p:cNvSpPr/>
          <p:nvPr/>
        </p:nvSpPr>
        <p:spPr>
          <a:xfrm>
            <a:off x="3108960" y="3597840"/>
            <a:ext cx="529920" cy="433080"/>
          </a:xfrm>
          <a:prstGeom prst="rect">
            <a:avLst/>
          </a:prstGeom>
          <a:solidFill>
            <a:srgbClr val="183050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9" name="TextBox 67"/>
          <p:cNvSpPr/>
          <p:nvPr/>
        </p:nvSpPr>
        <p:spPr>
          <a:xfrm>
            <a:off x="3108960" y="3597840"/>
            <a:ext cx="52992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225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" name="Rectangle 68"/>
          <p:cNvSpPr/>
          <p:nvPr/>
        </p:nvSpPr>
        <p:spPr>
          <a:xfrm>
            <a:off x="3639240" y="3597840"/>
            <a:ext cx="529920" cy="43308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1" name="TextBox 69"/>
          <p:cNvSpPr/>
          <p:nvPr/>
        </p:nvSpPr>
        <p:spPr>
          <a:xfrm>
            <a:off x="3639240" y="3597840"/>
            <a:ext cx="52992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190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" name="Rectangle 70"/>
          <p:cNvSpPr/>
          <p:nvPr/>
        </p:nvSpPr>
        <p:spPr>
          <a:xfrm>
            <a:off x="4169520" y="3597840"/>
            <a:ext cx="529920" cy="43308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3" name="TextBox 71"/>
          <p:cNvSpPr/>
          <p:nvPr/>
        </p:nvSpPr>
        <p:spPr>
          <a:xfrm>
            <a:off x="4169520" y="3597840"/>
            <a:ext cx="52992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62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" name="Rectangle 72"/>
          <p:cNvSpPr/>
          <p:nvPr/>
        </p:nvSpPr>
        <p:spPr>
          <a:xfrm>
            <a:off x="457200" y="4031280"/>
            <a:ext cx="529920" cy="43344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5" name="TextBox 73"/>
          <p:cNvSpPr/>
          <p:nvPr/>
        </p:nvSpPr>
        <p:spPr>
          <a:xfrm>
            <a:off x="457200" y="4031280"/>
            <a:ext cx="52992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57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" name="Rectangle 74"/>
          <p:cNvSpPr/>
          <p:nvPr/>
        </p:nvSpPr>
        <p:spPr>
          <a:xfrm>
            <a:off x="987480" y="4031280"/>
            <a:ext cx="529920" cy="43344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7" name="TextBox 75"/>
          <p:cNvSpPr/>
          <p:nvPr/>
        </p:nvSpPr>
        <p:spPr>
          <a:xfrm>
            <a:off x="987480" y="4031280"/>
            <a:ext cx="52992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190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" name="Rectangle 76"/>
          <p:cNvSpPr/>
          <p:nvPr/>
        </p:nvSpPr>
        <p:spPr>
          <a:xfrm>
            <a:off x="1517760" y="4031280"/>
            <a:ext cx="529920" cy="433440"/>
          </a:xfrm>
          <a:prstGeom prst="rect">
            <a:avLst/>
          </a:prstGeom>
          <a:solidFill>
            <a:srgbClr val="183050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9" name="TextBox 77"/>
          <p:cNvSpPr/>
          <p:nvPr/>
        </p:nvSpPr>
        <p:spPr>
          <a:xfrm>
            <a:off x="1517760" y="4031280"/>
            <a:ext cx="52992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225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" name="Rectangle 78"/>
          <p:cNvSpPr/>
          <p:nvPr/>
        </p:nvSpPr>
        <p:spPr>
          <a:xfrm>
            <a:off x="2048400" y="4031280"/>
            <a:ext cx="529920" cy="433440"/>
          </a:xfrm>
          <a:prstGeom prst="rect">
            <a:avLst/>
          </a:prstGeom>
          <a:solidFill>
            <a:srgbClr val="183050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1" name="TextBox 79"/>
          <p:cNvSpPr/>
          <p:nvPr/>
        </p:nvSpPr>
        <p:spPr>
          <a:xfrm>
            <a:off x="2048400" y="4031280"/>
            <a:ext cx="52992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242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" name="Rectangle 80"/>
          <p:cNvSpPr/>
          <p:nvPr/>
        </p:nvSpPr>
        <p:spPr>
          <a:xfrm>
            <a:off x="2578680" y="4031280"/>
            <a:ext cx="529920" cy="433440"/>
          </a:xfrm>
          <a:prstGeom prst="rect">
            <a:avLst/>
          </a:prstGeom>
          <a:solidFill>
            <a:srgbClr val="183050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3" name="TextBox 81"/>
          <p:cNvSpPr/>
          <p:nvPr/>
        </p:nvSpPr>
        <p:spPr>
          <a:xfrm>
            <a:off x="2578680" y="4031280"/>
            <a:ext cx="52992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240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" name="Rectangle 82"/>
          <p:cNvSpPr/>
          <p:nvPr/>
        </p:nvSpPr>
        <p:spPr>
          <a:xfrm>
            <a:off x="3108960" y="4031280"/>
            <a:ext cx="529920" cy="433440"/>
          </a:xfrm>
          <a:prstGeom prst="rect">
            <a:avLst/>
          </a:prstGeom>
          <a:solidFill>
            <a:srgbClr val="183050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5" name="TextBox 83"/>
          <p:cNvSpPr/>
          <p:nvPr/>
        </p:nvSpPr>
        <p:spPr>
          <a:xfrm>
            <a:off x="3108960" y="4031280"/>
            <a:ext cx="52992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222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" name="Rectangle 84"/>
          <p:cNvSpPr/>
          <p:nvPr/>
        </p:nvSpPr>
        <p:spPr>
          <a:xfrm>
            <a:off x="3639240" y="4031280"/>
            <a:ext cx="529920" cy="43344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7" name="TextBox 85"/>
          <p:cNvSpPr/>
          <p:nvPr/>
        </p:nvSpPr>
        <p:spPr>
          <a:xfrm>
            <a:off x="3639240" y="4031280"/>
            <a:ext cx="52992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188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" name="Rectangle 86"/>
          <p:cNvSpPr/>
          <p:nvPr/>
        </p:nvSpPr>
        <p:spPr>
          <a:xfrm>
            <a:off x="4169520" y="4031280"/>
            <a:ext cx="529920" cy="43344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9" name="TextBox 87"/>
          <p:cNvSpPr/>
          <p:nvPr/>
        </p:nvSpPr>
        <p:spPr>
          <a:xfrm>
            <a:off x="4169520" y="4031280"/>
            <a:ext cx="52992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61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" name="Rectangle 88"/>
          <p:cNvSpPr/>
          <p:nvPr/>
        </p:nvSpPr>
        <p:spPr>
          <a:xfrm>
            <a:off x="457200" y="4464720"/>
            <a:ext cx="529920" cy="43344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1" name="TextBox 89"/>
          <p:cNvSpPr/>
          <p:nvPr/>
        </p:nvSpPr>
        <p:spPr>
          <a:xfrm>
            <a:off x="457200" y="4464720"/>
            <a:ext cx="52992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54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" name="Rectangle 90"/>
          <p:cNvSpPr/>
          <p:nvPr/>
        </p:nvSpPr>
        <p:spPr>
          <a:xfrm>
            <a:off x="987480" y="4464720"/>
            <a:ext cx="529920" cy="43344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3" name="TextBox 91"/>
          <p:cNvSpPr/>
          <p:nvPr/>
        </p:nvSpPr>
        <p:spPr>
          <a:xfrm>
            <a:off x="987480" y="4464720"/>
            <a:ext cx="52992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170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" name="Rectangle 92"/>
          <p:cNvSpPr/>
          <p:nvPr/>
        </p:nvSpPr>
        <p:spPr>
          <a:xfrm>
            <a:off x="1517760" y="4464720"/>
            <a:ext cx="529920" cy="433440"/>
          </a:xfrm>
          <a:prstGeom prst="rect">
            <a:avLst/>
          </a:prstGeom>
          <a:solidFill>
            <a:srgbClr val="183050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5" name="TextBox 93"/>
          <p:cNvSpPr/>
          <p:nvPr/>
        </p:nvSpPr>
        <p:spPr>
          <a:xfrm>
            <a:off x="1517760" y="4464720"/>
            <a:ext cx="52992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205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6" name="Rectangle 94"/>
          <p:cNvSpPr/>
          <p:nvPr/>
        </p:nvSpPr>
        <p:spPr>
          <a:xfrm>
            <a:off x="2048400" y="4464720"/>
            <a:ext cx="529920" cy="433440"/>
          </a:xfrm>
          <a:prstGeom prst="rect">
            <a:avLst/>
          </a:prstGeom>
          <a:solidFill>
            <a:srgbClr val="183050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7" name="TextBox 95"/>
          <p:cNvSpPr/>
          <p:nvPr/>
        </p:nvSpPr>
        <p:spPr>
          <a:xfrm>
            <a:off x="2048400" y="4464720"/>
            <a:ext cx="52992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228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8" name="Rectangle 96"/>
          <p:cNvSpPr/>
          <p:nvPr/>
        </p:nvSpPr>
        <p:spPr>
          <a:xfrm>
            <a:off x="2578680" y="4464720"/>
            <a:ext cx="529920" cy="433440"/>
          </a:xfrm>
          <a:prstGeom prst="rect">
            <a:avLst/>
          </a:prstGeom>
          <a:solidFill>
            <a:srgbClr val="183050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9" name="TextBox 97"/>
          <p:cNvSpPr/>
          <p:nvPr/>
        </p:nvSpPr>
        <p:spPr>
          <a:xfrm>
            <a:off x="2578680" y="4464720"/>
            <a:ext cx="52992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225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" name="Rectangle 98"/>
          <p:cNvSpPr/>
          <p:nvPr/>
        </p:nvSpPr>
        <p:spPr>
          <a:xfrm>
            <a:off x="3108960" y="4464720"/>
            <a:ext cx="529920" cy="433440"/>
          </a:xfrm>
          <a:prstGeom prst="rect">
            <a:avLst/>
          </a:prstGeom>
          <a:solidFill>
            <a:srgbClr val="183050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1" name="TextBox 99"/>
          <p:cNvSpPr/>
          <p:nvPr/>
        </p:nvSpPr>
        <p:spPr>
          <a:xfrm>
            <a:off x="3108960" y="4464720"/>
            <a:ext cx="52992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205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2" name="Rectangle 100"/>
          <p:cNvSpPr/>
          <p:nvPr/>
        </p:nvSpPr>
        <p:spPr>
          <a:xfrm>
            <a:off x="3639240" y="4464720"/>
            <a:ext cx="529920" cy="43344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3" name="TextBox 101"/>
          <p:cNvSpPr/>
          <p:nvPr/>
        </p:nvSpPr>
        <p:spPr>
          <a:xfrm>
            <a:off x="3639240" y="4464720"/>
            <a:ext cx="52992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165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4" name="Rectangle 102"/>
          <p:cNvSpPr/>
          <p:nvPr/>
        </p:nvSpPr>
        <p:spPr>
          <a:xfrm>
            <a:off x="4169520" y="4464720"/>
            <a:ext cx="529920" cy="43344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5" name="TextBox 103"/>
          <p:cNvSpPr/>
          <p:nvPr/>
        </p:nvSpPr>
        <p:spPr>
          <a:xfrm>
            <a:off x="4169520" y="4464720"/>
            <a:ext cx="52992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58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" name="Rectangle 104"/>
          <p:cNvSpPr/>
          <p:nvPr/>
        </p:nvSpPr>
        <p:spPr>
          <a:xfrm>
            <a:off x="457200" y="4898520"/>
            <a:ext cx="529920" cy="43308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7" name="TextBox 105"/>
          <p:cNvSpPr/>
          <p:nvPr/>
        </p:nvSpPr>
        <p:spPr>
          <a:xfrm>
            <a:off x="457200" y="4898520"/>
            <a:ext cx="52992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48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8" name="Rectangle 106"/>
          <p:cNvSpPr/>
          <p:nvPr/>
        </p:nvSpPr>
        <p:spPr>
          <a:xfrm>
            <a:off x="987480" y="4898520"/>
            <a:ext cx="529920" cy="43308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9" name="TextBox 107"/>
          <p:cNvSpPr/>
          <p:nvPr/>
        </p:nvSpPr>
        <p:spPr>
          <a:xfrm>
            <a:off x="987480" y="4898520"/>
            <a:ext cx="52992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110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" name="Rectangle 108"/>
          <p:cNvSpPr/>
          <p:nvPr/>
        </p:nvSpPr>
        <p:spPr>
          <a:xfrm>
            <a:off x="1517760" y="4898520"/>
            <a:ext cx="529920" cy="43308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1" name="TextBox 109"/>
          <p:cNvSpPr/>
          <p:nvPr/>
        </p:nvSpPr>
        <p:spPr>
          <a:xfrm>
            <a:off x="1517760" y="4898520"/>
            <a:ext cx="52992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172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2" name="Rectangle 110"/>
          <p:cNvSpPr/>
          <p:nvPr/>
        </p:nvSpPr>
        <p:spPr>
          <a:xfrm>
            <a:off x="2048400" y="4898520"/>
            <a:ext cx="529920" cy="43308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3" name="TextBox 111"/>
          <p:cNvSpPr/>
          <p:nvPr/>
        </p:nvSpPr>
        <p:spPr>
          <a:xfrm>
            <a:off x="2048400" y="4898520"/>
            <a:ext cx="52992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195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4" name="Rectangle 112"/>
          <p:cNvSpPr/>
          <p:nvPr/>
        </p:nvSpPr>
        <p:spPr>
          <a:xfrm>
            <a:off x="2578680" y="4898520"/>
            <a:ext cx="529920" cy="43308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5" name="TextBox 113"/>
          <p:cNvSpPr/>
          <p:nvPr/>
        </p:nvSpPr>
        <p:spPr>
          <a:xfrm>
            <a:off x="2578680" y="4898520"/>
            <a:ext cx="52992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192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6" name="Rectangle 114"/>
          <p:cNvSpPr/>
          <p:nvPr/>
        </p:nvSpPr>
        <p:spPr>
          <a:xfrm>
            <a:off x="3108960" y="4898520"/>
            <a:ext cx="529920" cy="43308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7" name="TextBox 115"/>
          <p:cNvSpPr/>
          <p:nvPr/>
        </p:nvSpPr>
        <p:spPr>
          <a:xfrm>
            <a:off x="3108960" y="4898520"/>
            <a:ext cx="52992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170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8" name="Rectangle 116"/>
          <p:cNvSpPr/>
          <p:nvPr/>
        </p:nvSpPr>
        <p:spPr>
          <a:xfrm>
            <a:off x="3639240" y="4898520"/>
            <a:ext cx="529920" cy="43308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9" name="TextBox 117"/>
          <p:cNvSpPr/>
          <p:nvPr/>
        </p:nvSpPr>
        <p:spPr>
          <a:xfrm>
            <a:off x="3639240" y="4898520"/>
            <a:ext cx="52992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108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0" name="Rectangle 118"/>
          <p:cNvSpPr/>
          <p:nvPr/>
        </p:nvSpPr>
        <p:spPr>
          <a:xfrm>
            <a:off x="4169520" y="4898520"/>
            <a:ext cx="529920" cy="43308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1" name="TextBox 119"/>
          <p:cNvSpPr/>
          <p:nvPr/>
        </p:nvSpPr>
        <p:spPr>
          <a:xfrm>
            <a:off x="4169520" y="4898520"/>
            <a:ext cx="52992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52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2" name="Rectangle 120"/>
          <p:cNvSpPr/>
          <p:nvPr/>
        </p:nvSpPr>
        <p:spPr>
          <a:xfrm>
            <a:off x="457200" y="5331960"/>
            <a:ext cx="529920" cy="43344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3" name="TextBox 121"/>
          <p:cNvSpPr/>
          <p:nvPr/>
        </p:nvSpPr>
        <p:spPr>
          <a:xfrm>
            <a:off x="457200" y="5331960"/>
            <a:ext cx="52992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44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4" name="Rectangle 122"/>
          <p:cNvSpPr/>
          <p:nvPr/>
        </p:nvSpPr>
        <p:spPr>
          <a:xfrm>
            <a:off x="987480" y="5331960"/>
            <a:ext cx="529920" cy="43344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5" name="TextBox 123"/>
          <p:cNvSpPr/>
          <p:nvPr/>
        </p:nvSpPr>
        <p:spPr>
          <a:xfrm>
            <a:off x="987480" y="5331960"/>
            <a:ext cx="52992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48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6" name="Rectangle 124"/>
          <p:cNvSpPr/>
          <p:nvPr/>
        </p:nvSpPr>
        <p:spPr>
          <a:xfrm>
            <a:off x="1517760" y="5331960"/>
            <a:ext cx="529920" cy="43344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7" name="TextBox 125"/>
          <p:cNvSpPr/>
          <p:nvPr/>
        </p:nvSpPr>
        <p:spPr>
          <a:xfrm>
            <a:off x="1517760" y="5331960"/>
            <a:ext cx="52992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52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8" name="Rectangle 126"/>
          <p:cNvSpPr/>
          <p:nvPr/>
        </p:nvSpPr>
        <p:spPr>
          <a:xfrm>
            <a:off x="2048400" y="5331960"/>
            <a:ext cx="529920" cy="43344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9" name="TextBox 127"/>
          <p:cNvSpPr/>
          <p:nvPr/>
        </p:nvSpPr>
        <p:spPr>
          <a:xfrm>
            <a:off x="2048400" y="5331960"/>
            <a:ext cx="52992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58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0" name="Rectangle 128"/>
          <p:cNvSpPr/>
          <p:nvPr/>
        </p:nvSpPr>
        <p:spPr>
          <a:xfrm>
            <a:off x="2578680" y="5331960"/>
            <a:ext cx="529920" cy="43344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1" name="TextBox 129"/>
          <p:cNvSpPr/>
          <p:nvPr/>
        </p:nvSpPr>
        <p:spPr>
          <a:xfrm>
            <a:off x="2578680" y="5331960"/>
            <a:ext cx="52992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60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2" name="Rectangle 130"/>
          <p:cNvSpPr/>
          <p:nvPr/>
        </p:nvSpPr>
        <p:spPr>
          <a:xfrm>
            <a:off x="3108960" y="5331960"/>
            <a:ext cx="529920" cy="43344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3" name="TextBox 131"/>
          <p:cNvSpPr/>
          <p:nvPr/>
        </p:nvSpPr>
        <p:spPr>
          <a:xfrm>
            <a:off x="3108960" y="5331960"/>
            <a:ext cx="52992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55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4" name="Rectangle 132"/>
          <p:cNvSpPr/>
          <p:nvPr/>
        </p:nvSpPr>
        <p:spPr>
          <a:xfrm>
            <a:off x="3639240" y="5331960"/>
            <a:ext cx="529920" cy="43344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5" name="TextBox 133"/>
          <p:cNvSpPr/>
          <p:nvPr/>
        </p:nvSpPr>
        <p:spPr>
          <a:xfrm>
            <a:off x="3639240" y="5331960"/>
            <a:ext cx="52992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50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6" name="Rectangle 134"/>
          <p:cNvSpPr/>
          <p:nvPr/>
        </p:nvSpPr>
        <p:spPr>
          <a:xfrm>
            <a:off x="4169520" y="5331960"/>
            <a:ext cx="529920" cy="43344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7" name="TextBox 135"/>
          <p:cNvSpPr/>
          <p:nvPr/>
        </p:nvSpPr>
        <p:spPr>
          <a:xfrm>
            <a:off x="4169520" y="5331960"/>
            <a:ext cx="52992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46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Box 136"/>
          <p:cNvSpPr/>
          <p:nvPr/>
        </p:nvSpPr>
        <p:spPr>
          <a:xfrm>
            <a:off x="457200" y="6024600"/>
            <a:ext cx="49374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200" b="0" i="1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Bright pixels = high value (near 255)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i="1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Dark pixels = low value (near 0)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9" name="Rectangle 137"/>
          <p:cNvSpPr/>
          <p:nvPr/>
        </p:nvSpPr>
        <p:spPr>
          <a:xfrm>
            <a:off x="5806440" y="1508760"/>
            <a:ext cx="2834280" cy="4374720"/>
          </a:xfrm>
          <a:prstGeom prst="rect">
            <a:avLst/>
          </a:prstGeom>
          <a:solidFill>
            <a:srgbClr val="0f1732"/>
          </a:solidFill>
          <a:ln w="19050">
            <a:solidFill>
              <a:srgbClr val="ffc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0" name="TextBox 138"/>
          <p:cNvSpPr/>
          <p:nvPr/>
        </p:nvSpPr>
        <p:spPr>
          <a:xfrm>
            <a:off x="5989320" y="1626840"/>
            <a:ext cx="246852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600" b="1" u="none" strike="noStrike">
                <a:solidFill>
                  <a:srgbClr val="ffcc00"/>
                </a:solidFill>
                <a:effectLst/>
                <a:uFillTx/>
                <a:latin typeface="Calibri"/>
              </a:rPr>
              <a:t>Colour Image</a:t>
            </a:r>
            <a:endParaRPr lang="en-IN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cc00"/>
                </a:solidFill>
                <a:effectLst/>
                <a:uFillTx/>
                <a:latin typeface="Calibri"/>
              </a:rPr>
              <a:t>(3 channels)</a:t>
            </a:r>
            <a:endParaRPr lang="en-IN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1" name="Rectangle 139"/>
          <p:cNvSpPr/>
          <p:nvPr/>
        </p:nvSpPr>
        <p:spPr>
          <a:xfrm>
            <a:off x="5989320" y="2257560"/>
            <a:ext cx="2468520" cy="1063800"/>
          </a:xfrm>
          <a:prstGeom prst="rect">
            <a:avLst/>
          </a:prstGeom>
          <a:solidFill>
            <a:srgbClr val="121e3a"/>
          </a:solidFill>
          <a:ln w="19050">
            <a:solidFill>
              <a:srgbClr val="ff454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2" name="TextBox 140"/>
          <p:cNvSpPr/>
          <p:nvPr/>
        </p:nvSpPr>
        <p:spPr>
          <a:xfrm>
            <a:off x="6126480" y="2297160"/>
            <a:ext cx="21942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4545"/>
                </a:solidFill>
                <a:effectLst/>
                <a:uFillTx/>
                <a:latin typeface="Calibri"/>
              </a:rPr>
              <a:t>R  Red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3" name="Rectangle 141"/>
          <p:cNvSpPr/>
          <p:nvPr/>
        </p:nvSpPr>
        <p:spPr>
          <a:xfrm>
            <a:off x="6126480" y="2588760"/>
            <a:ext cx="456840" cy="393840"/>
          </a:xfrm>
          <a:prstGeom prst="rect">
            <a:avLst/>
          </a:prstGeom>
          <a:solidFill>
            <a:srgbClr val="0f1732"/>
          </a:solidFill>
          <a:ln w="6350">
            <a:solidFill>
              <a:srgbClr val="ff454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4" name="TextBox 142"/>
          <p:cNvSpPr/>
          <p:nvPr/>
        </p:nvSpPr>
        <p:spPr>
          <a:xfrm>
            <a:off x="6126480" y="2588760"/>
            <a:ext cx="45684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ff4545"/>
                </a:solidFill>
                <a:effectLst/>
                <a:uFillTx/>
                <a:latin typeface="Calibri"/>
              </a:rPr>
              <a:t>255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5" name="Rectangle 143"/>
          <p:cNvSpPr/>
          <p:nvPr/>
        </p:nvSpPr>
        <p:spPr>
          <a:xfrm>
            <a:off x="6629400" y="2588760"/>
            <a:ext cx="456840" cy="393840"/>
          </a:xfrm>
          <a:prstGeom prst="rect">
            <a:avLst/>
          </a:prstGeom>
          <a:solidFill>
            <a:srgbClr val="0f1732"/>
          </a:solidFill>
          <a:ln w="6350">
            <a:solidFill>
              <a:srgbClr val="ff454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6" name="TextBox 144"/>
          <p:cNvSpPr/>
          <p:nvPr/>
        </p:nvSpPr>
        <p:spPr>
          <a:xfrm>
            <a:off x="6629400" y="2588760"/>
            <a:ext cx="45684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ff4545"/>
                </a:solidFill>
                <a:effectLst/>
                <a:uFillTx/>
                <a:latin typeface="Calibri"/>
              </a:rPr>
              <a:t>210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7" name="Rectangle 145"/>
          <p:cNvSpPr/>
          <p:nvPr/>
        </p:nvSpPr>
        <p:spPr>
          <a:xfrm>
            <a:off x="7132320" y="2588760"/>
            <a:ext cx="456840" cy="393840"/>
          </a:xfrm>
          <a:prstGeom prst="rect">
            <a:avLst/>
          </a:prstGeom>
          <a:solidFill>
            <a:srgbClr val="0f1732"/>
          </a:solidFill>
          <a:ln w="6350">
            <a:solidFill>
              <a:srgbClr val="ff454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8" name="TextBox 146"/>
          <p:cNvSpPr/>
          <p:nvPr/>
        </p:nvSpPr>
        <p:spPr>
          <a:xfrm>
            <a:off x="7132320" y="2588760"/>
            <a:ext cx="45684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ff4545"/>
                </a:solidFill>
                <a:effectLst/>
                <a:uFillTx/>
                <a:latin typeface="Calibri"/>
              </a:rPr>
              <a:t>180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9" name="Rectangle 147"/>
          <p:cNvSpPr/>
          <p:nvPr/>
        </p:nvSpPr>
        <p:spPr>
          <a:xfrm>
            <a:off x="7635240" y="2588760"/>
            <a:ext cx="456840" cy="393840"/>
          </a:xfrm>
          <a:prstGeom prst="rect">
            <a:avLst/>
          </a:prstGeom>
          <a:solidFill>
            <a:srgbClr val="0f1732"/>
          </a:solidFill>
          <a:ln w="6350">
            <a:solidFill>
              <a:srgbClr val="ff454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0" name="TextBox 148"/>
          <p:cNvSpPr/>
          <p:nvPr/>
        </p:nvSpPr>
        <p:spPr>
          <a:xfrm>
            <a:off x="7635240" y="2588760"/>
            <a:ext cx="45684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ff4545"/>
                </a:solidFill>
                <a:effectLst/>
                <a:uFillTx/>
                <a:latin typeface="Calibri"/>
              </a:rPr>
              <a:t>90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1" name="Rectangle 149"/>
          <p:cNvSpPr/>
          <p:nvPr/>
        </p:nvSpPr>
        <p:spPr>
          <a:xfrm>
            <a:off x="5989320" y="3519000"/>
            <a:ext cx="2468520" cy="1063800"/>
          </a:xfrm>
          <a:prstGeom prst="rect">
            <a:avLst/>
          </a:prstGeom>
          <a:solidFill>
            <a:srgbClr val="121e3a"/>
          </a:solidFill>
          <a:ln w="19050">
            <a:solidFill>
              <a:srgbClr val="00e57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2" name="TextBox 150"/>
          <p:cNvSpPr/>
          <p:nvPr/>
        </p:nvSpPr>
        <p:spPr>
          <a:xfrm>
            <a:off x="6126480" y="3558240"/>
            <a:ext cx="21942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00e576"/>
                </a:solidFill>
                <a:effectLst/>
                <a:uFillTx/>
                <a:latin typeface="Calibri"/>
              </a:rPr>
              <a:t>G  Green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3" name="Rectangle 151"/>
          <p:cNvSpPr/>
          <p:nvPr/>
        </p:nvSpPr>
        <p:spPr>
          <a:xfrm>
            <a:off x="6126480" y="3850200"/>
            <a:ext cx="456840" cy="393840"/>
          </a:xfrm>
          <a:prstGeom prst="rect">
            <a:avLst/>
          </a:prstGeom>
          <a:solidFill>
            <a:srgbClr val="0f1732"/>
          </a:solidFill>
          <a:ln w="6350">
            <a:solidFill>
              <a:srgbClr val="00e57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4" name="TextBox 152"/>
          <p:cNvSpPr/>
          <p:nvPr/>
        </p:nvSpPr>
        <p:spPr>
          <a:xfrm>
            <a:off x="6126480" y="3850200"/>
            <a:ext cx="45684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e576"/>
                </a:solidFill>
                <a:effectLst/>
                <a:uFillTx/>
                <a:latin typeface="Calibri"/>
              </a:rPr>
              <a:t>80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5" name="Rectangle 153"/>
          <p:cNvSpPr/>
          <p:nvPr/>
        </p:nvSpPr>
        <p:spPr>
          <a:xfrm>
            <a:off x="6629400" y="3850200"/>
            <a:ext cx="456840" cy="393840"/>
          </a:xfrm>
          <a:prstGeom prst="rect">
            <a:avLst/>
          </a:prstGeom>
          <a:solidFill>
            <a:srgbClr val="0f1732"/>
          </a:solidFill>
          <a:ln w="6350">
            <a:solidFill>
              <a:srgbClr val="00e57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6" name="TextBox 154"/>
          <p:cNvSpPr/>
          <p:nvPr/>
        </p:nvSpPr>
        <p:spPr>
          <a:xfrm>
            <a:off x="6629400" y="3850200"/>
            <a:ext cx="45684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e576"/>
                </a:solidFill>
                <a:effectLst/>
                <a:uFillTx/>
                <a:latin typeface="Calibri"/>
              </a:rPr>
              <a:t>200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7" name="Rectangle 155"/>
          <p:cNvSpPr/>
          <p:nvPr/>
        </p:nvSpPr>
        <p:spPr>
          <a:xfrm>
            <a:off x="7132320" y="3850200"/>
            <a:ext cx="456840" cy="393840"/>
          </a:xfrm>
          <a:prstGeom prst="rect">
            <a:avLst/>
          </a:prstGeom>
          <a:solidFill>
            <a:srgbClr val="0f1732"/>
          </a:solidFill>
          <a:ln w="6350">
            <a:solidFill>
              <a:srgbClr val="00e57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8" name="TextBox 156"/>
          <p:cNvSpPr/>
          <p:nvPr/>
        </p:nvSpPr>
        <p:spPr>
          <a:xfrm>
            <a:off x="7132320" y="3850200"/>
            <a:ext cx="45684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e576"/>
                </a:solidFill>
                <a:effectLst/>
                <a:uFillTx/>
                <a:latin typeface="Calibri"/>
              </a:rPr>
              <a:t>170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9" name="Rectangle 157"/>
          <p:cNvSpPr/>
          <p:nvPr/>
        </p:nvSpPr>
        <p:spPr>
          <a:xfrm>
            <a:off x="7635240" y="3850200"/>
            <a:ext cx="456840" cy="393840"/>
          </a:xfrm>
          <a:prstGeom prst="rect">
            <a:avLst/>
          </a:prstGeom>
          <a:solidFill>
            <a:srgbClr val="0f1732"/>
          </a:solidFill>
          <a:ln w="6350">
            <a:solidFill>
              <a:srgbClr val="00e57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0" name="TextBox 158"/>
          <p:cNvSpPr/>
          <p:nvPr/>
        </p:nvSpPr>
        <p:spPr>
          <a:xfrm>
            <a:off x="7635240" y="3850200"/>
            <a:ext cx="45684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e576"/>
                </a:solidFill>
                <a:effectLst/>
                <a:uFillTx/>
                <a:latin typeface="Calibri"/>
              </a:rPr>
              <a:t>60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1" name="Rectangle 159"/>
          <p:cNvSpPr/>
          <p:nvPr/>
        </p:nvSpPr>
        <p:spPr>
          <a:xfrm>
            <a:off x="5989320" y="4780080"/>
            <a:ext cx="2468520" cy="1064160"/>
          </a:xfrm>
          <a:prstGeom prst="rect">
            <a:avLst/>
          </a:prstGeom>
          <a:solidFill>
            <a:srgbClr val="121e3a"/>
          </a:solidFill>
          <a:ln w="19050">
            <a:solidFill>
              <a:srgbClr val="4080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2" name="TextBox 160"/>
          <p:cNvSpPr/>
          <p:nvPr/>
        </p:nvSpPr>
        <p:spPr>
          <a:xfrm>
            <a:off x="6126480" y="4819680"/>
            <a:ext cx="21942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4080ff"/>
                </a:solidFill>
                <a:effectLst/>
                <a:uFillTx/>
                <a:latin typeface="Calibri"/>
              </a:rPr>
              <a:t>B  Blue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3" name="Rectangle 161"/>
          <p:cNvSpPr/>
          <p:nvPr/>
        </p:nvSpPr>
        <p:spPr>
          <a:xfrm>
            <a:off x="6126480" y="5111280"/>
            <a:ext cx="456840" cy="393840"/>
          </a:xfrm>
          <a:prstGeom prst="rect">
            <a:avLst/>
          </a:prstGeom>
          <a:solidFill>
            <a:srgbClr val="0f1732"/>
          </a:solidFill>
          <a:ln w="6350">
            <a:solidFill>
              <a:srgbClr val="4080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4" name="TextBox 162"/>
          <p:cNvSpPr/>
          <p:nvPr/>
        </p:nvSpPr>
        <p:spPr>
          <a:xfrm>
            <a:off x="6126480" y="5111280"/>
            <a:ext cx="45684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4080ff"/>
                </a:solidFill>
                <a:effectLst/>
                <a:uFillTx/>
                <a:latin typeface="Calibri"/>
              </a:rPr>
              <a:t>30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5" name="Rectangle 163"/>
          <p:cNvSpPr/>
          <p:nvPr/>
        </p:nvSpPr>
        <p:spPr>
          <a:xfrm>
            <a:off x="6629400" y="5111280"/>
            <a:ext cx="456840" cy="393840"/>
          </a:xfrm>
          <a:prstGeom prst="rect">
            <a:avLst/>
          </a:prstGeom>
          <a:solidFill>
            <a:srgbClr val="0f1732"/>
          </a:solidFill>
          <a:ln w="6350">
            <a:solidFill>
              <a:srgbClr val="4080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6" name="TextBox 164"/>
          <p:cNvSpPr/>
          <p:nvPr/>
        </p:nvSpPr>
        <p:spPr>
          <a:xfrm>
            <a:off x="6629400" y="5111280"/>
            <a:ext cx="45684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4080ff"/>
                </a:solidFill>
                <a:effectLst/>
                <a:uFillTx/>
                <a:latin typeface="Calibri"/>
              </a:rPr>
              <a:t>60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7" name="Rectangle 165"/>
          <p:cNvSpPr/>
          <p:nvPr/>
        </p:nvSpPr>
        <p:spPr>
          <a:xfrm>
            <a:off x="7132320" y="5111280"/>
            <a:ext cx="456840" cy="393840"/>
          </a:xfrm>
          <a:prstGeom prst="rect">
            <a:avLst/>
          </a:prstGeom>
          <a:solidFill>
            <a:srgbClr val="0f1732"/>
          </a:solidFill>
          <a:ln w="6350">
            <a:solidFill>
              <a:srgbClr val="4080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8" name="TextBox 166"/>
          <p:cNvSpPr/>
          <p:nvPr/>
        </p:nvSpPr>
        <p:spPr>
          <a:xfrm>
            <a:off x="7132320" y="5111280"/>
            <a:ext cx="45684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4080ff"/>
                </a:solidFill>
                <a:effectLst/>
                <a:uFillTx/>
                <a:latin typeface="Calibri"/>
              </a:rPr>
              <a:t>80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9" name="Rectangle 167"/>
          <p:cNvSpPr/>
          <p:nvPr/>
        </p:nvSpPr>
        <p:spPr>
          <a:xfrm>
            <a:off x="7635240" y="5111280"/>
            <a:ext cx="456840" cy="393840"/>
          </a:xfrm>
          <a:prstGeom prst="rect">
            <a:avLst/>
          </a:prstGeom>
          <a:solidFill>
            <a:srgbClr val="0f1732"/>
          </a:solidFill>
          <a:ln w="6350">
            <a:solidFill>
              <a:srgbClr val="4080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0" name="TextBox 168"/>
          <p:cNvSpPr/>
          <p:nvPr/>
        </p:nvSpPr>
        <p:spPr>
          <a:xfrm>
            <a:off x="7635240" y="5111280"/>
            <a:ext cx="45684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4080ff"/>
                </a:solidFill>
                <a:effectLst/>
                <a:uFillTx/>
                <a:latin typeface="Calibri"/>
              </a:rPr>
              <a:t>200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Box 169"/>
          <p:cNvSpPr/>
          <p:nvPr/>
        </p:nvSpPr>
        <p:spPr>
          <a:xfrm>
            <a:off x="5991480" y="6024600"/>
            <a:ext cx="24685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200" b="0" i="1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3 grids stacked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200" b="0" i="1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= one colour pixel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2" name="Rectangle 170"/>
          <p:cNvSpPr/>
          <p:nvPr/>
        </p:nvSpPr>
        <p:spPr>
          <a:xfrm>
            <a:off x="8823960" y="1508760"/>
            <a:ext cx="3062880" cy="4374720"/>
          </a:xfrm>
          <a:prstGeom prst="rect">
            <a:avLst/>
          </a:prstGeom>
          <a:solidFill>
            <a:srgbClr val="0f1732"/>
          </a:solidFill>
          <a:ln w="19050">
            <a:solidFill>
              <a:srgbClr val="00e57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3" name="TextBox 171"/>
          <p:cNvSpPr/>
          <p:nvPr/>
        </p:nvSpPr>
        <p:spPr>
          <a:xfrm>
            <a:off x="9006840" y="1626840"/>
            <a:ext cx="269712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600" b="1" u="none" strike="noStrike">
                <a:solidFill>
                  <a:srgbClr val="00e576"/>
                </a:solidFill>
                <a:effectLst/>
                <a:uFillTx/>
                <a:latin typeface="Calibri"/>
              </a:rPr>
              <a:t>Our Apple/Pineapple</a:t>
            </a:r>
            <a:endParaRPr lang="en-IN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00e576"/>
                </a:solidFill>
                <a:effectLst/>
                <a:uFillTx/>
                <a:latin typeface="Calibri"/>
              </a:rPr>
              <a:t>Image</a:t>
            </a:r>
            <a:endParaRPr lang="en-IN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4" name="Rectangle 172"/>
          <p:cNvSpPr/>
          <p:nvPr/>
        </p:nvSpPr>
        <p:spPr>
          <a:xfrm>
            <a:off x="8915400" y="2218320"/>
            <a:ext cx="2834280" cy="560160"/>
          </a:xfrm>
          <a:prstGeom prst="rect">
            <a:avLst/>
          </a:prstGeom>
          <a:solidFill>
            <a:srgbClr val="121e3a"/>
          </a:solidFill>
          <a:ln w="10160">
            <a:solidFill>
              <a:srgbClr val="00e57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5" name="TextBox 173"/>
          <p:cNvSpPr/>
          <p:nvPr/>
        </p:nvSpPr>
        <p:spPr>
          <a:xfrm>
            <a:off x="9006840" y="2358000"/>
            <a:ext cx="10969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00e576"/>
                </a:solidFill>
                <a:effectLst/>
                <a:uFillTx/>
                <a:latin typeface="Calibri"/>
              </a:rPr>
              <a:t>Width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Box 174"/>
          <p:cNvSpPr/>
          <p:nvPr/>
        </p:nvSpPr>
        <p:spPr>
          <a:xfrm>
            <a:off x="10149840" y="2269800"/>
            <a:ext cx="15541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128 pixels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7" name="Rectangle 175"/>
          <p:cNvSpPr/>
          <p:nvPr/>
        </p:nvSpPr>
        <p:spPr>
          <a:xfrm>
            <a:off x="8915400" y="2814480"/>
            <a:ext cx="2834280" cy="560160"/>
          </a:xfrm>
          <a:prstGeom prst="rect">
            <a:avLst/>
          </a:prstGeom>
          <a:solidFill>
            <a:srgbClr val="121e3a"/>
          </a:solidFill>
          <a:ln w="10160">
            <a:solidFill>
              <a:srgbClr val="00e57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8" name="TextBox 176"/>
          <p:cNvSpPr/>
          <p:nvPr/>
        </p:nvSpPr>
        <p:spPr>
          <a:xfrm>
            <a:off x="9006840" y="2940120"/>
            <a:ext cx="10969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00e576"/>
                </a:solidFill>
                <a:effectLst/>
                <a:uFillTx/>
                <a:latin typeface="Calibri"/>
              </a:rPr>
              <a:t>Height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9" name="TextBox 177"/>
          <p:cNvSpPr/>
          <p:nvPr/>
        </p:nvSpPr>
        <p:spPr>
          <a:xfrm>
            <a:off x="10149840" y="2952000"/>
            <a:ext cx="15541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128 pixels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0" name="Rectangle 178"/>
          <p:cNvSpPr/>
          <p:nvPr/>
        </p:nvSpPr>
        <p:spPr>
          <a:xfrm>
            <a:off x="8915400" y="3410640"/>
            <a:ext cx="2834280" cy="560160"/>
          </a:xfrm>
          <a:prstGeom prst="rect">
            <a:avLst/>
          </a:prstGeom>
          <a:solidFill>
            <a:srgbClr val="121e3a"/>
          </a:solidFill>
          <a:ln w="10160">
            <a:solidFill>
              <a:srgbClr val="00e57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1" name="TextBox 179"/>
          <p:cNvSpPr/>
          <p:nvPr/>
        </p:nvSpPr>
        <p:spPr>
          <a:xfrm>
            <a:off x="9006840" y="3558240"/>
            <a:ext cx="10969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00e576"/>
                </a:solidFill>
                <a:effectLst/>
                <a:uFillTx/>
                <a:latin typeface="Calibri"/>
              </a:rPr>
              <a:t>Channels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2" name="TextBox 180"/>
          <p:cNvSpPr/>
          <p:nvPr/>
        </p:nvSpPr>
        <p:spPr>
          <a:xfrm>
            <a:off x="10149840" y="3556800"/>
            <a:ext cx="15541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3  (RGB)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3" name="Rectangle 181"/>
          <p:cNvSpPr/>
          <p:nvPr/>
        </p:nvSpPr>
        <p:spPr>
          <a:xfrm>
            <a:off x="8915400" y="4007160"/>
            <a:ext cx="2834280" cy="560160"/>
          </a:xfrm>
          <a:prstGeom prst="rect">
            <a:avLst/>
          </a:prstGeom>
          <a:solidFill>
            <a:srgbClr val="121e3a"/>
          </a:solidFill>
          <a:ln w="10160">
            <a:solidFill>
              <a:srgbClr val="00e57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4" name="TextBox 182"/>
          <p:cNvSpPr/>
          <p:nvPr/>
        </p:nvSpPr>
        <p:spPr>
          <a:xfrm>
            <a:off x="9006840" y="4068720"/>
            <a:ext cx="10969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200" b="1" u="none" strike="noStrike">
                <a:solidFill>
                  <a:srgbClr val="00e576"/>
                </a:solidFill>
                <a:effectLst/>
                <a:uFillTx/>
                <a:latin typeface="Calibri"/>
              </a:rPr>
              <a:t>Total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00e576"/>
                </a:solidFill>
                <a:effectLst/>
                <a:uFillTx/>
                <a:latin typeface="Calibri"/>
              </a:rPr>
              <a:t>values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5" name="TextBox 183"/>
          <p:cNvSpPr/>
          <p:nvPr/>
        </p:nvSpPr>
        <p:spPr>
          <a:xfrm>
            <a:off x="10149840" y="4103280"/>
            <a:ext cx="15541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128×128×3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= 49,152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6" name="Rectangle 184"/>
          <p:cNvSpPr/>
          <p:nvPr/>
        </p:nvSpPr>
        <p:spPr>
          <a:xfrm>
            <a:off x="8915400" y="4603680"/>
            <a:ext cx="2834280" cy="560160"/>
          </a:xfrm>
          <a:prstGeom prst="rect">
            <a:avLst/>
          </a:prstGeom>
          <a:solidFill>
            <a:srgbClr val="121e3a"/>
          </a:solidFill>
          <a:ln w="10160">
            <a:solidFill>
              <a:srgbClr val="00e57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7" name="TextBox 185"/>
          <p:cNvSpPr/>
          <p:nvPr/>
        </p:nvSpPr>
        <p:spPr>
          <a:xfrm>
            <a:off x="9006840" y="4722840"/>
            <a:ext cx="10969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00e576"/>
                </a:solidFill>
                <a:effectLst/>
                <a:uFillTx/>
                <a:latin typeface="Calibri"/>
              </a:rPr>
              <a:t>Each value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8" name="TextBox 186"/>
          <p:cNvSpPr/>
          <p:nvPr/>
        </p:nvSpPr>
        <p:spPr>
          <a:xfrm>
            <a:off x="10149840" y="4649400"/>
            <a:ext cx="15541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 to 255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(integer)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9" name="Rectangle 187"/>
          <p:cNvSpPr/>
          <p:nvPr/>
        </p:nvSpPr>
        <p:spPr>
          <a:xfrm>
            <a:off x="8915400" y="5199840"/>
            <a:ext cx="2834280" cy="560160"/>
          </a:xfrm>
          <a:prstGeom prst="rect">
            <a:avLst/>
          </a:prstGeom>
          <a:solidFill>
            <a:srgbClr val="121e3a"/>
          </a:solidFill>
          <a:ln w="10160">
            <a:solidFill>
              <a:srgbClr val="00e57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0" name="TextBox 188"/>
          <p:cNvSpPr/>
          <p:nvPr/>
        </p:nvSpPr>
        <p:spPr>
          <a:xfrm>
            <a:off x="9006840" y="5341320"/>
            <a:ext cx="10969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00e576"/>
                </a:solidFill>
                <a:effectLst/>
                <a:uFillTx/>
                <a:latin typeface="Calibri"/>
              </a:rPr>
              <a:t>As tensor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1" name="TextBox 189"/>
          <p:cNvSpPr/>
          <p:nvPr/>
        </p:nvSpPr>
        <p:spPr>
          <a:xfrm>
            <a:off x="10149840" y="5231880"/>
            <a:ext cx="15541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Shape: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[3, 128, 128]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80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Rectangle 1"/>
          <p:cNvSpPr/>
          <p:nvPr/>
        </p:nvSpPr>
        <p:spPr>
          <a:xfrm>
            <a:off x="0" y="0"/>
            <a:ext cx="72720" cy="6857640"/>
          </a:xfrm>
          <a:prstGeom prst="rect">
            <a:avLst/>
          </a:prstGeom>
          <a:solidFill>
            <a:srgbClr val="ff6b3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3" name="TextBox 2"/>
          <p:cNvSpPr/>
          <p:nvPr/>
        </p:nvSpPr>
        <p:spPr>
          <a:xfrm>
            <a:off x="320040" y="182880"/>
            <a:ext cx="114296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400" b="1" u="none" strike="noStrike">
                <a:solidFill>
                  <a:srgbClr val="ff6b35"/>
                </a:solidFill>
                <a:effectLst/>
                <a:uFillTx/>
                <a:latin typeface="Calibri"/>
              </a:rPr>
              <a:t>What is a Filter / Kernel?</a:t>
            </a:r>
            <a:endParaRPr lang="en-IN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4" name="TextBox 3"/>
          <p:cNvSpPr/>
          <p:nvPr/>
        </p:nvSpPr>
        <p:spPr>
          <a:xfrm>
            <a:off x="320040" y="868680"/>
            <a:ext cx="11429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A small grid of learnable weights — the CNN's 'magnifying glass'</a:t>
            </a:r>
            <a:endParaRPr lang="en-IN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5" name="Rectangle 4"/>
          <p:cNvSpPr/>
          <p:nvPr/>
        </p:nvSpPr>
        <p:spPr>
          <a:xfrm>
            <a:off x="320040" y="1325880"/>
            <a:ext cx="11521080" cy="27000"/>
          </a:xfrm>
          <a:prstGeom prst="rect">
            <a:avLst/>
          </a:prstGeom>
          <a:solidFill>
            <a:srgbClr val="3a4a6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7640" bIns="-1764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6" name="Rectangle 5"/>
          <p:cNvSpPr/>
          <p:nvPr/>
        </p:nvSpPr>
        <p:spPr>
          <a:xfrm>
            <a:off x="274320" y="1508760"/>
            <a:ext cx="4388760" cy="5074560"/>
          </a:xfrm>
          <a:prstGeom prst="rect">
            <a:avLst/>
          </a:prstGeom>
          <a:solidFill>
            <a:srgbClr val="0f1732"/>
          </a:solidFill>
          <a:ln w="19050">
            <a:solidFill>
              <a:srgbClr val="ff6b3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7" name="TextBox 6"/>
          <p:cNvSpPr/>
          <p:nvPr/>
        </p:nvSpPr>
        <p:spPr>
          <a:xfrm>
            <a:off x="457200" y="1645920"/>
            <a:ext cx="40230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ff6b35"/>
                </a:solidFill>
                <a:effectLst/>
                <a:uFillTx/>
                <a:latin typeface="Calibri"/>
              </a:rPr>
              <a:t>The Filter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8" name="TextBox 7"/>
          <p:cNvSpPr/>
          <p:nvPr/>
        </p:nvSpPr>
        <p:spPr>
          <a:xfrm>
            <a:off x="457200" y="2148840"/>
            <a:ext cx="402300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▶  A 3×3 grid of 9 numbers called 'weights'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9" name="TextBox 8"/>
          <p:cNvSpPr/>
          <p:nvPr/>
        </p:nvSpPr>
        <p:spPr>
          <a:xfrm>
            <a:off x="457200" y="2816280"/>
            <a:ext cx="402300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▶  Weights start random, then LEARNED during training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0" name="TextBox 9"/>
          <p:cNvSpPr/>
          <p:nvPr/>
        </p:nvSpPr>
        <p:spPr>
          <a:xfrm>
            <a:off x="457200" y="3483720"/>
            <a:ext cx="402300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▶  Each filter specialises in detecting ONE pattern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1" name="TextBox 10"/>
          <p:cNvSpPr/>
          <p:nvPr/>
        </p:nvSpPr>
        <p:spPr>
          <a:xfrm>
            <a:off x="457200" y="4151520"/>
            <a:ext cx="402300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▶  Small, but applied across the entire 128×128 image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2" name="TextBox 11"/>
          <p:cNvSpPr/>
          <p:nvPr/>
        </p:nvSpPr>
        <p:spPr>
          <a:xfrm>
            <a:off x="457200" y="4818960"/>
            <a:ext cx="402300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▶  Our CNN has 32 filters in Block 1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3" name="TextBox 12"/>
          <p:cNvSpPr/>
          <p:nvPr/>
        </p:nvSpPr>
        <p:spPr>
          <a:xfrm>
            <a:off x="457200" y="5486400"/>
            <a:ext cx="402300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▶  32 different patterns detected simultaneously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4" name="TextBox 13"/>
          <p:cNvSpPr/>
          <p:nvPr/>
        </p:nvSpPr>
        <p:spPr>
          <a:xfrm>
            <a:off x="457200" y="6172200"/>
            <a:ext cx="40230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200" b="0" i="1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The 9 weights are the only things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i="1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that change during training for this filter.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5" name="TextBox 14"/>
          <p:cNvSpPr/>
          <p:nvPr/>
        </p:nvSpPr>
        <p:spPr>
          <a:xfrm>
            <a:off x="4892040" y="1600200"/>
            <a:ext cx="694908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Three example filters and what they detect: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6" name="Rounded Rectangle 15"/>
          <p:cNvSpPr/>
          <p:nvPr/>
        </p:nvSpPr>
        <p:spPr>
          <a:xfrm>
            <a:off x="4892040" y="2021040"/>
            <a:ext cx="2194200" cy="354600"/>
          </a:xfrm>
          <a:prstGeom prst="roundRect">
            <a:avLst>
              <a:gd name="adj" fmla="val 16667"/>
            </a:avLst>
          </a:prstGeom>
          <a:solidFill>
            <a:srgbClr val="ffcc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7" name="TextBox 16"/>
          <p:cNvSpPr/>
          <p:nvPr/>
        </p:nvSpPr>
        <p:spPr>
          <a:xfrm>
            <a:off x="4892040" y="2021040"/>
            <a:ext cx="219420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Edge Detector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8" name="Rectangle 17"/>
          <p:cNvSpPr/>
          <p:nvPr/>
        </p:nvSpPr>
        <p:spPr>
          <a:xfrm>
            <a:off x="5093280" y="2488320"/>
            <a:ext cx="475200" cy="486000"/>
          </a:xfrm>
          <a:prstGeom prst="rect">
            <a:avLst/>
          </a:prstGeom>
          <a:solidFill>
            <a:srgbClr val="121e3a"/>
          </a:solidFill>
          <a:ln w="10160">
            <a:solidFill>
              <a:srgbClr val="ffc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9" name="TextBox 18"/>
          <p:cNvSpPr/>
          <p:nvPr/>
        </p:nvSpPr>
        <p:spPr>
          <a:xfrm>
            <a:off x="5093280" y="2488320"/>
            <a:ext cx="47520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-1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0" name="Rectangle 19"/>
          <p:cNvSpPr/>
          <p:nvPr/>
        </p:nvSpPr>
        <p:spPr>
          <a:xfrm>
            <a:off x="5568840" y="2488320"/>
            <a:ext cx="475200" cy="486000"/>
          </a:xfrm>
          <a:prstGeom prst="rect">
            <a:avLst/>
          </a:prstGeom>
          <a:solidFill>
            <a:srgbClr val="121e3a"/>
          </a:solidFill>
          <a:ln w="10160">
            <a:solidFill>
              <a:srgbClr val="ffc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1" name="TextBox 20"/>
          <p:cNvSpPr/>
          <p:nvPr/>
        </p:nvSpPr>
        <p:spPr>
          <a:xfrm>
            <a:off x="5568840" y="2488320"/>
            <a:ext cx="47520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-1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2" name="Rectangle 21"/>
          <p:cNvSpPr/>
          <p:nvPr/>
        </p:nvSpPr>
        <p:spPr>
          <a:xfrm>
            <a:off x="6044040" y="2488320"/>
            <a:ext cx="475200" cy="486000"/>
          </a:xfrm>
          <a:prstGeom prst="rect">
            <a:avLst/>
          </a:prstGeom>
          <a:solidFill>
            <a:srgbClr val="121e3a"/>
          </a:solidFill>
          <a:ln w="10160">
            <a:solidFill>
              <a:srgbClr val="ffc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3" name="TextBox 22"/>
          <p:cNvSpPr/>
          <p:nvPr/>
        </p:nvSpPr>
        <p:spPr>
          <a:xfrm>
            <a:off x="6044040" y="2488320"/>
            <a:ext cx="47520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-1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4" name="Rectangle 23"/>
          <p:cNvSpPr/>
          <p:nvPr/>
        </p:nvSpPr>
        <p:spPr>
          <a:xfrm>
            <a:off x="5093280" y="2974680"/>
            <a:ext cx="475200" cy="485640"/>
          </a:xfrm>
          <a:prstGeom prst="rect">
            <a:avLst/>
          </a:prstGeom>
          <a:solidFill>
            <a:srgbClr val="121e3a"/>
          </a:solidFill>
          <a:ln w="10160">
            <a:solidFill>
              <a:srgbClr val="ffc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5" name="TextBox 24"/>
          <p:cNvSpPr/>
          <p:nvPr/>
        </p:nvSpPr>
        <p:spPr>
          <a:xfrm>
            <a:off x="5093280" y="2974680"/>
            <a:ext cx="47520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-1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6" name="Rectangle 25"/>
          <p:cNvSpPr/>
          <p:nvPr/>
        </p:nvSpPr>
        <p:spPr>
          <a:xfrm>
            <a:off x="5568840" y="2974680"/>
            <a:ext cx="475200" cy="485640"/>
          </a:xfrm>
          <a:prstGeom prst="rect">
            <a:avLst/>
          </a:prstGeom>
          <a:solidFill>
            <a:srgbClr val="1a2a50"/>
          </a:solidFill>
          <a:ln w="10160">
            <a:solidFill>
              <a:srgbClr val="ffc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7" name="TextBox 26"/>
          <p:cNvSpPr/>
          <p:nvPr/>
        </p:nvSpPr>
        <p:spPr>
          <a:xfrm>
            <a:off x="5568840" y="2974680"/>
            <a:ext cx="47520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8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8" name="Rectangle 27"/>
          <p:cNvSpPr/>
          <p:nvPr/>
        </p:nvSpPr>
        <p:spPr>
          <a:xfrm>
            <a:off x="6044040" y="2974680"/>
            <a:ext cx="475200" cy="485640"/>
          </a:xfrm>
          <a:prstGeom prst="rect">
            <a:avLst/>
          </a:prstGeom>
          <a:solidFill>
            <a:srgbClr val="121e3a"/>
          </a:solidFill>
          <a:ln w="10160">
            <a:solidFill>
              <a:srgbClr val="ffc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9" name="TextBox 28"/>
          <p:cNvSpPr/>
          <p:nvPr/>
        </p:nvSpPr>
        <p:spPr>
          <a:xfrm>
            <a:off x="6044040" y="2974680"/>
            <a:ext cx="47520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-1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0" name="Rectangle 29"/>
          <p:cNvSpPr/>
          <p:nvPr/>
        </p:nvSpPr>
        <p:spPr>
          <a:xfrm>
            <a:off x="5093280" y="3460680"/>
            <a:ext cx="475200" cy="486000"/>
          </a:xfrm>
          <a:prstGeom prst="rect">
            <a:avLst/>
          </a:prstGeom>
          <a:solidFill>
            <a:srgbClr val="121e3a"/>
          </a:solidFill>
          <a:ln w="10160">
            <a:solidFill>
              <a:srgbClr val="ffc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1" name="TextBox 30"/>
          <p:cNvSpPr/>
          <p:nvPr/>
        </p:nvSpPr>
        <p:spPr>
          <a:xfrm>
            <a:off x="5093280" y="3460680"/>
            <a:ext cx="47520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-1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2" name="Rectangle 31"/>
          <p:cNvSpPr/>
          <p:nvPr/>
        </p:nvSpPr>
        <p:spPr>
          <a:xfrm>
            <a:off x="5568840" y="3460680"/>
            <a:ext cx="475200" cy="486000"/>
          </a:xfrm>
          <a:prstGeom prst="rect">
            <a:avLst/>
          </a:prstGeom>
          <a:solidFill>
            <a:srgbClr val="121e3a"/>
          </a:solidFill>
          <a:ln w="10160">
            <a:solidFill>
              <a:srgbClr val="ffc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3" name="TextBox 32"/>
          <p:cNvSpPr/>
          <p:nvPr/>
        </p:nvSpPr>
        <p:spPr>
          <a:xfrm>
            <a:off x="5568840" y="3460680"/>
            <a:ext cx="47520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-1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4" name="Rectangle 33"/>
          <p:cNvSpPr/>
          <p:nvPr/>
        </p:nvSpPr>
        <p:spPr>
          <a:xfrm>
            <a:off x="6044040" y="3460680"/>
            <a:ext cx="475200" cy="486000"/>
          </a:xfrm>
          <a:prstGeom prst="rect">
            <a:avLst/>
          </a:prstGeom>
          <a:solidFill>
            <a:srgbClr val="121e3a"/>
          </a:solidFill>
          <a:ln w="10160">
            <a:solidFill>
              <a:srgbClr val="ffc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5" name="TextBox 34"/>
          <p:cNvSpPr/>
          <p:nvPr/>
        </p:nvSpPr>
        <p:spPr>
          <a:xfrm>
            <a:off x="6044040" y="3460680"/>
            <a:ext cx="47520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-1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6" name="TextBox 35"/>
          <p:cNvSpPr/>
          <p:nvPr/>
        </p:nvSpPr>
        <p:spPr>
          <a:xfrm>
            <a:off x="6565320" y="2974680"/>
            <a:ext cx="1005480" cy="3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00" b="0" i="1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← center weight (most influence)</a:t>
            </a:r>
            <a:endParaRPr lang="en-IN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7" name="TextBox 36"/>
          <p:cNvSpPr/>
          <p:nvPr/>
        </p:nvSpPr>
        <p:spPr>
          <a:xfrm>
            <a:off x="4892040" y="4077720"/>
            <a:ext cx="2194200" cy="82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2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Finds spots where brightness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2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changes sharply (edges).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2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Used in Block 1 for finding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object boundaries.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8" name="Rounded Rectangle 37"/>
          <p:cNvSpPr/>
          <p:nvPr/>
        </p:nvSpPr>
        <p:spPr>
          <a:xfrm>
            <a:off x="7315200" y="2021040"/>
            <a:ext cx="2194200" cy="354600"/>
          </a:xfrm>
          <a:prstGeom prst="roundRect">
            <a:avLst>
              <a:gd name="adj" fmla="val 16667"/>
            </a:avLst>
          </a:prstGeom>
          <a:solidFill>
            <a:srgbClr val="00d4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9" name="TextBox 38"/>
          <p:cNvSpPr/>
          <p:nvPr/>
        </p:nvSpPr>
        <p:spPr>
          <a:xfrm>
            <a:off x="7315200" y="2021040"/>
            <a:ext cx="219420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Vertical Edge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0" name="Rectangle 39"/>
          <p:cNvSpPr/>
          <p:nvPr/>
        </p:nvSpPr>
        <p:spPr>
          <a:xfrm>
            <a:off x="7516440" y="2488320"/>
            <a:ext cx="475200" cy="486000"/>
          </a:xfrm>
          <a:prstGeom prst="rect">
            <a:avLst/>
          </a:prstGeom>
          <a:solidFill>
            <a:srgbClr val="121e3a"/>
          </a:solidFill>
          <a:ln w="10160">
            <a:solidFill>
              <a:srgbClr val="00d4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1" name="TextBox 40"/>
          <p:cNvSpPr/>
          <p:nvPr/>
        </p:nvSpPr>
        <p:spPr>
          <a:xfrm>
            <a:off x="7516440" y="2488320"/>
            <a:ext cx="47520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-1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2" name="Rectangle 41"/>
          <p:cNvSpPr/>
          <p:nvPr/>
        </p:nvSpPr>
        <p:spPr>
          <a:xfrm>
            <a:off x="7992000" y="2488320"/>
            <a:ext cx="475200" cy="486000"/>
          </a:xfrm>
          <a:prstGeom prst="rect">
            <a:avLst/>
          </a:prstGeom>
          <a:solidFill>
            <a:srgbClr val="121e3a"/>
          </a:solidFill>
          <a:ln w="10160">
            <a:solidFill>
              <a:srgbClr val="00d4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3" name="TextBox 42"/>
          <p:cNvSpPr/>
          <p:nvPr/>
        </p:nvSpPr>
        <p:spPr>
          <a:xfrm>
            <a:off x="7992000" y="2488320"/>
            <a:ext cx="47520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4" name="Rectangle 43"/>
          <p:cNvSpPr/>
          <p:nvPr/>
        </p:nvSpPr>
        <p:spPr>
          <a:xfrm>
            <a:off x="8467200" y="2488320"/>
            <a:ext cx="475200" cy="486000"/>
          </a:xfrm>
          <a:prstGeom prst="rect">
            <a:avLst/>
          </a:prstGeom>
          <a:solidFill>
            <a:srgbClr val="121e3a"/>
          </a:solidFill>
          <a:ln w="10160">
            <a:solidFill>
              <a:srgbClr val="00d4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5" name="TextBox 44"/>
          <p:cNvSpPr/>
          <p:nvPr/>
        </p:nvSpPr>
        <p:spPr>
          <a:xfrm>
            <a:off x="8467200" y="2488320"/>
            <a:ext cx="47520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6" name="Rectangle 45"/>
          <p:cNvSpPr/>
          <p:nvPr/>
        </p:nvSpPr>
        <p:spPr>
          <a:xfrm>
            <a:off x="7516440" y="2974680"/>
            <a:ext cx="475200" cy="485640"/>
          </a:xfrm>
          <a:prstGeom prst="rect">
            <a:avLst/>
          </a:prstGeom>
          <a:solidFill>
            <a:srgbClr val="121e3a"/>
          </a:solidFill>
          <a:ln w="10160">
            <a:solidFill>
              <a:srgbClr val="00d4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7" name="TextBox 46"/>
          <p:cNvSpPr/>
          <p:nvPr/>
        </p:nvSpPr>
        <p:spPr>
          <a:xfrm>
            <a:off x="7516440" y="2974680"/>
            <a:ext cx="47520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-2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8" name="Rectangle 47"/>
          <p:cNvSpPr/>
          <p:nvPr/>
        </p:nvSpPr>
        <p:spPr>
          <a:xfrm>
            <a:off x="7992000" y="2974680"/>
            <a:ext cx="475200" cy="485640"/>
          </a:xfrm>
          <a:prstGeom prst="rect">
            <a:avLst/>
          </a:prstGeom>
          <a:solidFill>
            <a:srgbClr val="1a2a50"/>
          </a:solidFill>
          <a:ln w="10160">
            <a:solidFill>
              <a:srgbClr val="00d4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9" name="TextBox 48"/>
          <p:cNvSpPr/>
          <p:nvPr/>
        </p:nvSpPr>
        <p:spPr>
          <a:xfrm>
            <a:off x="7992000" y="2974680"/>
            <a:ext cx="47520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0" name="Rectangle 49"/>
          <p:cNvSpPr/>
          <p:nvPr/>
        </p:nvSpPr>
        <p:spPr>
          <a:xfrm>
            <a:off x="8467200" y="2974680"/>
            <a:ext cx="475200" cy="485640"/>
          </a:xfrm>
          <a:prstGeom prst="rect">
            <a:avLst/>
          </a:prstGeom>
          <a:solidFill>
            <a:srgbClr val="121e3a"/>
          </a:solidFill>
          <a:ln w="10160">
            <a:solidFill>
              <a:srgbClr val="00d4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1" name="TextBox 50"/>
          <p:cNvSpPr/>
          <p:nvPr/>
        </p:nvSpPr>
        <p:spPr>
          <a:xfrm>
            <a:off x="8467200" y="2974680"/>
            <a:ext cx="47520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2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2" name="Rectangle 51"/>
          <p:cNvSpPr/>
          <p:nvPr/>
        </p:nvSpPr>
        <p:spPr>
          <a:xfrm>
            <a:off x="7516440" y="3460680"/>
            <a:ext cx="475200" cy="486000"/>
          </a:xfrm>
          <a:prstGeom prst="rect">
            <a:avLst/>
          </a:prstGeom>
          <a:solidFill>
            <a:srgbClr val="121e3a"/>
          </a:solidFill>
          <a:ln w="10160">
            <a:solidFill>
              <a:srgbClr val="00d4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3" name="TextBox 52"/>
          <p:cNvSpPr/>
          <p:nvPr/>
        </p:nvSpPr>
        <p:spPr>
          <a:xfrm>
            <a:off x="7516440" y="3460680"/>
            <a:ext cx="47520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-1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4" name="Rectangle 53"/>
          <p:cNvSpPr/>
          <p:nvPr/>
        </p:nvSpPr>
        <p:spPr>
          <a:xfrm>
            <a:off x="7992000" y="3460680"/>
            <a:ext cx="475200" cy="486000"/>
          </a:xfrm>
          <a:prstGeom prst="rect">
            <a:avLst/>
          </a:prstGeom>
          <a:solidFill>
            <a:srgbClr val="121e3a"/>
          </a:solidFill>
          <a:ln w="10160">
            <a:solidFill>
              <a:srgbClr val="00d4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5" name="TextBox 54"/>
          <p:cNvSpPr/>
          <p:nvPr/>
        </p:nvSpPr>
        <p:spPr>
          <a:xfrm>
            <a:off x="7992000" y="3460680"/>
            <a:ext cx="47520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6" name="Rectangle 55"/>
          <p:cNvSpPr/>
          <p:nvPr/>
        </p:nvSpPr>
        <p:spPr>
          <a:xfrm>
            <a:off x="8467200" y="3460680"/>
            <a:ext cx="475200" cy="486000"/>
          </a:xfrm>
          <a:prstGeom prst="rect">
            <a:avLst/>
          </a:prstGeom>
          <a:solidFill>
            <a:srgbClr val="121e3a"/>
          </a:solidFill>
          <a:ln w="10160">
            <a:solidFill>
              <a:srgbClr val="00d4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7" name="TextBox 56"/>
          <p:cNvSpPr/>
          <p:nvPr/>
        </p:nvSpPr>
        <p:spPr>
          <a:xfrm>
            <a:off x="8467200" y="3460680"/>
            <a:ext cx="47520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8" name="TextBox 57"/>
          <p:cNvSpPr/>
          <p:nvPr/>
        </p:nvSpPr>
        <p:spPr>
          <a:xfrm>
            <a:off x="8988480" y="2974680"/>
            <a:ext cx="1005480" cy="3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00" b="0" i="1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← center weight (most influence)</a:t>
            </a:r>
            <a:endParaRPr lang="en-IN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9" name="TextBox 58"/>
          <p:cNvSpPr/>
          <p:nvPr/>
        </p:nvSpPr>
        <p:spPr>
          <a:xfrm>
            <a:off x="7315200" y="4077720"/>
            <a:ext cx="2194200" cy="82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2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Detects vertical lines.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2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Helps find the sides of a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2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pineapple or the stem of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an apple.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0" name="Rounded Rectangle 59"/>
          <p:cNvSpPr/>
          <p:nvPr/>
        </p:nvSpPr>
        <p:spPr>
          <a:xfrm>
            <a:off x="9738360" y="2021040"/>
            <a:ext cx="2194200" cy="354600"/>
          </a:xfrm>
          <a:prstGeom prst="roundRect">
            <a:avLst>
              <a:gd name="adj" fmla="val 16667"/>
            </a:avLst>
          </a:prstGeom>
          <a:solidFill>
            <a:srgbClr val="00e57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1" name="TextBox 60"/>
          <p:cNvSpPr/>
          <p:nvPr/>
        </p:nvSpPr>
        <p:spPr>
          <a:xfrm>
            <a:off x="9738360" y="2021040"/>
            <a:ext cx="219420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Horizontal Edge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2" name="Rectangle 61"/>
          <p:cNvSpPr/>
          <p:nvPr/>
        </p:nvSpPr>
        <p:spPr>
          <a:xfrm>
            <a:off x="9939600" y="2488320"/>
            <a:ext cx="475200" cy="486000"/>
          </a:xfrm>
          <a:prstGeom prst="rect">
            <a:avLst/>
          </a:prstGeom>
          <a:solidFill>
            <a:srgbClr val="121e3a"/>
          </a:solidFill>
          <a:ln w="10160">
            <a:solidFill>
              <a:srgbClr val="00e57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3" name="TextBox 62"/>
          <p:cNvSpPr/>
          <p:nvPr/>
        </p:nvSpPr>
        <p:spPr>
          <a:xfrm>
            <a:off x="9939600" y="2488320"/>
            <a:ext cx="47520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-1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4" name="Rectangle 63"/>
          <p:cNvSpPr/>
          <p:nvPr/>
        </p:nvSpPr>
        <p:spPr>
          <a:xfrm>
            <a:off x="10415160" y="2488320"/>
            <a:ext cx="475200" cy="486000"/>
          </a:xfrm>
          <a:prstGeom prst="rect">
            <a:avLst/>
          </a:prstGeom>
          <a:solidFill>
            <a:srgbClr val="121e3a"/>
          </a:solidFill>
          <a:ln w="10160">
            <a:solidFill>
              <a:srgbClr val="00e57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5" name="TextBox 64"/>
          <p:cNvSpPr/>
          <p:nvPr/>
        </p:nvSpPr>
        <p:spPr>
          <a:xfrm>
            <a:off x="10415160" y="2488320"/>
            <a:ext cx="47520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-2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6" name="Rectangle 65"/>
          <p:cNvSpPr/>
          <p:nvPr/>
        </p:nvSpPr>
        <p:spPr>
          <a:xfrm>
            <a:off x="10890360" y="2488320"/>
            <a:ext cx="475200" cy="486000"/>
          </a:xfrm>
          <a:prstGeom prst="rect">
            <a:avLst/>
          </a:prstGeom>
          <a:solidFill>
            <a:srgbClr val="121e3a"/>
          </a:solidFill>
          <a:ln w="10160">
            <a:solidFill>
              <a:srgbClr val="00e57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7" name="TextBox 66"/>
          <p:cNvSpPr/>
          <p:nvPr/>
        </p:nvSpPr>
        <p:spPr>
          <a:xfrm>
            <a:off x="10890360" y="2488320"/>
            <a:ext cx="47520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-1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8" name="Rectangle 67"/>
          <p:cNvSpPr/>
          <p:nvPr/>
        </p:nvSpPr>
        <p:spPr>
          <a:xfrm>
            <a:off x="9939600" y="2974680"/>
            <a:ext cx="475200" cy="485640"/>
          </a:xfrm>
          <a:prstGeom prst="rect">
            <a:avLst/>
          </a:prstGeom>
          <a:solidFill>
            <a:srgbClr val="121e3a"/>
          </a:solidFill>
          <a:ln w="10160">
            <a:solidFill>
              <a:srgbClr val="00e57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9" name="TextBox 68"/>
          <p:cNvSpPr/>
          <p:nvPr/>
        </p:nvSpPr>
        <p:spPr>
          <a:xfrm>
            <a:off x="9939600" y="2974680"/>
            <a:ext cx="47520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0" name="Rectangle 69"/>
          <p:cNvSpPr/>
          <p:nvPr/>
        </p:nvSpPr>
        <p:spPr>
          <a:xfrm>
            <a:off x="10415160" y="2974680"/>
            <a:ext cx="475200" cy="485640"/>
          </a:xfrm>
          <a:prstGeom prst="rect">
            <a:avLst/>
          </a:prstGeom>
          <a:solidFill>
            <a:srgbClr val="1a2a50"/>
          </a:solidFill>
          <a:ln w="10160">
            <a:solidFill>
              <a:srgbClr val="00e57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1" name="TextBox 70"/>
          <p:cNvSpPr/>
          <p:nvPr/>
        </p:nvSpPr>
        <p:spPr>
          <a:xfrm>
            <a:off x="10415160" y="2974680"/>
            <a:ext cx="47520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2" name="Rectangle 71"/>
          <p:cNvSpPr/>
          <p:nvPr/>
        </p:nvSpPr>
        <p:spPr>
          <a:xfrm>
            <a:off x="10890360" y="2974680"/>
            <a:ext cx="475200" cy="485640"/>
          </a:xfrm>
          <a:prstGeom prst="rect">
            <a:avLst/>
          </a:prstGeom>
          <a:solidFill>
            <a:srgbClr val="121e3a"/>
          </a:solidFill>
          <a:ln w="10160">
            <a:solidFill>
              <a:srgbClr val="00e57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3" name="TextBox 72"/>
          <p:cNvSpPr/>
          <p:nvPr/>
        </p:nvSpPr>
        <p:spPr>
          <a:xfrm>
            <a:off x="10890360" y="2974680"/>
            <a:ext cx="47520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4" name="Rectangle 73"/>
          <p:cNvSpPr/>
          <p:nvPr/>
        </p:nvSpPr>
        <p:spPr>
          <a:xfrm>
            <a:off x="9939600" y="3460680"/>
            <a:ext cx="475200" cy="486000"/>
          </a:xfrm>
          <a:prstGeom prst="rect">
            <a:avLst/>
          </a:prstGeom>
          <a:solidFill>
            <a:srgbClr val="121e3a"/>
          </a:solidFill>
          <a:ln w="10160">
            <a:solidFill>
              <a:srgbClr val="00e57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5" name="TextBox 74"/>
          <p:cNvSpPr/>
          <p:nvPr/>
        </p:nvSpPr>
        <p:spPr>
          <a:xfrm>
            <a:off x="9939600" y="3460680"/>
            <a:ext cx="47520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6" name="Rectangle 75"/>
          <p:cNvSpPr/>
          <p:nvPr/>
        </p:nvSpPr>
        <p:spPr>
          <a:xfrm>
            <a:off x="10415160" y="3460680"/>
            <a:ext cx="475200" cy="486000"/>
          </a:xfrm>
          <a:prstGeom prst="rect">
            <a:avLst/>
          </a:prstGeom>
          <a:solidFill>
            <a:srgbClr val="121e3a"/>
          </a:solidFill>
          <a:ln w="10160">
            <a:solidFill>
              <a:srgbClr val="00e57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7" name="TextBox 76"/>
          <p:cNvSpPr/>
          <p:nvPr/>
        </p:nvSpPr>
        <p:spPr>
          <a:xfrm>
            <a:off x="10415160" y="3460680"/>
            <a:ext cx="47520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2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8" name="Rectangle 77"/>
          <p:cNvSpPr/>
          <p:nvPr/>
        </p:nvSpPr>
        <p:spPr>
          <a:xfrm>
            <a:off x="10890360" y="3460680"/>
            <a:ext cx="475200" cy="486000"/>
          </a:xfrm>
          <a:prstGeom prst="rect">
            <a:avLst/>
          </a:prstGeom>
          <a:solidFill>
            <a:srgbClr val="121e3a"/>
          </a:solidFill>
          <a:ln w="10160">
            <a:solidFill>
              <a:srgbClr val="00e57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9" name="TextBox 78"/>
          <p:cNvSpPr/>
          <p:nvPr/>
        </p:nvSpPr>
        <p:spPr>
          <a:xfrm>
            <a:off x="10890360" y="3460680"/>
            <a:ext cx="47520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0" name="TextBox 79"/>
          <p:cNvSpPr/>
          <p:nvPr/>
        </p:nvSpPr>
        <p:spPr>
          <a:xfrm>
            <a:off x="11411640" y="2974680"/>
            <a:ext cx="1005480" cy="3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00" b="0" i="1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← center weight (most influence)</a:t>
            </a:r>
            <a:endParaRPr lang="en-IN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1" name="TextBox 80"/>
          <p:cNvSpPr/>
          <p:nvPr/>
        </p:nvSpPr>
        <p:spPr>
          <a:xfrm>
            <a:off x="9738360" y="4077720"/>
            <a:ext cx="2194200" cy="82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2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Detects horizontal lines.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2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Helps find the crown top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2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of a pineapple or the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equator of an apple.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2" name="Rectangle 81"/>
          <p:cNvSpPr/>
          <p:nvPr/>
        </p:nvSpPr>
        <p:spPr>
          <a:xfrm>
            <a:off x="274320" y="5989320"/>
            <a:ext cx="11612520" cy="639720"/>
          </a:xfrm>
          <a:prstGeom prst="rect">
            <a:avLst/>
          </a:prstGeom>
          <a:solidFill>
            <a:srgbClr val="121e3a"/>
          </a:solidFill>
          <a:ln w="15240">
            <a:solidFill>
              <a:srgbClr val="ffc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3" name="TextBox 82"/>
          <p:cNvSpPr/>
          <p:nvPr/>
        </p:nvSpPr>
        <p:spPr>
          <a:xfrm>
            <a:off x="457200" y="6035040"/>
            <a:ext cx="11429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ffcc00"/>
                </a:solidFill>
                <a:effectLst/>
                <a:uFillTx/>
                <a:latin typeface="Calibri"/>
              </a:rPr>
              <a:t>Key Insight:  The CNN does NOT have hand-crafted filters. It starts with random weights and adjusts them via backpropagation until they detect useful patterns — edges, textures, shapes — completely automatically.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80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Rectangle 1"/>
          <p:cNvSpPr/>
          <p:nvPr/>
        </p:nvSpPr>
        <p:spPr>
          <a:xfrm>
            <a:off x="0" y="0"/>
            <a:ext cx="72720" cy="6857640"/>
          </a:xfrm>
          <a:prstGeom prst="rect">
            <a:avLst/>
          </a:prstGeom>
          <a:solidFill>
            <a:srgbClr val="ffcc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5" name="TextBox 2"/>
          <p:cNvSpPr/>
          <p:nvPr/>
        </p:nvSpPr>
        <p:spPr>
          <a:xfrm>
            <a:off x="320040" y="182880"/>
            <a:ext cx="114296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400" b="1" u="none" strike="noStrike">
                <a:solidFill>
                  <a:srgbClr val="ffcc00"/>
                </a:solidFill>
                <a:effectLst/>
                <a:uFillTx/>
                <a:latin typeface="Calibri"/>
              </a:rPr>
              <a:t>One Step of Convolution — The Exact Calculation</a:t>
            </a:r>
            <a:endParaRPr lang="en-IN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6" name="TextBox 3"/>
          <p:cNvSpPr/>
          <p:nvPr/>
        </p:nvSpPr>
        <p:spPr>
          <a:xfrm>
            <a:off x="320040" y="868680"/>
            <a:ext cx="11429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Filter positioned at top-left corner of the image</a:t>
            </a:r>
            <a:endParaRPr lang="en-IN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7" name="Rectangle 4"/>
          <p:cNvSpPr/>
          <p:nvPr/>
        </p:nvSpPr>
        <p:spPr>
          <a:xfrm>
            <a:off x="320040" y="1325880"/>
            <a:ext cx="11521080" cy="27000"/>
          </a:xfrm>
          <a:prstGeom prst="rect">
            <a:avLst/>
          </a:prstGeom>
          <a:solidFill>
            <a:srgbClr val="3a4a6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7640" bIns="-1764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8" name="TextBox 5"/>
          <p:cNvSpPr/>
          <p:nvPr/>
        </p:nvSpPr>
        <p:spPr>
          <a:xfrm>
            <a:off x="320040" y="1417320"/>
            <a:ext cx="11521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We take the 3×3 patch under the filter, multiply every pixel by the matching weight, then SUM everything.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9" name="TextBox 6"/>
          <p:cNvSpPr/>
          <p:nvPr/>
        </p:nvSpPr>
        <p:spPr>
          <a:xfrm>
            <a:off x="274320" y="1920240"/>
            <a:ext cx="31086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400" b="1" u="none" strike="noStrike">
                <a:solidFill>
                  <a:srgbClr val="00d4ff"/>
                </a:solidFill>
                <a:effectLst/>
                <a:uFillTx/>
                <a:latin typeface="Calibri"/>
              </a:rPr>
              <a:t>Image patch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00d4ff"/>
                </a:solidFill>
                <a:effectLst/>
                <a:uFillTx/>
                <a:latin typeface="Calibri"/>
              </a:rPr>
              <a:t>(showing 5×5 area)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0" name="Rectangle 7"/>
          <p:cNvSpPr/>
          <p:nvPr/>
        </p:nvSpPr>
        <p:spPr>
          <a:xfrm>
            <a:off x="274320" y="2423160"/>
            <a:ext cx="529920" cy="475200"/>
          </a:xfrm>
          <a:prstGeom prst="rect">
            <a:avLst/>
          </a:prstGeom>
          <a:solidFill>
            <a:srgbClr val="0a284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01" name="TextBox 8"/>
          <p:cNvSpPr/>
          <p:nvPr/>
        </p:nvSpPr>
        <p:spPr>
          <a:xfrm>
            <a:off x="274320" y="2423160"/>
            <a:ext cx="5299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120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2" name="Rectangle 9"/>
          <p:cNvSpPr/>
          <p:nvPr/>
        </p:nvSpPr>
        <p:spPr>
          <a:xfrm>
            <a:off x="804600" y="2423160"/>
            <a:ext cx="529920" cy="475200"/>
          </a:xfrm>
          <a:prstGeom prst="rect">
            <a:avLst/>
          </a:prstGeom>
          <a:solidFill>
            <a:srgbClr val="0a284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03" name="TextBox 10"/>
          <p:cNvSpPr/>
          <p:nvPr/>
        </p:nvSpPr>
        <p:spPr>
          <a:xfrm>
            <a:off x="804600" y="2423160"/>
            <a:ext cx="5299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145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4" name="Rectangle 11"/>
          <p:cNvSpPr/>
          <p:nvPr/>
        </p:nvSpPr>
        <p:spPr>
          <a:xfrm>
            <a:off x="1334880" y="2423160"/>
            <a:ext cx="529920" cy="475200"/>
          </a:xfrm>
          <a:prstGeom prst="rect">
            <a:avLst/>
          </a:prstGeom>
          <a:solidFill>
            <a:srgbClr val="0a284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05" name="TextBox 12"/>
          <p:cNvSpPr/>
          <p:nvPr/>
        </p:nvSpPr>
        <p:spPr>
          <a:xfrm>
            <a:off x="1334880" y="2423160"/>
            <a:ext cx="5299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200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6" name="Rectangle 13"/>
          <p:cNvSpPr/>
          <p:nvPr/>
        </p:nvSpPr>
        <p:spPr>
          <a:xfrm>
            <a:off x="1865520" y="2423160"/>
            <a:ext cx="529920" cy="47520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07" name="TextBox 14"/>
          <p:cNvSpPr/>
          <p:nvPr/>
        </p:nvSpPr>
        <p:spPr>
          <a:xfrm>
            <a:off x="1865520" y="2423160"/>
            <a:ext cx="5299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90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8" name="Rectangle 15"/>
          <p:cNvSpPr/>
          <p:nvPr/>
        </p:nvSpPr>
        <p:spPr>
          <a:xfrm>
            <a:off x="2395800" y="2423160"/>
            <a:ext cx="529920" cy="47520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09" name="TextBox 16"/>
          <p:cNvSpPr/>
          <p:nvPr/>
        </p:nvSpPr>
        <p:spPr>
          <a:xfrm>
            <a:off x="2395800" y="2423160"/>
            <a:ext cx="5299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65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0" name="Rectangle 17"/>
          <p:cNvSpPr/>
          <p:nvPr/>
        </p:nvSpPr>
        <p:spPr>
          <a:xfrm>
            <a:off x="274320" y="2898720"/>
            <a:ext cx="529920" cy="475200"/>
          </a:xfrm>
          <a:prstGeom prst="rect">
            <a:avLst/>
          </a:prstGeom>
          <a:solidFill>
            <a:srgbClr val="0a284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11" name="TextBox 18"/>
          <p:cNvSpPr/>
          <p:nvPr/>
        </p:nvSpPr>
        <p:spPr>
          <a:xfrm>
            <a:off x="274320" y="2898720"/>
            <a:ext cx="5299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95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2" name="Rectangle 19"/>
          <p:cNvSpPr/>
          <p:nvPr/>
        </p:nvSpPr>
        <p:spPr>
          <a:xfrm>
            <a:off x="804600" y="2898720"/>
            <a:ext cx="529920" cy="475200"/>
          </a:xfrm>
          <a:prstGeom prst="rect">
            <a:avLst/>
          </a:prstGeom>
          <a:solidFill>
            <a:srgbClr val="0a284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13" name="TextBox 20"/>
          <p:cNvSpPr/>
          <p:nvPr/>
        </p:nvSpPr>
        <p:spPr>
          <a:xfrm>
            <a:off x="804600" y="2898720"/>
            <a:ext cx="5299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180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4" name="Rectangle 21"/>
          <p:cNvSpPr/>
          <p:nvPr/>
        </p:nvSpPr>
        <p:spPr>
          <a:xfrm>
            <a:off x="1334880" y="2898720"/>
            <a:ext cx="529920" cy="475200"/>
          </a:xfrm>
          <a:prstGeom prst="rect">
            <a:avLst/>
          </a:prstGeom>
          <a:solidFill>
            <a:srgbClr val="0a284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15" name="TextBox 22"/>
          <p:cNvSpPr/>
          <p:nvPr/>
        </p:nvSpPr>
        <p:spPr>
          <a:xfrm>
            <a:off x="1334880" y="2898720"/>
            <a:ext cx="5299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215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6" name="Rectangle 23"/>
          <p:cNvSpPr/>
          <p:nvPr/>
        </p:nvSpPr>
        <p:spPr>
          <a:xfrm>
            <a:off x="1865520" y="2898720"/>
            <a:ext cx="529920" cy="47520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17" name="TextBox 24"/>
          <p:cNvSpPr/>
          <p:nvPr/>
        </p:nvSpPr>
        <p:spPr>
          <a:xfrm>
            <a:off x="1865520" y="2898720"/>
            <a:ext cx="5299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105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8" name="Rectangle 25"/>
          <p:cNvSpPr/>
          <p:nvPr/>
        </p:nvSpPr>
        <p:spPr>
          <a:xfrm>
            <a:off x="2395800" y="2898720"/>
            <a:ext cx="529920" cy="47520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19" name="TextBox 26"/>
          <p:cNvSpPr/>
          <p:nvPr/>
        </p:nvSpPr>
        <p:spPr>
          <a:xfrm>
            <a:off x="2395800" y="2898720"/>
            <a:ext cx="5299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72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0" name="Rectangle 27"/>
          <p:cNvSpPr/>
          <p:nvPr/>
        </p:nvSpPr>
        <p:spPr>
          <a:xfrm>
            <a:off x="274320" y="3374280"/>
            <a:ext cx="529920" cy="475200"/>
          </a:xfrm>
          <a:prstGeom prst="rect">
            <a:avLst/>
          </a:prstGeom>
          <a:solidFill>
            <a:srgbClr val="0a284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21" name="TextBox 28"/>
          <p:cNvSpPr/>
          <p:nvPr/>
        </p:nvSpPr>
        <p:spPr>
          <a:xfrm>
            <a:off x="274320" y="3374280"/>
            <a:ext cx="5299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85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2" name="Rectangle 29"/>
          <p:cNvSpPr/>
          <p:nvPr/>
        </p:nvSpPr>
        <p:spPr>
          <a:xfrm>
            <a:off x="804600" y="3374280"/>
            <a:ext cx="529920" cy="475200"/>
          </a:xfrm>
          <a:prstGeom prst="rect">
            <a:avLst/>
          </a:prstGeom>
          <a:solidFill>
            <a:srgbClr val="0a284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23" name="TextBox 30"/>
          <p:cNvSpPr/>
          <p:nvPr/>
        </p:nvSpPr>
        <p:spPr>
          <a:xfrm>
            <a:off x="804600" y="3374280"/>
            <a:ext cx="5299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175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4" name="Rectangle 31"/>
          <p:cNvSpPr/>
          <p:nvPr/>
        </p:nvSpPr>
        <p:spPr>
          <a:xfrm>
            <a:off x="1334880" y="3374280"/>
            <a:ext cx="529920" cy="475200"/>
          </a:xfrm>
          <a:prstGeom prst="rect">
            <a:avLst/>
          </a:prstGeom>
          <a:solidFill>
            <a:srgbClr val="0a284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25" name="TextBox 32"/>
          <p:cNvSpPr/>
          <p:nvPr/>
        </p:nvSpPr>
        <p:spPr>
          <a:xfrm>
            <a:off x="1334880" y="3374280"/>
            <a:ext cx="5299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208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6" name="Rectangle 33"/>
          <p:cNvSpPr/>
          <p:nvPr/>
        </p:nvSpPr>
        <p:spPr>
          <a:xfrm>
            <a:off x="1865520" y="3374280"/>
            <a:ext cx="529920" cy="47520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27" name="TextBox 34"/>
          <p:cNvSpPr/>
          <p:nvPr/>
        </p:nvSpPr>
        <p:spPr>
          <a:xfrm>
            <a:off x="1865520" y="3374280"/>
            <a:ext cx="5299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98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8" name="Rectangle 35"/>
          <p:cNvSpPr/>
          <p:nvPr/>
        </p:nvSpPr>
        <p:spPr>
          <a:xfrm>
            <a:off x="2395800" y="3374280"/>
            <a:ext cx="529920" cy="47520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29" name="TextBox 36"/>
          <p:cNvSpPr/>
          <p:nvPr/>
        </p:nvSpPr>
        <p:spPr>
          <a:xfrm>
            <a:off x="2395800" y="3374280"/>
            <a:ext cx="5299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68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0" name="Rectangle 37"/>
          <p:cNvSpPr/>
          <p:nvPr/>
        </p:nvSpPr>
        <p:spPr>
          <a:xfrm>
            <a:off x="274320" y="3849480"/>
            <a:ext cx="529920" cy="47520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31" name="TextBox 38"/>
          <p:cNvSpPr/>
          <p:nvPr/>
        </p:nvSpPr>
        <p:spPr>
          <a:xfrm>
            <a:off x="274320" y="3849480"/>
            <a:ext cx="5299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102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2" name="Rectangle 39"/>
          <p:cNvSpPr/>
          <p:nvPr/>
        </p:nvSpPr>
        <p:spPr>
          <a:xfrm>
            <a:off x="804600" y="3849480"/>
            <a:ext cx="529920" cy="47520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33" name="TextBox 40"/>
          <p:cNvSpPr/>
          <p:nvPr/>
        </p:nvSpPr>
        <p:spPr>
          <a:xfrm>
            <a:off x="804600" y="3849480"/>
            <a:ext cx="5299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162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4" name="Rectangle 41"/>
          <p:cNvSpPr/>
          <p:nvPr/>
        </p:nvSpPr>
        <p:spPr>
          <a:xfrm>
            <a:off x="1334880" y="3849480"/>
            <a:ext cx="529920" cy="47520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35" name="TextBox 42"/>
          <p:cNvSpPr/>
          <p:nvPr/>
        </p:nvSpPr>
        <p:spPr>
          <a:xfrm>
            <a:off x="1334880" y="3849480"/>
            <a:ext cx="5299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193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6" name="Rectangle 43"/>
          <p:cNvSpPr/>
          <p:nvPr/>
        </p:nvSpPr>
        <p:spPr>
          <a:xfrm>
            <a:off x="1865520" y="3849480"/>
            <a:ext cx="529920" cy="47520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37" name="TextBox 44"/>
          <p:cNvSpPr/>
          <p:nvPr/>
        </p:nvSpPr>
        <p:spPr>
          <a:xfrm>
            <a:off x="1865520" y="3849480"/>
            <a:ext cx="5299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87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8" name="Rectangle 45"/>
          <p:cNvSpPr/>
          <p:nvPr/>
        </p:nvSpPr>
        <p:spPr>
          <a:xfrm>
            <a:off x="2395800" y="3849480"/>
            <a:ext cx="529920" cy="47520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39" name="TextBox 46"/>
          <p:cNvSpPr/>
          <p:nvPr/>
        </p:nvSpPr>
        <p:spPr>
          <a:xfrm>
            <a:off x="2395800" y="3849480"/>
            <a:ext cx="5299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58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0" name="Rectangle 47"/>
          <p:cNvSpPr/>
          <p:nvPr/>
        </p:nvSpPr>
        <p:spPr>
          <a:xfrm>
            <a:off x="274320" y="4325040"/>
            <a:ext cx="529920" cy="47520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41" name="TextBox 48"/>
          <p:cNvSpPr/>
          <p:nvPr/>
        </p:nvSpPr>
        <p:spPr>
          <a:xfrm>
            <a:off x="274320" y="4325040"/>
            <a:ext cx="5299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110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2" name="Rectangle 49"/>
          <p:cNvSpPr/>
          <p:nvPr/>
        </p:nvSpPr>
        <p:spPr>
          <a:xfrm>
            <a:off x="804600" y="4325040"/>
            <a:ext cx="529920" cy="47520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43" name="TextBox 50"/>
          <p:cNvSpPr/>
          <p:nvPr/>
        </p:nvSpPr>
        <p:spPr>
          <a:xfrm>
            <a:off x="804600" y="4325040"/>
            <a:ext cx="5299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155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4" name="Rectangle 51"/>
          <p:cNvSpPr/>
          <p:nvPr/>
        </p:nvSpPr>
        <p:spPr>
          <a:xfrm>
            <a:off x="1334880" y="4325040"/>
            <a:ext cx="529920" cy="47520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45" name="TextBox 52"/>
          <p:cNvSpPr/>
          <p:nvPr/>
        </p:nvSpPr>
        <p:spPr>
          <a:xfrm>
            <a:off x="1334880" y="4325040"/>
            <a:ext cx="5299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197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6" name="Rectangle 53"/>
          <p:cNvSpPr/>
          <p:nvPr/>
        </p:nvSpPr>
        <p:spPr>
          <a:xfrm>
            <a:off x="1865520" y="4325040"/>
            <a:ext cx="529920" cy="47520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47" name="TextBox 54"/>
          <p:cNvSpPr/>
          <p:nvPr/>
        </p:nvSpPr>
        <p:spPr>
          <a:xfrm>
            <a:off x="1865520" y="4325040"/>
            <a:ext cx="5299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78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8" name="Rectangle 55"/>
          <p:cNvSpPr/>
          <p:nvPr/>
        </p:nvSpPr>
        <p:spPr>
          <a:xfrm>
            <a:off x="2395800" y="4325040"/>
            <a:ext cx="529920" cy="47520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49" name="TextBox 56"/>
          <p:cNvSpPr/>
          <p:nvPr/>
        </p:nvSpPr>
        <p:spPr>
          <a:xfrm>
            <a:off x="2395800" y="4325040"/>
            <a:ext cx="5299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52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0" name="TextBox 57"/>
          <p:cNvSpPr/>
          <p:nvPr/>
        </p:nvSpPr>
        <p:spPr>
          <a:xfrm>
            <a:off x="2999160" y="2423160"/>
            <a:ext cx="137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100" b="0" i="1" u="none" strike="noStrike">
                <a:solidFill>
                  <a:srgbClr val="00d4ff"/>
                </a:solidFill>
                <a:effectLst/>
                <a:uFillTx/>
                <a:latin typeface="Calibri"/>
              </a:rPr>
              <a:t>← 3×3 region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i="1" u="none" strike="noStrike">
                <a:solidFill>
                  <a:srgbClr val="00d4ff"/>
                </a:solidFill>
                <a:effectLst/>
                <a:uFillTx/>
                <a:latin typeface="Calibri"/>
              </a:rPr>
              <a:t>   under filter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1" name="TextBox 58"/>
          <p:cNvSpPr/>
          <p:nvPr/>
        </p:nvSpPr>
        <p:spPr>
          <a:xfrm>
            <a:off x="4114800" y="1920240"/>
            <a:ext cx="2011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400" b="1" u="none" strike="noStrike">
                <a:solidFill>
                  <a:srgbClr val="ffcc00"/>
                </a:solidFill>
                <a:effectLst/>
                <a:uFillTx/>
                <a:latin typeface="Calibri"/>
              </a:rPr>
              <a:t>Filter weights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cc00"/>
                </a:solidFill>
                <a:effectLst/>
                <a:uFillTx/>
                <a:latin typeface="Calibri"/>
              </a:rPr>
              <a:t>(Edge Detector)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2" name="Rectangle 59"/>
          <p:cNvSpPr/>
          <p:nvPr/>
        </p:nvSpPr>
        <p:spPr>
          <a:xfrm>
            <a:off x="4206240" y="2423160"/>
            <a:ext cx="529920" cy="475200"/>
          </a:xfrm>
          <a:prstGeom prst="rect">
            <a:avLst/>
          </a:prstGeom>
          <a:solidFill>
            <a:srgbClr val="121e3a"/>
          </a:solidFill>
          <a:ln w="10160">
            <a:solidFill>
              <a:srgbClr val="ffc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53" name="TextBox 60"/>
          <p:cNvSpPr/>
          <p:nvPr/>
        </p:nvSpPr>
        <p:spPr>
          <a:xfrm>
            <a:off x="4206240" y="2423160"/>
            <a:ext cx="5299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fcc00"/>
                </a:solidFill>
                <a:effectLst/>
                <a:uFillTx/>
                <a:latin typeface="Calibri"/>
              </a:rPr>
              <a:t>-1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4" name="Rectangle 61"/>
          <p:cNvSpPr/>
          <p:nvPr/>
        </p:nvSpPr>
        <p:spPr>
          <a:xfrm>
            <a:off x="4736520" y="2423160"/>
            <a:ext cx="529920" cy="475200"/>
          </a:xfrm>
          <a:prstGeom prst="rect">
            <a:avLst/>
          </a:prstGeom>
          <a:solidFill>
            <a:srgbClr val="121e3a"/>
          </a:solidFill>
          <a:ln w="10160">
            <a:solidFill>
              <a:srgbClr val="ffc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55" name="TextBox 62"/>
          <p:cNvSpPr/>
          <p:nvPr/>
        </p:nvSpPr>
        <p:spPr>
          <a:xfrm>
            <a:off x="4736520" y="2423160"/>
            <a:ext cx="5299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fcc00"/>
                </a:solidFill>
                <a:effectLst/>
                <a:uFillTx/>
                <a:latin typeface="Calibri"/>
              </a:rPr>
              <a:t>-1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6" name="Rectangle 63"/>
          <p:cNvSpPr/>
          <p:nvPr/>
        </p:nvSpPr>
        <p:spPr>
          <a:xfrm>
            <a:off x="5266800" y="2423160"/>
            <a:ext cx="529920" cy="475200"/>
          </a:xfrm>
          <a:prstGeom prst="rect">
            <a:avLst/>
          </a:prstGeom>
          <a:solidFill>
            <a:srgbClr val="121e3a"/>
          </a:solidFill>
          <a:ln w="10160">
            <a:solidFill>
              <a:srgbClr val="ffc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57" name="TextBox 64"/>
          <p:cNvSpPr/>
          <p:nvPr/>
        </p:nvSpPr>
        <p:spPr>
          <a:xfrm>
            <a:off x="5266800" y="2423160"/>
            <a:ext cx="5299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fcc00"/>
                </a:solidFill>
                <a:effectLst/>
                <a:uFillTx/>
                <a:latin typeface="Calibri"/>
              </a:rPr>
              <a:t>-1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8" name="Rectangle 65"/>
          <p:cNvSpPr/>
          <p:nvPr/>
        </p:nvSpPr>
        <p:spPr>
          <a:xfrm>
            <a:off x="4206240" y="2898720"/>
            <a:ext cx="529920" cy="475200"/>
          </a:xfrm>
          <a:prstGeom prst="rect">
            <a:avLst/>
          </a:prstGeom>
          <a:solidFill>
            <a:srgbClr val="121e3a"/>
          </a:solidFill>
          <a:ln w="10160">
            <a:solidFill>
              <a:srgbClr val="ffc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59" name="TextBox 66"/>
          <p:cNvSpPr/>
          <p:nvPr/>
        </p:nvSpPr>
        <p:spPr>
          <a:xfrm>
            <a:off x="4206240" y="2898720"/>
            <a:ext cx="5299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fcc00"/>
                </a:solidFill>
                <a:effectLst/>
                <a:uFillTx/>
                <a:latin typeface="Calibri"/>
              </a:rPr>
              <a:t>-1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0" name="Rectangle 67"/>
          <p:cNvSpPr/>
          <p:nvPr/>
        </p:nvSpPr>
        <p:spPr>
          <a:xfrm>
            <a:off x="4736520" y="2898720"/>
            <a:ext cx="529920" cy="475200"/>
          </a:xfrm>
          <a:prstGeom prst="rect">
            <a:avLst/>
          </a:prstGeom>
          <a:solidFill>
            <a:srgbClr val="282000"/>
          </a:solidFill>
          <a:ln w="10160">
            <a:solidFill>
              <a:srgbClr val="ffc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61" name="TextBox 68"/>
          <p:cNvSpPr/>
          <p:nvPr/>
        </p:nvSpPr>
        <p:spPr>
          <a:xfrm>
            <a:off x="4736520" y="2898720"/>
            <a:ext cx="5299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fcc00"/>
                </a:solidFill>
                <a:effectLst/>
                <a:uFillTx/>
                <a:latin typeface="Calibri"/>
              </a:rPr>
              <a:t> 8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2" name="Rectangle 69"/>
          <p:cNvSpPr/>
          <p:nvPr/>
        </p:nvSpPr>
        <p:spPr>
          <a:xfrm>
            <a:off x="5266800" y="2898720"/>
            <a:ext cx="529920" cy="475200"/>
          </a:xfrm>
          <a:prstGeom prst="rect">
            <a:avLst/>
          </a:prstGeom>
          <a:solidFill>
            <a:srgbClr val="121e3a"/>
          </a:solidFill>
          <a:ln w="10160">
            <a:solidFill>
              <a:srgbClr val="ffc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63" name="TextBox 70"/>
          <p:cNvSpPr/>
          <p:nvPr/>
        </p:nvSpPr>
        <p:spPr>
          <a:xfrm>
            <a:off x="5266800" y="2898720"/>
            <a:ext cx="5299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fcc00"/>
                </a:solidFill>
                <a:effectLst/>
                <a:uFillTx/>
                <a:latin typeface="Calibri"/>
              </a:rPr>
              <a:t>-1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4" name="Rectangle 71"/>
          <p:cNvSpPr/>
          <p:nvPr/>
        </p:nvSpPr>
        <p:spPr>
          <a:xfrm>
            <a:off x="4206240" y="3374280"/>
            <a:ext cx="529920" cy="475200"/>
          </a:xfrm>
          <a:prstGeom prst="rect">
            <a:avLst/>
          </a:prstGeom>
          <a:solidFill>
            <a:srgbClr val="121e3a"/>
          </a:solidFill>
          <a:ln w="10160">
            <a:solidFill>
              <a:srgbClr val="ffc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65" name="TextBox 72"/>
          <p:cNvSpPr/>
          <p:nvPr/>
        </p:nvSpPr>
        <p:spPr>
          <a:xfrm>
            <a:off x="4206240" y="3374280"/>
            <a:ext cx="5299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fcc00"/>
                </a:solidFill>
                <a:effectLst/>
                <a:uFillTx/>
                <a:latin typeface="Calibri"/>
              </a:rPr>
              <a:t>-1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6" name="Rectangle 73"/>
          <p:cNvSpPr/>
          <p:nvPr/>
        </p:nvSpPr>
        <p:spPr>
          <a:xfrm>
            <a:off x="4736520" y="3374280"/>
            <a:ext cx="529920" cy="475200"/>
          </a:xfrm>
          <a:prstGeom prst="rect">
            <a:avLst/>
          </a:prstGeom>
          <a:solidFill>
            <a:srgbClr val="121e3a"/>
          </a:solidFill>
          <a:ln w="10160">
            <a:solidFill>
              <a:srgbClr val="ffc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67" name="TextBox 74"/>
          <p:cNvSpPr/>
          <p:nvPr/>
        </p:nvSpPr>
        <p:spPr>
          <a:xfrm>
            <a:off x="4736520" y="3374280"/>
            <a:ext cx="5299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fcc00"/>
                </a:solidFill>
                <a:effectLst/>
                <a:uFillTx/>
                <a:latin typeface="Calibri"/>
              </a:rPr>
              <a:t>-1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8" name="Rectangle 75"/>
          <p:cNvSpPr/>
          <p:nvPr/>
        </p:nvSpPr>
        <p:spPr>
          <a:xfrm>
            <a:off x="5266800" y="3374280"/>
            <a:ext cx="529920" cy="475200"/>
          </a:xfrm>
          <a:prstGeom prst="rect">
            <a:avLst/>
          </a:prstGeom>
          <a:solidFill>
            <a:srgbClr val="121e3a"/>
          </a:solidFill>
          <a:ln w="10160">
            <a:solidFill>
              <a:srgbClr val="ffc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69" name="TextBox 76"/>
          <p:cNvSpPr/>
          <p:nvPr/>
        </p:nvSpPr>
        <p:spPr>
          <a:xfrm>
            <a:off x="5266800" y="3374280"/>
            <a:ext cx="5299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fcc00"/>
                </a:solidFill>
                <a:effectLst/>
                <a:uFillTx/>
                <a:latin typeface="Calibri"/>
              </a:rPr>
              <a:t>-1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0" name="TextBox 77"/>
          <p:cNvSpPr/>
          <p:nvPr/>
        </p:nvSpPr>
        <p:spPr>
          <a:xfrm>
            <a:off x="3794760" y="3154680"/>
            <a:ext cx="411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ffcc00"/>
                </a:solidFill>
                <a:effectLst/>
                <a:uFillTx/>
                <a:latin typeface="Calibri"/>
              </a:rPr>
              <a:t>×</a:t>
            </a:r>
            <a:endParaRPr lang="en-IN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1" name="TextBox 78"/>
          <p:cNvSpPr/>
          <p:nvPr/>
        </p:nvSpPr>
        <p:spPr>
          <a:xfrm>
            <a:off x="6172200" y="1920240"/>
            <a:ext cx="21027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400" b="1" u="none" strike="noStrike">
                <a:solidFill>
                  <a:srgbClr val="00e576"/>
                </a:solidFill>
                <a:effectLst/>
                <a:uFillTx/>
                <a:latin typeface="Calibri"/>
              </a:rPr>
              <a:t>Element-wise products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00e576"/>
                </a:solidFill>
                <a:effectLst/>
                <a:uFillTx/>
                <a:latin typeface="Calibri"/>
              </a:rPr>
              <a:t>(pixel × weight)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2" name="Rectangle 79"/>
          <p:cNvSpPr/>
          <p:nvPr/>
        </p:nvSpPr>
        <p:spPr>
          <a:xfrm>
            <a:off x="6172200" y="2423160"/>
            <a:ext cx="685440" cy="475200"/>
          </a:xfrm>
          <a:prstGeom prst="rect">
            <a:avLst/>
          </a:prstGeom>
          <a:solidFill>
            <a:srgbClr val="200808"/>
          </a:solidFill>
          <a:ln w="10160">
            <a:solidFill>
              <a:srgbClr val="00e57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73" name="TextBox 80"/>
          <p:cNvSpPr/>
          <p:nvPr/>
        </p:nvSpPr>
        <p:spPr>
          <a:xfrm>
            <a:off x="6172200" y="2423160"/>
            <a:ext cx="6854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4545"/>
                </a:solidFill>
                <a:effectLst/>
                <a:uFillTx/>
                <a:latin typeface="Calibri"/>
              </a:rPr>
              <a:t>-120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4" name="Rectangle 81"/>
          <p:cNvSpPr/>
          <p:nvPr/>
        </p:nvSpPr>
        <p:spPr>
          <a:xfrm>
            <a:off x="6858000" y="2423160"/>
            <a:ext cx="685440" cy="475200"/>
          </a:xfrm>
          <a:prstGeom prst="rect">
            <a:avLst/>
          </a:prstGeom>
          <a:solidFill>
            <a:srgbClr val="200808"/>
          </a:solidFill>
          <a:ln w="10160">
            <a:solidFill>
              <a:srgbClr val="00e57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75" name="TextBox 82"/>
          <p:cNvSpPr/>
          <p:nvPr/>
        </p:nvSpPr>
        <p:spPr>
          <a:xfrm>
            <a:off x="6858000" y="2423160"/>
            <a:ext cx="6854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4545"/>
                </a:solidFill>
                <a:effectLst/>
                <a:uFillTx/>
                <a:latin typeface="Calibri"/>
              </a:rPr>
              <a:t>-145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6" name="Rectangle 83"/>
          <p:cNvSpPr/>
          <p:nvPr/>
        </p:nvSpPr>
        <p:spPr>
          <a:xfrm>
            <a:off x="7543800" y="2423160"/>
            <a:ext cx="685440" cy="475200"/>
          </a:xfrm>
          <a:prstGeom prst="rect">
            <a:avLst/>
          </a:prstGeom>
          <a:solidFill>
            <a:srgbClr val="200808"/>
          </a:solidFill>
          <a:ln w="10160">
            <a:solidFill>
              <a:srgbClr val="00e57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77" name="TextBox 84"/>
          <p:cNvSpPr/>
          <p:nvPr/>
        </p:nvSpPr>
        <p:spPr>
          <a:xfrm>
            <a:off x="7543800" y="2423160"/>
            <a:ext cx="6854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4545"/>
                </a:solidFill>
                <a:effectLst/>
                <a:uFillTx/>
                <a:latin typeface="Calibri"/>
              </a:rPr>
              <a:t>-200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8" name="Rectangle 85"/>
          <p:cNvSpPr/>
          <p:nvPr/>
        </p:nvSpPr>
        <p:spPr>
          <a:xfrm>
            <a:off x="6172200" y="2898720"/>
            <a:ext cx="685440" cy="475200"/>
          </a:xfrm>
          <a:prstGeom prst="rect">
            <a:avLst/>
          </a:prstGeom>
          <a:solidFill>
            <a:srgbClr val="200808"/>
          </a:solidFill>
          <a:ln w="10160">
            <a:solidFill>
              <a:srgbClr val="00e57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79" name="TextBox 86"/>
          <p:cNvSpPr/>
          <p:nvPr/>
        </p:nvSpPr>
        <p:spPr>
          <a:xfrm>
            <a:off x="6172200" y="2898720"/>
            <a:ext cx="6854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4545"/>
                </a:solidFill>
                <a:effectLst/>
                <a:uFillTx/>
                <a:latin typeface="Calibri"/>
              </a:rPr>
              <a:t>-95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0" name="Rectangle 87"/>
          <p:cNvSpPr/>
          <p:nvPr/>
        </p:nvSpPr>
        <p:spPr>
          <a:xfrm>
            <a:off x="6858000" y="2898720"/>
            <a:ext cx="685440" cy="475200"/>
          </a:xfrm>
          <a:prstGeom prst="rect">
            <a:avLst/>
          </a:prstGeom>
          <a:solidFill>
            <a:srgbClr val="082010"/>
          </a:solidFill>
          <a:ln w="10160">
            <a:solidFill>
              <a:srgbClr val="00e57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81" name="TextBox 88"/>
          <p:cNvSpPr/>
          <p:nvPr/>
        </p:nvSpPr>
        <p:spPr>
          <a:xfrm>
            <a:off x="6858000" y="2898720"/>
            <a:ext cx="6854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00e576"/>
                </a:solidFill>
                <a:effectLst/>
                <a:uFillTx/>
                <a:latin typeface="Calibri"/>
              </a:rPr>
              <a:t>1440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2" name="Rectangle 89"/>
          <p:cNvSpPr/>
          <p:nvPr/>
        </p:nvSpPr>
        <p:spPr>
          <a:xfrm>
            <a:off x="7543800" y="2898720"/>
            <a:ext cx="685440" cy="475200"/>
          </a:xfrm>
          <a:prstGeom prst="rect">
            <a:avLst/>
          </a:prstGeom>
          <a:solidFill>
            <a:srgbClr val="200808"/>
          </a:solidFill>
          <a:ln w="10160">
            <a:solidFill>
              <a:srgbClr val="00e57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83" name="TextBox 90"/>
          <p:cNvSpPr/>
          <p:nvPr/>
        </p:nvSpPr>
        <p:spPr>
          <a:xfrm>
            <a:off x="7543800" y="2898720"/>
            <a:ext cx="6854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4545"/>
                </a:solidFill>
                <a:effectLst/>
                <a:uFillTx/>
                <a:latin typeface="Calibri"/>
              </a:rPr>
              <a:t>-215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4" name="Rectangle 91"/>
          <p:cNvSpPr/>
          <p:nvPr/>
        </p:nvSpPr>
        <p:spPr>
          <a:xfrm>
            <a:off x="6172200" y="3374280"/>
            <a:ext cx="685440" cy="475200"/>
          </a:xfrm>
          <a:prstGeom prst="rect">
            <a:avLst/>
          </a:prstGeom>
          <a:solidFill>
            <a:srgbClr val="200808"/>
          </a:solidFill>
          <a:ln w="10160">
            <a:solidFill>
              <a:srgbClr val="00e57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85" name="TextBox 92"/>
          <p:cNvSpPr/>
          <p:nvPr/>
        </p:nvSpPr>
        <p:spPr>
          <a:xfrm>
            <a:off x="6172200" y="3374280"/>
            <a:ext cx="6854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4545"/>
                </a:solidFill>
                <a:effectLst/>
                <a:uFillTx/>
                <a:latin typeface="Calibri"/>
              </a:rPr>
              <a:t>-85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6" name="Rectangle 93"/>
          <p:cNvSpPr/>
          <p:nvPr/>
        </p:nvSpPr>
        <p:spPr>
          <a:xfrm>
            <a:off x="6858000" y="3374280"/>
            <a:ext cx="685440" cy="475200"/>
          </a:xfrm>
          <a:prstGeom prst="rect">
            <a:avLst/>
          </a:prstGeom>
          <a:solidFill>
            <a:srgbClr val="200808"/>
          </a:solidFill>
          <a:ln w="10160">
            <a:solidFill>
              <a:srgbClr val="00e57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87" name="TextBox 94"/>
          <p:cNvSpPr/>
          <p:nvPr/>
        </p:nvSpPr>
        <p:spPr>
          <a:xfrm>
            <a:off x="6858000" y="3374280"/>
            <a:ext cx="6854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4545"/>
                </a:solidFill>
                <a:effectLst/>
                <a:uFillTx/>
                <a:latin typeface="Calibri"/>
              </a:rPr>
              <a:t>-175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8" name="Rectangle 95"/>
          <p:cNvSpPr/>
          <p:nvPr/>
        </p:nvSpPr>
        <p:spPr>
          <a:xfrm>
            <a:off x="7543800" y="3374280"/>
            <a:ext cx="685440" cy="475200"/>
          </a:xfrm>
          <a:prstGeom prst="rect">
            <a:avLst/>
          </a:prstGeom>
          <a:solidFill>
            <a:srgbClr val="200808"/>
          </a:solidFill>
          <a:ln w="10160">
            <a:solidFill>
              <a:srgbClr val="00e57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89" name="TextBox 96"/>
          <p:cNvSpPr/>
          <p:nvPr/>
        </p:nvSpPr>
        <p:spPr>
          <a:xfrm>
            <a:off x="7543800" y="3374280"/>
            <a:ext cx="6854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4545"/>
                </a:solidFill>
                <a:effectLst/>
                <a:uFillTx/>
                <a:latin typeface="Calibri"/>
              </a:rPr>
              <a:t>-208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0" name="TextBox 97"/>
          <p:cNvSpPr/>
          <p:nvPr/>
        </p:nvSpPr>
        <p:spPr>
          <a:xfrm>
            <a:off x="8412480" y="3154680"/>
            <a:ext cx="3654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=</a:t>
            </a:r>
            <a:endParaRPr lang="en-IN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1" name="TextBox 98"/>
          <p:cNvSpPr/>
          <p:nvPr/>
        </p:nvSpPr>
        <p:spPr>
          <a:xfrm>
            <a:off x="8869680" y="3063240"/>
            <a:ext cx="1645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i="1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Sum all 9 values →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2" name="Rectangle 99"/>
          <p:cNvSpPr/>
          <p:nvPr/>
        </p:nvSpPr>
        <p:spPr>
          <a:xfrm>
            <a:off x="10607040" y="2834640"/>
            <a:ext cx="1325520" cy="914040"/>
          </a:xfrm>
          <a:prstGeom prst="rect">
            <a:avLst/>
          </a:prstGeom>
          <a:solidFill>
            <a:srgbClr val="121e3a"/>
          </a:solidFill>
          <a:ln w="25400">
            <a:solidFill>
              <a:srgbClr val="00d4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93" name="TextBox 100"/>
          <p:cNvSpPr/>
          <p:nvPr/>
        </p:nvSpPr>
        <p:spPr>
          <a:xfrm>
            <a:off x="10607040" y="2834640"/>
            <a:ext cx="13255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3600" b="1" u="none" strike="noStrike">
                <a:solidFill>
                  <a:srgbClr val="00d4ff"/>
                </a:solidFill>
                <a:effectLst/>
                <a:uFillTx/>
                <a:latin typeface="Calibri"/>
              </a:rPr>
              <a:t>210</a:t>
            </a:r>
            <a:endParaRPr lang="en-IN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4" name="TextBox 101"/>
          <p:cNvSpPr/>
          <p:nvPr/>
        </p:nvSpPr>
        <p:spPr>
          <a:xfrm>
            <a:off x="10607040" y="3794760"/>
            <a:ext cx="13255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100" b="0" i="1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one output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100" b="0" i="1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value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5" name="Rectangle 102"/>
          <p:cNvSpPr/>
          <p:nvPr/>
        </p:nvSpPr>
        <p:spPr>
          <a:xfrm>
            <a:off x="274320" y="4663440"/>
            <a:ext cx="11612520" cy="1965600"/>
          </a:xfrm>
          <a:prstGeom prst="rect">
            <a:avLst/>
          </a:prstGeom>
          <a:solidFill>
            <a:srgbClr val="0f1732"/>
          </a:solidFill>
          <a:ln w="19050">
            <a:solidFill>
              <a:srgbClr val="ffc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96" name="TextBox 103"/>
          <p:cNvSpPr/>
          <p:nvPr/>
        </p:nvSpPr>
        <p:spPr>
          <a:xfrm>
            <a:off x="457200" y="4754880"/>
            <a:ext cx="2742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cc00"/>
                </a:solidFill>
                <a:effectLst/>
                <a:uFillTx/>
                <a:latin typeface="Calibri"/>
              </a:rPr>
              <a:t>Full Calculation: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7" name="TextBox 104"/>
          <p:cNvSpPr/>
          <p:nvPr/>
        </p:nvSpPr>
        <p:spPr>
          <a:xfrm>
            <a:off x="457200" y="5166360"/>
            <a:ext cx="112467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(120×-1) + (145×-1) + (200×-1)   =   -120 + -145 + -200   =   -465   [top row]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8" name="TextBox 105"/>
          <p:cNvSpPr/>
          <p:nvPr/>
        </p:nvSpPr>
        <p:spPr>
          <a:xfrm>
            <a:off x="457200" y="5459040"/>
            <a:ext cx="112467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fcc00"/>
                </a:solidFill>
                <a:effectLst/>
                <a:uFillTx/>
                <a:latin typeface="Calibri"/>
              </a:rPr>
              <a:t>(95×-1)  + (180×8)  + (215×-1)   =   -95  + 1440  + -215   =  +1130   [middle row — centre pixel gets ×8]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9" name="TextBox 106"/>
          <p:cNvSpPr/>
          <p:nvPr/>
        </p:nvSpPr>
        <p:spPr>
          <a:xfrm>
            <a:off x="457200" y="5751720"/>
            <a:ext cx="112467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(85×-1)  + (175×-1) + (208×-1)   =   -85  + -175  + -208   =   -468   [bottom row]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0" name="Rectangle 107"/>
          <p:cNvSpPr/>
          <p:nvPr/>
        </p:nvSpPr>
        <p:spPr>
          <a:xfrm>
            <a:off x="274320" y="6053400"/>
            <a:ext cx="11612520" cy="429480"/>
          </a:xfrm>
          <a:prstGeom prst="rect">
            <a:avLst/>
          </a:prstGeom>
          <a:solidFill>
            <a:srgbClr val="182505"/>
          </a:solidFill>
          <a:ln w="19050">
            <a:solidFill>
              <a:srgbClr val="00e57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01" name="TextBox 108"/>
          <p:cNvSpPr/>
          <p:nvPr/>
        </p:nvSpPr>
        <p:spPr>
          <a:xfrm>
            <a:off x="457200" y="6080760"/>
            <a:ext cx="112467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00e576"/>
                </a:solidFill>
                <a:effectLst/>
                <a:uFillTx/>
                <a:latin typeface="Calibri"/>
              </a:rPr>
              <a:t>TOTAL  =  -465  +  1130  +  -468  =  +210   ← High positive → Strong edge detected here!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80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Rectangle 1"/>
          <p:cNvSpPr/>
          <p:nvPr/>
        </p:nvSpPr>
        <p:spPr>
          <a:xfrm>
            <a:off x="0" y="0"/>
            <a:ext cx="72720" cy="6857640"/>
          </a:xfrm>
          <a:prstGeom prst="rect">
            <a:avLst/>
          </a:prstGeom>
          <a:solidFill>
            <a:srgbClr val="00e57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03" name="TextBox 2"/>
          <p:cNvSpPr/>
          <p:nvPr/>
        </p:nvSpPr>
        <p:spPr>
          <a:xfrm>
            <a:off x="320040" y="182880"/>
            <a:ext cx="114296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400" b="1" u="none" strike="noStrike">
                <a:solidFill>
                  <a:srgbClr val="00e576"/>
                </a:solidFill>
                <a:effectLst/>
                <a:uFillTx/>
                <a:latin typeface="Calibri"/>
              </a:rPr>
              <a:t>Sliding the Filter Across the Image</a:t>
            </a:r>
            <a:endParaRPr lang="en-IN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4" name="TextBox 3"/>
          <p:cNvSpPr/>
          <p:nvPr/>
        </p:nvSpPr>
        <p:spPr>
          <a:xfrm>
            <a:off x="320040" y="868680"/>
            <a:ext cx="11429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The filter moves one step at a time (stride=1), covering every position</a:t>
            </a:r>
            <a:endParaRPr lang="en-IN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5" name="Rectangle 4"/>
          <p:cNvSpPr/>
          <p:nvPr/>
        </p:nvSpPr>
        <p:spPr>
          <a:xfrm>
            <a:off x="320040" y="1325880"/>
            <a:ext cx="11521080" cy="27000"/>
          </a:xfrm>
          <a:prstGeom prst="rect">
            <a:avLst/>
          </a:prstGeom>
          <a:solidFill>
            <a:srgbClr val="3a4a6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7640" bIns="-1764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06" name="TextBox 5"/>
          <p:cNvSpPr/>
          <p:nvPr/>
        </p:nvSpPr>
        <p:spPr>
          <a:xfrm>
            <a:off x="320040" y="1417320"/>
            <a:ext cx="115210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4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The filter starts at the top-left corner, computes one output value, then slides RIGHT by 1 pixel (stride=1).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After reaching the right edge, it moves DOWN by 1 pixel and starts again from the left.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7" name="TextBox 6"/>
          <p:cNvSpPr/>
          <p:nvPr/>
        </p:nvSpPr>
        <p:spPr>
          <a:xfrm>
            <a:off x="342360" y="1965600"/>
            <a:ext cx="68576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00d4ff"/>
                </a:solidFill>
                <a:effectLst/>
                <a:uFillTx/>
                <a:latin typeface="Calibri"/>
              </a:rPr>
              <a:t>Filter positions on a 6×6 image (showing first 4 stops):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8" name="TextBox 7"/>
          <p:cNvSpPr/>
          <p:nvPr/>
        </p:nvSpPr>
        <p:spPr>
          <a:xfrm>
            <a:off x="136080" y="2285640"/>
            <a:ext cx="57996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300" b="1" u="none" strike="noStrike">
                <a:solidFill>
                  <a:srgbClr val="00d4ff"/>
                </a:solidFill>
                <a:effectLst/>
                <a:uFillTx/>
                <a:latin typeface="Calibri"/>
              </a:rPr>
              <a:t>Pos 1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00d4ff"/>
                </a:solidFill>
                <a:effectLst/>
                <a:uFillTx/>
                <a:latin typeface="Calibri"/>
              </a:rPr>
              <a:t>(0,0)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9" name="Rectangle 8"/>
          <p:cNvSpPr/>
          <p:nvPr/>
        </p:nvSpPr>
        <p:spPr>
          <a:xfrm>
            <a:off x="716040" y="2380320"/>
            <a:ext cx="475200" cy="324000"/>
          </a:xfrm>
          <a:prstGeom prst="rect">
            <a:avLst/>
          </a:prstGeom>
          <a:solidFill>
            <a:srgbClr val="102030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10" name="TextBox 9"/>
          <p:cNvSpPr/>
          <p:nvPr/>
        </p:nvSpPr>
        <p:spPr>
          <a:xfrm>
            <a:off x="716040" y="2380320"/>
            <a:ext cx="4752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120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1" name="Rectangle 10"/>
          <p:cNvSpPr/>
          <p:nvPr/>
        </p:nvSpPr>
        <p:spPr>
          <a:xfrm>
            <a:off x="1191600" y="2380320"/>
            <a:ext cx="475200" cy="324000"/>
          </a:xfrm>
          <a:prstGeom prst="rect">
            <a:avLst/>
          </a:prstGeom>
          <a:solidFill>
            <a:srgbClr val="102030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12" name="TextBox 11"/>
          <p:cNvSpPr/>
          <p:nvPr/>
        </p:nvSpPr>
        <p:spPr>
          <a:xfrm>
            <a:off x="1191600" y="2380320"/>
            <a:ext cx="4752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145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3" name="Rectangle 12"/>
          <p:cNvSpPr/>
          <p:nvPr/>
        </p:nvSpPr>
        <p:spPr>
          <a:xfrm>
            <a:off x="1667160" y="2380320"/>
            <a:ext cx="475200" cy="324000"/>
          </a:xfrm>
          <a:prstGeom prst="rect">
            <a:avLst/>
          </a:prstGeom>
          <a:solidFill>
            <a:srgbClr val="102030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14" name="TextBox 13"/>
          <p:cNvSpPr/>
          <p:nvPr/>
        </p:nvSpPr>
        <p:spPr>
          <a:xfrm>
            <a:off x="1667160" y="2380320"/>
            <a:ext cx="4752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200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5" name="Rectangle 14"/>
          <p:cNvSpPr/>
          <p:nvPr/>
        </p:nvSpPr>
        <p:spPr>
          <a:xfrm>
            <a:off x="2142360" y="2380320"/>
            <a:ext cx="475200" cy="32400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16" name="TextBox 15"/>
          <p:cNvSpPr/>
          <p:nvPr/>
        </p:nvSpPr>
        <p:spPr>
          <a:xfrm>
            <a:off x="2142360" y="2380320"/>
            <a:ext cx="4752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90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7" name="Rectangle 16"/>
          <p:cNvSpPr/>
          <p:nvPr/>
        </p:nvSpPr>
        <p:spPr>
          <a:xfrm>
            <a:off x="2617920" y="2380320"/>
            <a:ext cx="475200" cy="32400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18" name="TextBox 17"/>
          <p:cNvSpPr/>
          <p:nvPr/>
        </p:nvSpPr>
        <p:spPr>
          <a:xfrm>
            <a:off x="2617920" y="2380320"/>
            <a:ext cx="4752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65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9" name="Rectangle 18"/>
          <p:cNvSpPr/>
          <p:nvPr/>
        </p:nvSpPr>
        <p:spPr>
          <a:xfrm>
            <a:off x="3093480" y="2380320"/>
            <a:ext cx="475200" cy="32400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20" name="TextBox 19"/>
          <p:cNvSpPr/>
          <p:nvPr/>
        </p:nvSpPr>
        <p:spPr>
          <a:xfrm>
            <a:off x="3093480" y="2380320"/>
            <a:ext cx="4752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50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1" name="Rectangle 20"/>
          <p:cNvSpPr/>
          <p:nvPr/>
        </p:nvSpPr>
        <p:spPr>
          <a:xfrm>
            <a:off x="716040" y="2704680"/>
            <a:ext cx="475200" cy="324000"/>
          </a:xfrm>
          <a:prstGeom prst="rect">
            <a:avLst/>
          </a:prstGeom>
          <a:solidFill>
            <a:srgbClr val="102030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22" name="TextBox 21"/>
          <p:cNvSpPr/>
          <p:nvPr/>
        </p:nvSpPr>
        <p:spPr>
          <a:xfrm>
            <a:off x="716040" y="2704680"/>
            <a:ext cx="4752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95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3" name="Rectangle 22"/>
          <p:cNvSpPr/>
          <p:nvPr/>
        </p:nvSpPr>
        <p:spPr>
          <a:xfrm>
            <a:off x="1191600" y="2704680"/>
            <a:ext cx="475200" cy="324000"/>
          </a:xfrm>
          <a:prstGeom prst="rect">
            <a:avLst/>
          </a:prstGeom>
          <a:solidFill>
            <a:srgbClr val="102030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24" name="TextBox 23"/>
          <p:cNvSpPr/>
          <p:nvPr/>
        </p:nvSpPr>
        <p:spPr>
          <a:xfrm>
            <a:off x="1191600" y="2704680"/>
            <a:ext cx="4752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180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5" name="Rectangle 24"/>
          <p:cNvSpPr/>
          <p:nvPr/>
        </p:nvSpPr>
        <p:spPr>
          <a:xfrm>
            <a:off x="1667160" y="2704680"/>
            <a:ext cx="475200" cy="324000"/>
          </a:xfrm>
          <a:prstGeom prst="rect">
            <a:avLst/>
          </a:prstGeom>
          <a:solidFill>
            <a:srgbClr val="102030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26" name="TextBox 25"/>
          <p:cNvSpPr/>
          <p:nvPr/>
        </p:nvSpPr>
        <p:spPr>
          <a:xfrm>
            <a:off x="1667160" y="2704680"/>
            <a:ext cx="4752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215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7" name="Rectangle 26"/>
          <p:cNvSpPr/>
          <p:nvPr/>
        </p:nvSpPr>
        <p:spPr>
          <a:xfrm>
            <a:off x="2142360" y="2704680"/>
            <a:ext cx="475200" cy="32400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28" name="TextBox 27"/>
          <p:cNvSpPr/>
          <p:nvPr/>
        </p:nvSpPr>
        <p:spPr>
          <a:xfrm>
            <a:off x="2142360" y="2704680"/>
            <a:ext cx="4752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105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9" name="Rectangle 28"/>
          <p:cNvSpPr/>
          <p:nvPr/>
        </p:nvSpPr>
        <p:spPr>
          <a:xfrm>
            <a:off x="2617920" y="2704680"/>
            <a:ext cx="475200" cy="32400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30" name="TextBox 29"/>
          <p:cNvSpPr/>
          <p:nvPr/>
        </p:nvSpPr>
        <p:spPr>
          <a:xfrm>
            <a:off x="2617920" y="2704680"/>
            <a:ext cx="4752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72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1" name="Rectangle 30"/>
          <p:cNvSpPr/>
          <p:nvPr/>
        </p:nvSpPr>
        <p:spPr>
          <a:xfrm>
            <a:off x="3093480" y="2704680"/>
            <a:ext cx="475200" cy="32400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32" name="TextBox 31"/>
          <p:cNvSpPr/>
          <p:nvPr/>
        </p:nvSpPr>
        <p:spPr>
          <a:xfrm>
            <a:off x="3093480" y="2704680"/>
            <a:ext cx="4752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48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3" name="Rectangle 32"/>
          <p:cNvSpPr/>
          <p:nvPr/>
        </p:nvSpPr>
        <p:spPr>
          <a:xfrm>
            <a:off x="716040" y="3029040"/>
            <a:ext cx="475200" cy="324000"/>
          </a:xfrm>
          <a:prstGeom prst="rect">
            <a:avLst/>
          </a:prstGeom>
          <a:solidFill>
            <a:srgbClr val="102030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34" name="TextBox 33"/>
          <p:cNvSpPr/>
          <p:nvPr/>
        </p:nvSpPr>
        <p:spPr>
          <a:xfrm>
            <a:off x="716040" y="3029040"/>
            <a:ext cx="4752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85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5" name="Rectangle 34"/>
          <p:cNvSpPr/>
          <p:nvPr/>
        </p:nvSpPr>
        <p:spPr>
          <a:xfrm>
            <a:off x="1191600" y="3029040"/>
            <a:ext cx="475200" cy="324000"/>
          </a:xfrm>
          <a:prstGeom prst="rect">
            <a:avLst/>
          </a:prstGeom>
          <a:solidFill>
            <a:srgbClr val="102030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36" name="TextBox 35"/>
          <p:cNvSpPr/>
          <p:nvPr/>
        </p:nvSpPr>
        <p:spPr>
          <a:xfrm>
            <a:off x="1191600" y="3029040"/>
            <a:ext cx="4752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175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7" name="Rectangle 36"/>
          <p:cNvSpPr/>
          <p:nvPr/>
        </p:nvSpPr>
        <p:spPr>
          <a:xfrm>
            <a:off x="1667160" y="3029040"/>
            <a:ext cx="475200" cy="324000"/>
          </a:xfrm>
          <a:prstGeom prst="rect">
            <a:avLst/>
          </a:prstGeom>
          <a:solidFill>
            <a:srgbClr val="102030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38" name="TextBox 37"/>
          <p:cNvSpPr/>
          <p:nvPr/>
        </p:nvSpPr>
        <p:spPr>
          <a:xfrm>
            <a:off x="1667160" y="3029040"/>
            <a:ext cx="4752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208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9" name="Rectangle 38"/>
          <p:cNvSpPr/>
          <p:nvPr/>
        </p:nvSpPr>
        <p:spPr>
          <a:xfrm>
            <a:off x="2142360" y="3029040"/>
            <a:ext cx="475200" cy="32400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40" name="TextBox 39"/>
          <p:cNvSpPr/>
          <p:nvPr/>
        </p:nvSpPr>
        <p:spPr>
          <a:xfrm>
            <a:off x="2142360" y="3029040"/>
            <a:ext cx="4752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98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1" name="Rectangle 40"/>
          <p:cNvSpPr/>
          <p:nvPr/>
        </p:nvSpPr>
        <p:spPr>
          <a:xfrm>
            <a:off x="2617920" y="3029040"/>
            <a:ext cx="475200" cy="32400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42" name="TextBox 41"/>
          <p:cNvSpPr/>
          <p:nvPr/>
        </p:nvSpPr>
        <p:spPr>
          <a:xfrm>
            <a:off x="2617920" y="3029040"/>
            <a:ext cx="4752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68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3" name="Rectangle 42"/>
          <p:cNvSpPr/>
          <p:nvPr/>
        </p:nvSpPr>
        <p:spPr>
          <a:xfrm>
            <a:off x="3093480" y="3029040"/>
            <a:ext cx="475200" cy="32400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44" name="TextBox 43"/>
          <p:cNvSpPr/>
          <p:nvPr/>
        </p:nvSpPr>
        <p:spPr>
          <a:xfrm>
            <a:off x="3093480" y="3029040"/>
            <a:ext cx="4752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45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5" name="Rectangle 44"/>
          <p:cNvSpPr/>
          <p:nvPr/>
        </p:nvSpPr>
        <p:spPr>
          <a:xfrm>
            <a:off x="716040" y="3353040"/>
            <a:ext cx="475200" cy="32436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46" name="TextBox 45"/>
          <p:cNvSpPr/>
          <p:nvPr/>
        </p:nvSpPr>
        <p:spPr>
          <a:xfrm>
            <a:off x="716040" y="3353040"/>
            <a:ext cx="4752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102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7" name="Rectangle 46"/>
          <p:cNvSpPr/>
          <p:nvPr/>
        </p:nvSpPr>
        <p:spPr>
          <a:xfrm>
            <a:off x="1191600" y="3353040"/>
            <a:ext cx="475200" cy="32436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48" name="TextBox 47"/>
          <p:cNvSpPr/>
          <p:nvPr/>
        </p:nvSpPr>
        <p:spPr>
          <a:xfrm>
            <a:off x="1191600" y="3353040"/>
            <a:ext cx="4752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162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9" name="Rectangle 48"/>
          <p:cNvSpPr/>
          <p:nvPr/>
        </p:nvSpPr>
        <p:spPr>
          <a:xfrm>
            <a:off x="1667160" y="3353040"/>
            <a:ext cx="475200" cy="32436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50" name="TextBox 49"/>
          <p:cNvSpPr/>
          <p:nvPr/>
        </p:nvSpPr>
        <p:spPr>
          <a:xfrm>
            <a:off x="1667160" y="3353040"/>
            <a:ext cx="4752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193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1" name="Rectangle 50"/>
          <p:cNvSpPr/>
          <p:nvPr/>
        </p:nvSpPr>
        <p:spPr>
          <a:xfrm>
            <a:off x="2142360" y="3353040"/>
            <a:ext cx="475200" cy="32436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52" name="TextBox 51"/>
          <p:cNvSpPr/>
          <p:nvPr/>
        </p:nvSpPr>
        <p:spPr>
          <a:xfrm>
            <a:off x="2142360" y="3353040"/>
            <a:ext cx="4752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87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3" name="Rectangle 52"/>
          <p:cNvSpPr/>
          <p:nvPr/>
        </p:nvSpPr>
        <p:spPr>
          <a:xfrm>
            <a:off x="2617920" y="3353040"/>
            <a:ext cx="475200" cy="32436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54" name="TextBox 53"/>
          <p:cNvSpPr/>
          <p:nvPr/>
        </p:nvSpPr>
        <p:spPr>
          <a:xfrm>
            <a:off x="2617920" y="3353040"/>
            <a:ext cx="4752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58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5" name="Rectangle 54"/>
          <p:cNvSpPr/>
          <p:nvPr/>
        </p:nvSpPr>
        <p:spPr>
          <a:xfrm>
            <a:off x="3093480" y="3353040"/>
            <a:ext cx="475200" cy="32436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56" name="TextBox 55"/>
          <p:cNvSpPr/>
          <p:nvPr/>
        </p:nvSpPr>
        <p:spPr>
          <a:xfrm>
            <a:off x="3093480" y="3353040"/>
            <a:ext cx="4752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40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7" name="Rectangle 56"/>
          <p:cNvSpPr/>
          <p:nvPr/>
        </p:nvSpPr>
        <p:spPr>
          <a:xfrm>
            <a:off x="716040" y="3677400"/>
            <a:ext cx="475200" cy="32436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58" name="TextBox 57"/>
          <p:cNvSpPr/>
          <p:nvPr/>
        </p:nvSpPr>
        <p:spPr>
          <a:xfrm>
            <a:off x="716040" y="3677400"/>
            <a:ext cx="4752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110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9" name="Rectangle 58"/>
          <p:cNvSpPr/>
          <p:nvPr/>
        </p:nvSpPr>
        <p:spPr>
          <a:xfrm>
            <a:off x="1191600" y="3677400"/>
            <a:ext cx="475200" cy="32436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60" name="TextBox 59"/>
          <p:cNvSpPr/>
          <p:nvPr/>
        </p:nvSpPr>
        <p:spPr>
          <a:xfrm>
            <a:off x="1191600" y="3677400"/>
            <a:ext cx="4752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155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1" name="Rectangle 60"/>
          <p:cNvSpPr/>
          <p:nvPr/>
        </p:nvSpPr>
        <p:spPr>
          <a:xfrm>
            <a:off x="1667160" y="3677400"/>
            <a:ext cx="475200" cy="32436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62" name="TextBox 61"/>
          <p:cNvSpPr/>
          <p:nvPr/>
        </p:nvSpPr>
        <p:spPr>
          <a:xfrm>
            <a:off x="1667160" y="3677400"/>
            <a:ext cx="4752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197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3" name="Rectangle 62"/>
          <p:cNvSpPr/>
          <p:nvPr/>
        </p:nvSpPr>
        <p:spPr>
          <a:xfrm>
            <a:off x="2142360" y="3677400"/>
            <a:ext cx="475200" cy="32436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64" name="TextBox 63"/>
          <p:cNvSpPr/>
          <p:nvPr/>
        </p:nvSpPr>
        <p:spPr>
          <a:xfrm>
            <a:off x="2142360" y="3677400"/>
            <a:ext cx="4752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78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5" name="Rectangle 64"/>
          <p:cNvSpPr/>
          <p:nvPr/>
        </p:nvSpPr>
        <p:spPr>
          <a:xfrm>
            <a:off x="2617920" y="3677400"/>
            <a:ext cx="475200" cy="32436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66" name="TextBox 65"/>
          <p:cNvSpPr/>
          <p:nvPr/>
        </p:nvSpPr>
        <p:spPr>
          <a:xfrm>
            <a:off x="2617920" y="3677400"/>
            <a:ext cx="4752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52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7" name="Rectangle 66"/>
          <p:cNvSpPr/>
          <p:nvPr/>
        </p:nvSpPr>
        <p:spPr>
          <a:xfrm>
            <a:off x="3093480" y="3677400"/>
            <a:ext cx="475200" cy="32436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68" name="TextBox 67"/>
          <p:cNvSpPr/>
          <p:nvPr/>
        </p:nvSpPr>
        <p:spPr>
          <a:xfrm>
            <a:off x="3093480" y="3677400"/>
            <a:ext cx="4752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38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9" name="Rectangle 68"/>
          <p:cNvSpPr/>
          <p:nvPr/>
        </p:nvSpPr>
        <p:spPr>
          <a:xfrm>
            <a:off x="716040" y="4001760"/>
            <a:ext cx="475200" cy="32436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70" name="TextBox 69"/>
          <p:cNvSpPr/>
          <p:nvPr/>
        </p:nvSpPr>
        <p:spPr>
          <a:xfrm>
            <a:off x="716040" y="4001760"/>
            <a:ext cx="4752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100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1" name="Rectangle 70"/>
          <p:cNvSpPr/>
          <p:nvPr/>
        </p:nvSpPr>
        <p:spPr>
          <a:xfrm>
            <a:off x="1191600" y="4001760"/>
            <a:ext cx="475200" cy="32436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72" name="TextBox 71"/>
          <p:cNvSpPr/>
          <p:nvPr/>
        </p:nvSpPr>
        <p:spPr>
          <a:xfrm>
            <a:off x="1191600" y="4001760"/>
            <a:ext cx="4752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148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3" name="Rectangle 72"/>
          <p:cNvSpPr/>
          <p:nvPr/>
        </p:nvSpPr>
        <p:spPr>
          <a:xfrm>
            <a:off x="1667160" y="4001760"/>
            <a:ext cx="475200" cy="32436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74" name="TextBox 73"/>
          <p:cNvSpPr/>
          <p:nvPr/>
        </p:nvSpPr>
        <p:spPr>
          <a:xfrm>
            <a:off x="1667160" y="4001760"/>
            <a:ext cx="4752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188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5" name="Rectangle 74"/>
          <p:cNvSpPr/>
          <p:nvPr/>
        </p:nvSpPr>
        <p:spPr>
          <a:xfrm>
            <a:off x="2142360" y="4001760"/>
            <a:ext cx="475200" cy="32436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76" name="TextBox 75"/>
          <p:cNvSpPr/>
          <p:nvPr/>
        </p:nvSpPr>
        <p:spPr>
          <a:xfrm>
            <a:off x="2142360" y="4001760"/>
            <a:ext cx="4752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72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7" name="Rectangle 76"/>
          <p:cNvSpPr/>
          <p:nvPr/>
        </p:nvSpPr>
        <p:spPr>
          <a:xfrm>
            <a:off x="2617920" y="4001760"/>
            <a:ext cx="475200" cy="32436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78" name="TextBox 77"/>
          <p:cNvSpPr/>
          <p:nvPr/>
        </p:nvSpPr>
        <p:spPr>
          <a:xfrm>
            <a:off x="2617920" y="4001760"/>
            <a:ext cx="4752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48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9" name="Rectangle 78"/>
          <p:cNvSpPr/>
          <p:nvPr/>
        </p:nvSpPr>
        <p:spPr>
          <a:xfrm>
            <a:off x="3093480" y="4001760"/>
            <a:ext cx="475200" cy="32436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80" name="TextBox 79"/>
          <p:cNvSpPr/>
          <p:nvPr/>
        </p:nvSpPr>
        <p:spPr>
          <a:xfrm>
            <a:off x="3093480" y="4001760"/>
            <a:ext cx="4752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35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1" name="Rectangle 80"/>
          <p:cNvSpPr/>
          <p:nvPr/>
        </p:nvSpPr>
        <p:spPr>
          <a:xfrm>
            <a:off x="716040" y="2380320"/>
            <a:ext cx="475200" cy="324000"/>
          </a:xfrm>
          <a:prstGeom prst="rect">
            <a:avLst/>
          </a:prstGeom>
          <a:solidFill>
            <a:srgbClr val="102030"/>
          </a:solidFill>
          <a:ln w="25400">
            <a:solidFill>
              <a:srgbClr val="00d4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82" name="Rectangle 81"/>
          <p:cNvSpPr/>
          <p:nvPr/>
        </p:nvSpPr>
        <p:spPr>
          <a:xfrm>
            <a:off x="1191600" y="2380320"/>
            <a:ext cx="475200" cy="324000"/>
          </a:xfrm>
          <a:prstGeom prst="rect">
            <a:avLst/>
          </a:prstGeom>
          <a:solidFill>
            <a:srgbClr val="102030"/>
          </a:solidFill>
          <a:ln w="25400">
            <a:solidFill>
              <a:srgbClr val="00d4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83" name="Rectangle 82"/>
          <p:cNvSpPr/>
          <p:nvPr/>
        </p:nvSpPr>
        <p:spPr>
          <a:xfrm>
            <a:off x="1667160" y="2380320"/>
            <a:ext cx="475200" cy="324000"/>
          </a:xfrm>
          <a:prstGeom prst="rect">
            <a:avLst/>
          </a:prstGeom>
          <a:solidFill>
            <a:srgbClr val="102030"/>
          </a:solidFill>
          <a:ln w="25400">
            <a:solidFill>
              <a:srgbClr val="00d4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84" name="Rectangle 83"/>
          <p:cNvSpPr/>
          <p:nvPr/>
        </p:nvSpPr>
        <p:spPr>
          <a:xfrm>
            <a:off x="716040" y="2704680"/>
            <a:ext cx="475200" cy="324000"/>
          </a:xfrm>
          <a:prstGeom prst="rect">
            <a:avLst/>
          </a:prstGeom>
          <a:solidFill>
            <a:srgbClr val="102030"/>
          </a:solidFill>
          <a:ln w="25400">
            <a:solidFill>
              <a:srgbClr val="00d4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85" name="Rectangle 84"/>
          <p:cNvSpPr/>
          <p:nvPr/>
        </p:nvSpPr>
        <p:spPr>
          <a:xfrm>
            <a:off x="1191600" y="2704680"/>
            <a:ext cx="475200" cy="324000"/>
          </a:xfrm>
          <a:prstGeom prst="rect">
            <a:avLst/>
          </a:prstGeom>
          <a:solidFill>
            <a:srgbClr val="102030"/>
          </a:solidFill>
          <a:ln w="25400">
            <a:solidFill>
              <a:srgbClr val="00d4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86" name="Rectangle 85"/>
          <p:cNvSpPr/>
          <p:nvPr/>
        </p:nvSpPr>
        <p:spPr>
          <a:xfrm>
            <a:off x="1667160" y="2704680"/>
            <a:ext cx="475200" cy="324000"/>
          </a:xfrm>
          <a:prstGeom prst="rect">
            <a:avLst/>
          </a:prstGeom>
          <a:solidFill>
            <a:srgbClr val="102030"/>
          </a:solidFill>
          <a:ln w="25400">
            <a:solidFill>
              <a:srgbClr val="00d4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87" name="Rectangle 86"/>
          <p:cNvSpPr/>
          <p:nvPr/>
        </p:nvSpPr>
        <p:spPr>
          <a:xfrm>
            <a:off x="716040" y="3029040"/>
            <a:ext cx="475200" cy="324000"/>
          </a:xfrm>
          <a:prstGeom prst="rect">
            <a:avLst/>
          </a:prstGeom>
          <a:solidFill>
            <a:srgbClr val="102030"/>
          </a:solidFill>
          <a:ln w="25400">
            <a:solidFill>
              <a:srgbClr val="00d4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88" name="Rectangle 87"/>
          <p:cNvSpPr/>
          <p:nvPr/>
        </p:nvSpPr>
        <p:spPr>
          <a:xfrm>
            <a:off x="1191600" y="3029040"/>
            <a:ext cx="475200" cy="324000"/>
          </a:xfrm>
          <a:prstGeom prst="rect">
            <a:avLst/>
          </a:prstGeom>
          <a:solidFill>
            <a:srgbClr val="102030"/>
          </a:solidFill>
          <a:ln w="25400">
            <a:solidFill>
              <a:srgbClr val="00d4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89" name="Rectangle 88"/>
          <p:cNvSpPr/>
          <p:nvPr/>
        </p:nvSpPr>
        <p:spPr>
          <a:xfrm>
            <a:off x="1667160" y="3029040"/>
            <a:ext cx="475200" cy="324000"/>
          </a:xfrm>
          <a:prstGeom prst="rect">
            <a:avLst/>
          </a:prstGeom>
          <a:solidFill>
            <a:srgbClr val="102030"/>
          </a:solidFill>
          <a:ln w="25400">
            <a:solidFill>
              <a:srgbClr val="00d4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90" name="TextBox 89"/>
          <p:cNvSpPr/>
          <p:nvPr/>
        </p:nvSpPr>
        <p:spPr>
          <a:xfrm>
            <a:off x="3538440" y="3116160"/>
            <a:ext cx="45684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00d4ff"/>
                </a:solidFill>
                <a:effectLst/>
                <a:uFillTx/>
                <a:latin typeface="Calibri"/>
              </a:rPr>
              <a:t>→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1" name="Rectangle 90"/>
          <p:cNvSpPr/>
          <p:nvPr/>
        </p:nvSpPr>
        <p:spPr>
          <a:xfrm>
            <a:off x="3995640" y="3070440"/>
            <a:ext cx="639720" cy="520920"/>
          </a:xfrm>
          <a:prstGeom prst="rect">
            <a:avLst/>
          </a:prstGeom>
          <a:solidFill>
            <a:srgbClr val="121e3a"/>
          </a:solidFill>
          <a:ln w="19050">
            <a:solidFill>
              <a:srgbClr val="00d4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92" name="TextBox 91"/>
          <p:cNvSpPr/>
          <p:nvPr/>
        </p:nvSpPr>
        <p:spPr>
          <a:xfrm>
            <a:off x="3995640" y="3178440"/>
            <a:ext cx="63972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00d4ff"/>
                </a:solidFill>
                <a:effectLst/>
                <a:uFillTx/>
                <a:latin typeface="Calibri"/>
              </a:rPr>
              <a:t>210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3" name="TextBox 92"/>
          <p:cNvSpPr/>
          <p:nvPr/>
        </p:nvSpPr>
        <p:spPr>
          <a:xfrm>
            <a:off x="4114800" y="2311200"/>
            <a:ext cx="56520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300" b="1" u="none" strike="noStrike">
                <a:solidFill>
                  <a:srgbClr val="ffcc00"/>
                </a:solidFill>
                <a:effectLst/>
                <a:uFillTx/>
                <a:latin typeface="Calibri"/>
              </a:rPr>
              <a:t>Pos 2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cc00"/>
                </a:solidFill>
                <a:effectLst/>
                <a:uFillTx/>
                <a:latin typeface="Calibri"/>
              </a:rPr>
              <a:t>(0,1)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4" name="Rectangle 93"/>
          <p:cNvSpPr/>
          <p:nvPr/>
        </p:nvSpPr>
        <p:spPr>
          <a:xfrm>
            <a:off x="4707360" y="2383200"/>
            <a:ext cx="475200" cy="32400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95" name="TextBox 94"/>
          <p:cNvSpPr/>
          <p:nvPr/>
        </p:nvSpPr>
        <p:spPr>
          <a:xfrm>
            <a:off x="4707360" y="2383200"/>
            <a:ext cx="4752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120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6" name="Rectangle 95"/>
          <p:cNvSpPr/>
          <p:nvPr/>
        </p:nvSpPr>
        <p:spPr>
          <a:xfrm>
            <a:off x="5182920" y="2383200"/>
            <a:ext cx="475200" cy="324000"/>
          </a:xfrm>
          <a:prstGeom prst="rect">
            <a:avLst/>
          </a:prstGeom>
          <a:solidFill>
            <a:srgbClr val="102030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97" name="TextBox 96"/>
          <p:cNvSpPr/>
          <p:nvPr/>
        </p:nvSpPr>
        <p:spPr>
          <a:xfrm>
            <a:off x="5182920" y="2383200"/>
            <a:ext cx="4752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145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8" name="Rectangle 97"/>
          <p:cNvSpPr/>
          <p:nvPr/>
        </p:nvSpPr>
        <p:spPr>
          <a:xfrm>
            <a:off x="5658480" y="2383200"/>
            <a:ext cx="475200" cy="324000"/>
          </a:xfrm>
          <a:prstGeom prst="rect">
            <a:avLst/>
          </a:prstGeom>
          <a:solidFill>
            <a:srgbClr val="102030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99" name="TextBox 98"/>
          <p:cNvSpPr/>
          <p:nvPr/>
        </p:nvSpPr>
        <p:spPr>
          <a:xfrm>
            <a:off x="5658480" y="2383200"/>
            <a:ext cx="4752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200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0" name="Rectangle 99"/>
          <p:cNvSpPr/>
          <p:nvPr/>
        </p:nvSpPr>
        <p:spPr>
          <a:xfrm>
            <a:off x="6133680" y="2383200"/>
            <a:ext cx="475200" cy="324000"/>
          </a:xfrm>
          <a:prstGeom prst="rect">
            <a:avLst/>
          </a:prstGeom>
          <a:solidFill>
            <a:srgbClr val="102030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01" name="TextBox 100"/>
          <p:cNvSpPr/>
          <p:nvPr/>
        </p:nvSpPr>
        <p:spPr>
          <a:xfrm>
            <a:off x="6133680" y="2383200"/>
            <a:ext cx="4752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90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2" name="Rectangle 101"/>
          <p:cNvSpPr/>
          <p:nvPr/>
        </p:nvSpPr>
        <p:spPr>
          <a:xfrm>
            <a:off x="6609240" y="2383200"/>
            <a:ext cx="475200" cy="32400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03" name="TextBox 102"/>
          <p:cNvSpPr/>
          <p:nvPr/>
        </p:nvSpPr>
        <p:spPr>
          <a:xfrm>
            <a:off x="6609240" y="2383200"/>
            <a:ext cx="4752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65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4" name="Rectangle 103"/>
          <p:cNvSpPr/>
          <p:nvPr/>
        </p:nvSpPr>
        <p:spPr>
          <a:xfrm>
            <a:off x="7084800" y="2383200"/>
            <a:ext cx="475200" cy="32400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05" name="TextBox 104"/>
          <p:cNvSpPr/>
          <p:nvPr/>
        </p:nvSpPr>
        <p:spPr>
          <a:xfrm>
            <a:off x="7084800" y="2383200"/>
            <a:ext cx="4752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50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6" name="Rectangle 105"/>
          <p:cNvSpPr/>
          <p:nvPr/>
        </p:nvSpPr>
        <p:spPr>
          <a:xfrm>
            <a:off x="4707360" y="2707560"/>
            <a:ext cx="475200" cy="32400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07" name="TextBox 106"/>
          <p:cNvSpPr/>
          <p:nvPr/>
        </p:nvSpPr>
        <p:spPr>
          <a:xfrm>
            <a:off x="4707360" y="2707560"/>
            <a:ext cx="4752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95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8" name="Rectangle 107"/>
          <p:cNvSpPr/>
          <p:nvPr/>
        </p:nvSpPr>
        <p:spPr>
          <a:xfrm>
            <a:off x="5182920" y="2707560"/>
            <a:ext cx="475200" cy="324000"/>
          </a:xfrm>
          <a:prstGeom prst="rect">
            <a:avLst/>
          </a:prstGeom>
          <a:solidFill>
            <a:srgbClr val="102030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09" name="TextBox 108"/>
          <p:cNvSpPr/>
          <p:nvPr/>
        </p:nvSpPr>
        <p:spPr>
          <a:xfrm>
            <a:off x="5182920" y="2707560"/>
            <a:ext cx="4752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180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0" name="Rectangle 109"/>
          <p:cNvSpPr/>
          <p:nvPr/>
        </p:nvSpPr>
        <p:spPr>
          <a:xfrm>
            <a:off x="5658480" y="2707560"/>
            <a:ext cx="475200" cy="324000"/>
          </a:xfrm>
          <a:prstGeom prst="rect">
            <a:avLst/>
          </a:prstGeom>
          <a:solidFill>
            <a:srgbClr val="102030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11" name="TextBox 110"/>
          <p:cNvSpPr/>
          <p:nvPr/>
        </p:nvSpPr>
        <p:spPr>
          <a:xfrm>
            <a:off x="5658480" y="2707560"/>
            <a:ext cx="4752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215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2" name="Rectangle 111"/>
          <p:cNvSpPr/>
          <p:nvPr/>
        </p:nvSpPr>
        <p:spPr>
          <a:xfrm>
            <a:off x="6133680" y="2707560"/>
            <a:ext cx="475200" cy="324000"/>
          </a:xfrm>
          <a:prstGeom prst="rect">
            <a:avLst/>
          </a:prstGeom>
          <a:solidFill>
            <a:srgbClr val="102030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13" name="TextBox 112"/>
          <p:cNvSpPr/>
          <p:nvPr/>
        </p:nvSpPr>
        <p:spPr>
          <a:xfrm>
            <a:off x="6133680" y="2707560"/>
            <a:ext cx="4752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105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4" name="Rectangle 113"/>
          <p:cNvSpPr/>
          <p:nvPr/>
        </p:nvSpPr>
        <p:spPr>
          <a:xfrm>
            <a:off x="6609240" y="2707560"/>
            <a:ext cx="475200" cy="32400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15" name="TextBox 114"/>
          <p:cNvSpPr/>
          <p:nvPr/>
        </p:nvSpPr>
        <p:spPr>
          <a:xfrm>
            <a:off x="6609240" y="2707560"/>
            <a:ext cx="4752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72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6" name="Rectangle 115"/>
          <p:cNvSpPr/>
          <p:nvPr/>
        </p:nvSpPr>
        <p:spPr>
          <a:xfrm>
            <a:off x="7084800" y="2707560"/>
            <a:ext cx="475200" cy="32400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17" name="TextBox 116"/>
          <p:cNvSpPr/>
          <p:nvPr/>
        </p:nvSpPr>
        <p:spPr>
          <a:xfrm>
            <a:off x="7084800" y="2707560"/>
            <a:ext cx="4752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48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8" name="Rectangle 117"/>
          <p:cNvSpPr/>
          <p:nvPr/>
        </p:nvSpPr>
        <p:spPr>
          <a:xfrm>
            <a:off x="4707360" y="3031920"/>
            <a:ext cx="475200" cy="32400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19" name="TextBox 118"/>
          <p:cNvSpPr/>
          <p:nvPr/>
        </p:nvSpPr>
        <p:spPr>
          <a:xfrm>
            <a:off x="4707360" y="3031920"/>
            <a:ext cx="4752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85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0" name="Rectangle 119"/>
          <p:cNvSpPr/>
          <p:nvPr/>
        </p:nvSpPr>
        <p:spPr>
          <a:xfrm>
            <a:off x="5182920" y="3031920"/>
            <a:ext cx="475200" cy="324000"/>
          </a:xfrm>
          <a:prstGeom prst="rect">
            <a:avLst/>
          </a:prstGeom>
          <a:solidFill>
            <a:srgbClr val="102030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1" name="TextBox 120"/>
          <p:cNvSpPr/>
          <p:nvPr/>
        </p:nvSpPr>
        <p:spPr>
          <a:xfrm>
            <a:off x="5182920" y="3031920"/>
            <a:ext cx="4752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175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2" name="Rectangle 121"/>
          <p:cNvSpPr/>
          <p:nvPr/>
        </p:nvSpPr>
        <p:spPr>
          <a:xfrm>
            <a:off x="5658480" y="3031920"/>
            <a:ext cx="475200" cy="324000"/>
          </a:xfrm>
          <a:prstGeom prst="rect">
            <a:avLst/>
          </a:prstGeom>
          <a:solidFill>
            <a:srgbClr val="102030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3" name="TextBox 122"/>
          <p:cNvSpPr/>
          <p:nvPr/>
        </p:nvSpPr>
        <p:spPr>
          <a:xfrm>
            <a:off x="5658480" y="3031920"/>
            <a:ext cx="4752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208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4" name="Rectangle 123"/>
          <p:cNvSpPr/>
          <p:nvPr/>
        </p:nvSpPr>
        <p:spPr>
          <a:xfrm>
            <a:off x="6133680" y="3031920"/>
            <a:ext cx="475200" cy="324000"/>
          </a:xfrm>
          <a:prstGeom prst="rect">
            <a:avLst/>
          </a:prstGeom>
          <a:solidFill>
            <a:srgbClr val="102030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5" name="TextBox 124"/>
          <p:cNvSpPr/>
          <p:nvPr/>
        </p:nvSpPr>
        <p:spPr>
          <a:xfrm>
            <a:off x="6133680" y="3031920"/>
            <a:ext cx="4752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98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6" name="Rectangle 125"/>
          <p:cNvSpPr/>
          <p:nvPr/>
        </p:nvSpPr>
        <p:spPr>
          <a:xfrm>
            <a:off x="6609240" y="3031920"/>
            <a:ext cx="475200" cy="32400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7" name="TextBox 126"/>
          <p:cNvSpPr/>
          <p:nvPr/>
        </p:nvSpPr>
        <p:spPr>
          <a:xfrm>
            <a:off x="6609240" y="3031920"/>
            <a:ext cx="4752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68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8" name="Rectangle 127"/>
          <p:cNvSpPr/>
          <p:nvPr/>
        </p:nvSpPr>
        <p:spPr>
          <a:xfrm>
            <a:off x="7084800" y="3031920"/>
            <a:ext cx="475200" cy="32400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9" name="TextBox 128"/>
          <p:cNvSpPr/>
          <p:nvPr/>
        </p:nvSpPr>
        <p:spPr>
          <a:xfrm>
            <a:off x="7084800" y="3031920"/>
            <a:ext cx="4752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45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0" name="Rectangle 129"/>
          <p:cNvSpPr/>
          <p:nvPr/>
        </p:nvSpPr>
        <p:spPr>
          <a:xfrm>
            <a:off x="4707360" y="3355920"/>
            <a:ext cx="475200" cy="32436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31" name="TextBox 130"/>
          <p:cNvSpPr/>
          <p:nvPr/>
        </p:nvSpPr>
        <p:spPr>
          <a:xfrm>
            <a:off x="4707360" y="3355920"/>
            <a:ext cx="4752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102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2" name="Rectangle 131"/>
          <p:cNvSpPr/>
          <p:nvPr/>
        </p:nvSpPr>
        <p:spPr>
          <a:xfrm>
            <a:off x="5182920" y="3355920"/>
            <a:ext cx="475200" cy="32436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33" name="TextBox 132"/>
          <p:cNvSpPr/>
          <p:nvPr/>
        </p:nvSpPr>
        <p:spPr>
          <a:xfrm>
            <a:off x="5182920" y="3355920"/>
            <a:ext cx="4752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162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4" name="Rectangle 133"/>
          <p:cNvSpPr/>
          <p:nvPr/>
        </p:nvSpPr>
        <p:spPr>
          <a:xfrm>
            <a:off x="5658480" y="3355920"/>
            <a:ext cx="475200" cy="32436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35" name="TextBox 134"/>
          <p:cNvSpPr/>
          <p:nvPr/>
        </p:nvSpPr>
        <p:spPr>
          <a:xfrm>
            <a:off x="5658480" y="3355920"/>
            <a:ext cx="4752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193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6" name="Rectangle 135"/>
          <p:cNvSpPr/>
          <p:nvPr/>
        </p:nvSpPr>
        <p:spPr>
          <a:xfrm>
            <a:off x="6133680" y="3355920"/>
            <a:ext cx="475200" cy="32436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37" name="TextBox 136"/>
          <p:cNvSpPr/>
          <p:nvPr/>
        </p:nvSpPr>
        <p:spPr>
          <a:xfrm>
            <a:off x="6133680" y="3355920"/>
            <a:ext cx="4752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87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8" name="Rectangle 137"/>
          <p:cNvSpPr/>
          <p:nvPr/>
        </p:nvSpPr>
        <p:spPr>
          <a:xfrm>
            <a:off x="6609240" y="3355920"/>
            <a:ext cx="475200" cy="32436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39" name="TextBox 138"/>
          <p:cNvSpPr/>
          <p:nvPr/>
        </p:nvSpPr>
        <p:spPr>
          <a:xfrm>
            <a:off x="6609240" y="3355920"/>
            <a:ext cx="4752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58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0" name="Rectangle 139"/>
          <p:cNvSpPr/>
          <p:nvPr/>
        </p:nvSpPr>
        <p:spPr>
          <a:xfrm>
            <a:off x="7084800" y="3355920"/>
            <a:ext cx="475200" cy="32436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41" name="TextBox 140"/>
          <p:cNvSpPr/>
          <p:nvPr/>
        </p:nvSpPr>
        <p:spPr>
          <a:xfrm>
            <a:off x="7084800" y="3355920"/>
            <a:ext cx="4752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40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2" name="Rectangle 141"/>
          <p:cNvSpPr/>
          <p:nvPr/>
        </p:nvSpPr>
        <p:spPr>
          <a:xfrm>
            <a:off x="4707360" y="3680280"/>
            <a:ext cx="475200" cy="32436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43" name="TextBox 142"/>
          <p:cNvSpPr/>
          <p:nvPr/>
        </p:nvSpPr>
        <p:spPr>
          <a:xfrm>
            <a:off x="4707360" y="3680280"/>
            <a:ext cx="4752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110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4" name="Rectangle 143"/>
          <p:cNvSpPr/>
          <p:nvPr/>
        </p:nvSpPr>
        <p:spPr>
          <a:xfrm>
            <a:off x="5182920" y="3680280"/>
            <a:ext cx="475200" cy="32436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45" name="TextBox 144"/>
          <p:cNvSpPr/>
          <p:nvPr/>
        </p:nvSpPr>
        <p:spPr>
          <a:xfrm>
            <a:off x="5182920" y="3680280"/>
            <a:ext cx="4752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155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6" name="Rectangle 145"/>
          <p:cNvSpPr/>
          <p:nvPr/>
        </p:nvSpPr>
        <p:spPr>
          <a:xfrm>
            <a:off x="5658480" y="3680280"/>
            <a:ext cx="475200" cy="32436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47" name="TextBox 146"/>
          <p:cNvSpPr/>
          <p:nvPr/>
        </p:nvSpPr>
        <p:spPr>
          <a:xfrm>
            <a:off x="5658480" y="3680280"/>
            <a:ext cx="4752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197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8" name="Rectangle 147"/>
          <p:cNvSpPr/>
          <p:nvPr/>
        </p:nvSpPr>
        <p:spPr>
          <a:xfrm>
            <a:off x="6133680" y="3680280"/>
            <a:ext cx="475200" cy="32436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49" name="TextBox 148"/>
          <p:cNvSpPr/>
          <p:nvPr/>
        </p:nvSpPr>
        <p:spPr>
          <a:xfrm>
            <a:off x="6133680" y="3680280"/>
            <a:ext cx="4752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78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0" name="Rectangle 149"/>
          <p:cNvSpPr/>
          <p:nvPr/>
        </p:nvSpPr>
        <p:spPr>
          <a:xfrm>
            <a:off x="6609240" y="3680280"/>
            <a:ext cx="475200" cy="32436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51" name="TextBox 150"/>
          <p:cNvSpPr/>
          <p:nvPr/>
        </p:nvSpPr>
        <p:spPr>
          <a:xfrm>
            <a:off x="6609240" y="3680280"/>
            <a:ext cx="4752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52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2" name="Rectangle 151"/>
          <p:cNvSpPr/>
          <p:nvPr/>
        </p:nvSpPr>
        <p:spPr>
          <a:xfrm>
            <a:off x="7084800" y="3680280"/>
            <a:ext cx="475200" cy="32436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53" name="TextBox 152"/>
          <p:cNvSpPr/>
          <p:nvPr/>
        </p:nvSpPr>
        <p:spPr>
          <a:xfrm>
            <a:off x="7084800" y="3680280"/>
            <a:ext cx="4752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38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4" name="Rectangle 153"/>
          <p:cNvSpPr/>
          <p:nvPr/>
        </p:nvSpPr>
        <p:spPr>
          <a:xfrm>
            <a:off x="4707360" y="4004640"/>
            <a:ext cx="475200" cy="32436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55" name="TextBox 154"/>
          <p:cNvSpPr/>
          <p:nvPr/>
        </p:nvSpPr>
        <p:spPr>
          <a:xfrm>
            <a:off x="4707360" y="4004640"/>
            <a:ext cx="4752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100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6" name="Rectangle 155"/>
          <p:cNvSpPr/>
          <p:nvPr/>
        </p:nvSpPr>
        <p:spPr>
          <a:xfrm>
            <a:off x="5182920" y="4004640"/>
            <a:ext cx="475200" cy="32436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57" name="TextBox 156"/>
          <p:cNvSpPr/>
          <p:nvPr/>
        </p:nvSpPr>
        <p:spPr>
          <a:xfrm>
            <a:off x="5182920" y="4004640"/>
            <a:ext cx="4752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148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8" name="Rectangle 157"/>
          <p:cNvSpPr/>
          <p:nvPr/>
        </p:nvSpPr>
        <p:spPr>
          <a:xfrm>
            <a:off x="5658480" y="4004640"/>
            <a:ext cx="475200" cy="32436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59" name="TextBox 158"/>
          <p:cNvSpPr/>
          <p:nvPr/>
        </p:nvSpPr>
        <p:spPr>
          <a:xfrm>
            <a:off x="5658480" y="4004640"/>
            <a:ext cx="4752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188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0" name="Rectangle 159"/>
          <p:cNvSpPr/>
          <p:nvPr/>
        </p:nvSpPr>
        <p:spPr>
          <a:xfrm>
            <a:off x="6133680" y="4004640"/>
            <a:ext cx="475200" cy="32436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61" name="TextBox 160"/>
          <p:cNvSpPr/>
          <p:nvPr/>
        </p:nvSpPr>
        <p:spPr>
          <a:xfrm>
            <a:off x="6133680" y="4004640"/>
            <a:ext cx="4752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72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2" name="Rectangle 161"/>
          <p:cNvSpPr/>
          <p:nvPr/>
        </p:nvSpPr>
        <p:spPr>
          <a:xfrm>
            <a:off x="6609240" y="4004640"/>
            <a:ext cx="475200" cy="32436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63" name="TextBox 162"/>
          <p:cNvSpPr/>
          <p:nvPr/>
        </p:nvSpPr>
        <p:spPr>
          <a:xfrm>
            <a:off x="6609240" y="4004640"/>
            <a:ext cx="4752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48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4" name="Rectangle 163"/>
          <p:cNvSpPr/>
          <p:nvPr/>
        </p:nvSpPr>
        <p:spPr>
          <a:xfrm>
            <a:off x="7084800" y="4004640"/>
            <a:ext cx="475200" cy="32436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65" name="TextBox 164"/>
          <p:cNvSpPr/>
          <p:nvPr/>
        </p:nvSpPr>
        <p:spPr>
          <a:xfrm>
            <a:off x="7084800" y="4004640"/>
            <a:ext cx="4752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35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6" name="Rectangle 165"/>
          <p:cNvSpPr/>
          <p:nvPr/>
        </p:nvSpPr>
        <p:spPr>
          <a:xfrm>
            <a:off x="5182920" y="2383200"/>
            <a:ext cx="475200" cy="324000"/>
          </a:xfrm>
          <a:prstGeom prst="rect">
            <a:avLst/>
          </a:prstGeom>
          <a:solidFill>
            <a:srgbClr val="102030"/>
          </a:solidFill>
          <a:ln w="25400">
            <a:solidFill>
              <a:srgbClr val="ffc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67" name="Rectangle 166"/>
          <p:cNvSpPr/>
          <p:nvPr/>
        </p:nvSpPr>
        <p:spPr>
          <a:xfrm>
            <a:off x="5658480" y="2383200"/>
            <a:ext cx="475200" cy="324000"/>
          </a:xfrm>
          <a:prstGeom prst="rect">
            <a:avLst/>
          </a:prstGeom>
          <a:solidFill>
            <a:srgbClr val="102030"/>
          </a:solidFill>
          <a:ln w="25400">
            <a:solidFill>
              <a:srgbClr val="ffc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68" name="Rectangle 167"/>
          <p:cNvSpPr/>
          <p:nvPr/>
        </p:nvSpPr>
        <p:spPr>
          <a:xfrm>
            <a:off x="6133680" y="2383200"/>
            <a:ext cx="475200" cy="324000"/>
          </a:xfrm>
          <a:prstGeom prst="rect">
            <a:avLst/>
          </a:prstGeom>
          <a:solidFill>
            <a:srgbClr val="102030"/>
          </a:solidFill>
          <a:ln w="25400">
            <a:solidFill>
              <a:srgbClr val="ffc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69" name="Rectangle 168"/>
          <p:cNvSpPr/>
          <p:nvPr/>
        </p:nvSpPr>
        <p:spPr>
          <a:xfrm>
            <a:off x="5182920" y="2707560"/>
            <a:ext cx="475200" cy="324000"/>
          </a:xfrm>
          <a:prstGeom prst="rect">
            <a:avLst/>
          </a:prstGeom>
          <a:solidFill>
            <a:srgbClr val="102030"/>
          </a:solidFill>
          <a:ln w="25400">
            <a:solidFill>
              <a:srgbClr val="ffc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70" name="Rectangle 169"/>
          <p:cNvSpPr/>
          <p:nvPr/>
        </p:nvSpPr>
        <p:spPr>
          <a:xfrm>
            <a:off x="5658480" y="2707560"/>
            <a:ext cx="475200" cy="324000"/>
          </a:xfrm>
          <a:prstGeom prst="rect">
            <a:avLst/>
          </a:prstGeom>
          <a:solidFill>
            <a:srgbClr val="102030"/>
          </a:solidFill>
          <a:ln w="25400">
            <a:solidFill>
              <a:srgbClr val="ffc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71" name="Rectangle 170"/>
          <p:cNvSpPr/>
          <p:nvPr/>
        </p:nvSpPr>
        <p:spPr>
          <a:xfrm>
            <a:off x="6133680" y="2707560"/>
            <a:ext cx="475200" cy="324000"/>
          </a:xfrm>
          <a:prstGeom prst="rect">
            <a:avLst/>
          </a:prstGeom>
          <a:solidFill>
            <a:srgbClr val="102030"/>
          </a:solidFill>
          <a:ln w="25400">
            <a:solidFill>
              <a:srgbClr val="ffc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72" name="Rectangle 171"/>
          <p:cNvSpPr/>
          <p:nvPr/>
        </p:nvSpPr>
        <p:spPr>
          <a:xfrm>
            <a:off x="5182920" y="3031920"/>
            <a:ext cx="475200" cy="324000"/>
          </a:xfrm>
          <a:prstGeom prst="rect">
            <a:avLst/>
          </a:prstGeom>
          <a:solidFill>
            <a:srgbClr val="102030"/>
          </a:solidFill>
          <a:ln w="25400">
            <a:solidFill>
              <a:srgbClr val="ffc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73" name="Rectangle 172"/>
          <p:cNvSpPr/>
          <p:nvPr/>
        </p:nvSpPr>
        <p:spPr>
          <a:xfrm>
            <a:off x="5658480" y="3031920"/>
            <a:ext cx="475200" cy="324000"/>
          </a:xfrm>
          <a:prstGeom prst="rect">
            <a:avLst/>
          </a:prstGeom>
          <a:solidFill>
            <a:srgbClr val="102030"/>
          </a:solidFill>
          <a:ln w="25400">
            <a:solidFill>
              <a:srgbClr val="ffc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74" name="Rectangle 173"/>
          <p:cNvSpPr/>
          <p:nvPr/>
        </p:nvSpPr>
        <p:spPr>
          <a:xfrm>
            <a:off x="6133680" y="3031920"/>
            <a:ext cx="475200" cy="324000"/>
          </a:xfrm>
          <a:prstGeom prst="rect">
            <a:avLst/>
          </a:prstGeom>
          <a:solidFill>
            <a:srgbClr val="102030"/>
          </a:solidFill>
          <a:ln w="25400">
            <a:solidFill>
              <a:srgbClr val="ffc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75" name="TextBox 174"/>
          <p:cNvSpPr/>
          <p:nvPr/>
        </p:nvSpPr>
        <p:spPr>
          <a:xfrm>
            <a:off x="7470360" y="3105720"/>
            <a:ext cx="4568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ffcc00"/>
                </a:solidFill>
                <a:effectLst/>
                <a:uFillTx/>
                <a:latin typeface="Calibri"/>
              </a:rPr>
              <a:t>→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6" name="Rectangle 175"/>
          <p:cNvSpPr/>
          <p:nvPr/>
        </p:nvSpPr>
        <p:spPr>
          <a:xfrm>
            <a:off x="7927560" y="3060000"/>
            <a:ext cx="639720" cy="520920"/>
          </a:xfrm>
          <a:prstGeom prst="rect">
            <a:avLst/>
          </a:prstGeom>
          <a:solidFill>
            <a:srgbClr val="121e3a"/>
          </a:solidFill>
          <a:ln w="19050">
            <a:solidFill>
              <a:srgbClr val="ffc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77" name="TextBox 176"/>
          <p:cNvSpPr/>
          <p:nvPr/>
        </p:nvSpPr>
        <p:spPr>
          <a:xfrm>
            <a:off x="7927560" y="3204000"/>
            <a:ext cx="63972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cc00"/>
                </a:solidFill>
                <a:effectLst/>
                <a:uFillTx/>
                <a:latin typeface="Calibri"/>
              </a:rPr>
              <a:t>185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8" name="TextBox 177"/>
          <p:cNvSpPr/>
          <p:nvPr/>
        </p:nvSpPr>
        <p:spPr>
          <a:xfrm>
            <a:off x="180000" y="4536000"/>
            <a:ext cx="55044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300" b="1" u="none" strike="noStrike">
                <a:solidFill>
                  <a:srgbClr val="00e576"/>
                </a:solidFill>
                <a:effectLst/>
                <a:uFillTx/>
                <a:latin typeface="Calibri"/>
              </a:rPr>
              <a:t>Pos 3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00e576"/>
                </a:solidFill>
                <a:effectLst/>
                <a:uFillTx/>
                <a:latin typeface="Calibri"/>
              </a:rPr>
              <a:t>(1,0)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9" name="Rectangle 178"/>
          <p:cNvSpPr/>
          <p:nvPr/>
        </p:nvSpPr>
        <p:spPr>
          <a:xfrm>
            <a:off x="730440" y="4608000"/>
            <a:ext cx="468000" cy="29988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80" name="TextBox 179"/>
          <p:cNvSpPr/>
          <p:nvPr/>
        </p:nvSpPr>
        <p:spPr>
          <a:xfrm>
            <a:off x="730440" y="4608000"/>
            <a:ext cx="4680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120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1" name="Rectangle 180"/>
          <p:cNvSpPr/>
          <p:nvPr/>
        </p:nvSpPr>
        <p:spPr>
          <a:xfrm>
            <a:off x="1198800" y="4608000"/>
            <a:ext cx="468000" cy="29988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82" name="TextBox 181"/>
          <p:cNvSpPr/>
          <p:nvPr/>
        </p:nvSpPr>
        <p:spPr>
          <a:xfrm>
            <a:off x="1198800" y="4608000"/>
            <a:ext cx="4680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145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3" name="Rectangle 182"/>
          <p:cNvSpPr/>
          <p:nvPr/>
        </p:nvSpPr>
        <p:spPr>
          <a:xfrm>
            <a:off x="1667160" y="4608000"/>
            <a:ext cx="468000" cy="29988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84" name="TextBox 183"/>
          <p:cNvSpPr/>
          <p:nvPr/>
        </p:nvSpPr>
        <p:spPr>
          <a:xfrm>
            <a:off x="1667160" y="4608000"/>
            <a:ext cx="4680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200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5" name="Rectangle 184"/>
          <p:cNvSpPr/>
          <p:nvPr/>
        </p:nvSpPr>
        <p:spPr>
          <a:xfrm>
            <a:off x="2135160" y="4608000"/>
            <a:ext cx="468000" cy="29988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86" name="TextBox 185"/>
          <p:cNvSpPr/>
          <p:nvPr/>
        </p:nvSpPr>
        <p:spPr>
          <a:xfrm>
            <a:off x="2135160" y="4608000"/>
            <a:ext cx="4680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90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7" name="Rectangle 186"/>
          <p:cNvSpPr/>
          <p:nvPr/>
        </p:nvSpPr>
        <p:spPr>
          <a:xfrm>
            <a:off x="2603520" y="4608000"/>
            <a:ext cx="468000" cy="29988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88" name="TextBox 187"/>
          <p:cNvSpPr/>
          <p:nvPr/>
        </p:nvSpPr>
        <p:spPr>
          <a:xfrm>
            <a:off x="2603520" y="4608000"/>
            <a:ext cx="4680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65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9" name="Rectangle 188"/>
          <p:cNvSpPr/>
          <p:nvPr/>
        </p:nvSpPr>
        <p:spPr>
          <a:xfrm>
            <a:off x="3071880" y="4608000"/>
            <a:ext cx="468000" cy="29988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90" name="TextBox 189"/>
          <p:cNvSpPr/>
          <p:nvPr/>
        </p:nvSpPr>
        <p:spPr>
          <a:xfrm>
            <a:off x="3071880" y="4608000"/>
            <a:ext cx="4680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50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1" name="Rectangle 190"/>
          <p:cNvSpPr/>
          <p:nvPr/>
        </p:nvSpPr>
        <p:spPr>
          <a:xfrm>
            <a:off x="730440" y="4907880"/>
            <a:ext cx="468000" cy="300240"/>
          </a:xfrm>
          <a:prstGeom prst="rect">
            <a:avLst/>
          </a:prstGeom>
          <a:solidFill>
            <a:srgbClr val="102030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92" name="TextBox 191"/>
          <p:cNvSpPr/>
          <p:nvPr/>
        </p:nvSpPr>
        <p:spPr>
          <a:xfrm>
            <a:off x="730440" y="4907880"/>
            <a:ext cx="4680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95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3" name="Rectangle 192"/>
          <p:cNvSpPr/>
          <p:nvPr/>
        </p:nvSpPr>
        <p:spPr>
          <a:xfrm>
            <a:off x="1198800" y="4907880"/>
            <a:ext cx="468000" cy="300240"/>
          </a:xfrm>
          <a:prstGeom prst="rect">
            <a:avLst/>
          </a:prstGeom>
          <a:solidFill>
            <a:srgbClr val="102030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94" name="TextBox 193"/>
          <p:cNvSpPr/>
          <p:nvPr/>
        </p:nvSpPr>
        <p:spPr>
          <a:xfrm>
            <a:off x="1198800" y="4907880"/>
            <a:ext cx="4680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180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5" name="Rectangle 194"/>
          <p:cNvSpPr/>
          <p:nvPr/>
        </p:nvSpPr>
        <p:spPr>
          <a:xfrm>
            <a:off x="1667160" y="4907880"/>
            <a:ext cx="468000" cy="300240"/>
          </a:xfrm>
          <a:prstGeom prst="rect">
            <a:avLst/>
          </a:prstGeom>
          <a:solidFill>
            <a:srgbClr val="102030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96" name="TextBox 195"/>
          <p:cNvSpPr/>
          <p:nvPr/>
        </p:nvSpPr>
        <p:spPr>
          <a:xfrm>
            <a:off x="1667160" y="4907880"/>
            <a:ext cx="4680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215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7" name="Rectangle 196"/>
          <p:cNvSpPr/>
          <p:nvPr/>
        </p:nvSpPr>
        <p:spPr>
          <a:xfrm>
            <a:off x="2135160" y="4907880"/>
            <a:ext cx="468000" cy="30024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98" name="TextBox 197"/>
          <p:cNvSpPr/>
          <p:nvPr/>
        </p:nvSpPr>
        <p:spPr>
          <a:xfrm>
            <a:off x="2135160" y="4907880"/>
            <a:ext cx="4680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105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9" name="Rectangle 198"/>
          <p:cNvSpPr/>
          <p:nvPr/>
        </p:nvSpPr>
        <p:spPr>
          <a:xfrm>
            <a:off x="2603520" y="4907880"/>
            <a:ext cx="468000" cy="30024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00" name="TextBox 199"/>
          <p:cNvSpPr/>
          <p:nvPr/>
        </p:nvSpPr>
        <p:spPr>
          <a:xfrm>
            <a:off x="2603520" y="4907880"/>
            <a:ext cx="4680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72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1" name="Rectangle 200"/>
          <p:cNvSpPr/>
          <p:nvPr/>
        </p:nvSpPr>
        <p:spPr>
          <a:xfrm>
            <a:off x="3071880" y="4907880"/>
            <a:ext cx="468000" cy="30024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02" name="TextBox 201"/>
          <p:cNvSpPr/>
          <p:nvPr/>
        </p:nvSpPr>
        <p:spPr>
          <a:xfrm>
            <a:off x="3071880" y="4907880"/>
            <a:ext cx="4680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48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3" name="Rectangle 202"/>
          <p:cNvSpPr/>
          <p:nvPr/>
        </p:nvSpPr>
        <p:spPr>
          <a:xfrm>
            <a:off x="730440" y="5208120"/>
            <a:ext cx="468000" cy="299880"/>
          </a:xfrm>
          <a:prstGeom prst="rect">
            <a:avLst/>
          </a:prstGeom>
          <a:solidFill>
            <a:srgbClr val="102030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04" name="TextBox 203"/>
          <p:cNvSpPr/>
          <p:nvPr/>
        </p:nvSpPr>
        <p:spPr>
          <a:xfrm>
            <a:off x="730440" y="5208120"/>
            <a:ext cx="4680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85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5" name="Rectangle 204"/>
          <p:cNvSpPr/>
          <p:nvPr/>
        </p:nvSpPr>
        <p:spPr>
          <a:xfrm>
            <a:off x="1198800" y="5208120"/>
            <a:ext cx="468000" cy="299880"/>
          </a:xfrm>
          <a:prstGeom prst="rect">
            <a:avLst/>
          </a:prstGeom>
          <a:solidFill>
            <a:srgbClr val="102030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06" name="TextBox 205"/>
          <p:cNvSpPr/>
          <p:nvPr/>
        </p:nvSpPr>
        <p:spPr>
          <a:xfrm>
            <a:off x="1198800" y="5208120"/>
            <a:ext cx="4680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175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7" name="Rectangle 206"/>
          <p:cNvSpPr/>
          <p:nvPr/>
        </p:nvSpPr>
        <p:spPr>
          <a:xfrm>
            <a:off x="1667160" y="5208120"/>
            <a:ext cx="468000" cy="299880"/>
          </a:xfrm>
          <a:prstGeom prst="rect">
            <a:avLst/>
          </a:prstGeom>
          <a:solidFill>
            <a:srgbClr val="102030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08" name="TextBox 207"/>
          <p:cNvSpPr/>
          <p:nvPr/>
        </p:nvSpPr>
        <p:spPr>
          <a:xfrm>
            <a:off x="1667160" y="5208120"/>
            <a:ext cx="4680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208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9" name="Rectangle 208"/>
          <p:cNvSpPr/>
          <p:nvPr/>
        </p:nvSpPr>
        <p:spPr>
          <a:xfrm>
            <a:off x="2135160" y="5208120"/>
            <a:ext cx="468000" cy="29988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10" name="TextBox 209"/>
          <p:cNvSpPr/>
          <p:nvPr/>
        </p:nvSpPr>
        <p:spPr>
          <a:xfrm>
            <a:off x="2135160" y="5208120"/>
            <a:ext cx="4680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98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1" name="Rectangle 210"/>
          <p:cNvSpPr/>
          <p:nvPr/>
        </p:nvSpPr>
        <p:spPr>
          <a:xfrm>
            <a:off x="2603520" y="5208120"/>
            <a:ext cx="468000" cy="29988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12" name="TextBox 211"/>
          <p:cNvSpPr/>
          <p:nvPr/>
        </p:nvSpPr>
        <p:spPr>
          <a:xfrm>
            <a:off x="2603520" y="5208120"/>
            <a:ext cx="4680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68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3" name="Rectangle 212"/>
          <p:cNvSpPr/>
          <p:nvPr/>
        </p:nvSpPr>
        <p:spPr>
          <a:xfrm>
            <a:off x="3071880" y="5208120"/>
            <a:ext cx="468000" cy="29988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14" name="TextBox 213"/>
          <p:cNvSpPr/>
          <p:nvPr/>
        </p:nvSpPr>
        <p:spPr>
          <a:xfrm>
            <a:off x="3071880" y="5208120"/>
            <a:ext cx="4680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45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5" name="Rectangle 214"/>
          <p:cNvSpPr/>
          <p:nvPr/>
        </p:nvSpPr>
        <p:spPr>
          <a:xfrm>
            <a:off x="730440" y="5508000"/>
            <a:ext cx="468000" cy="299880"/>
          </a:xfrm>
          <a:prstGeom prst="rect">
            <a:avLst/>
          </a:prstGeom>
          <a:solidFill>
            <a:srgbClr val="102030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16" name="TextBox 215"/>
          <p:cNvSpPr/>
          <p:nvPr/>
        </p:nvSpPr>
        <p:spPr>
          <a:xfrm>
            <a:off x="730440" y="5508000"/>
            <a:ext cx="4680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102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7" name="Rectangle 216"/>
          <p:cNvSpPr/>
          <p:nvPr/>
        </p:nvSpPr>
        <p:spPr>
          <a:xfrm>
            <a:off x="1198800" y="5508000"/>
            <a:ext cx="468000" cy="299880"/>
          </a:xfrm>
          <a:prstGeom prst="rect">
            <a:avLst/>
          </a:prstGeom>
          <a:solidFill>
            <a:srgbClr val="102030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18" name="TextBox 217"/>
          <p:cNvSpPr/>
          <p:nvPr/>
        </p:nvSpPr>
        <p:spPr>
          <a:xfrm>
            <a:off x="1198800" y="5508000"/>
            <a:ext cx="4680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162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9" name="Rectangle 218"/>
          <p:cNvSpPr/>
          <p:nvPr/>
        </p:nvSpPr>
        <p:spPr>
          <a:xfrm>
            <a:off x="1667160" y="5508000"/>
            <a:ext cx="468000" cy="299880"/>
          </a:xfrm>
          <a:prstGeom prst="rect">
            <a:avLst/>
          </a:prstGeom>
          <a:solidFill>
            <a:srgbClr val="102030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20" name="TextBox 219"/>
          <p:cNvSpPr/>
          <p:nvPr/>
        </p:nvSpPr>
        <p:spPr>
          <a:xfrm>
            <a:off x="1667160" y="5508000"/>
            <a:ext cx="4680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193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1" name="Rectangle 220"/>
          <p:cNvSpPr/>
          <p:nvPr/>
        </p:nvSpPr>
        <p:spPr>
          <a:xfrm>
            <a:off x="2135160" y="5508000"/>
            <a:ext cx="468000" cy="29988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22" name="TextBox 221"/>
          <p:cNvSpPr/>
          <p:nvPr/>
        </p:nvSpPr>
        <p:spPr>
          <a:xfrm>
            <a:off x="2135160" y="5508000"/>
            <a:ext cx="4680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87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3" name="Rectangle 222"/>
          <p:cNvSpPr/>
          <p:nvPr/>
        </p:nvSpPr>
        <p:spPr>
          <a:xfrm>
            <a:off x="2603520" y="5508000"/>
            <a:ext cx="468000" cy="29988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24" name="TextBox 223"/>
          <p:cNvSpPr/>
          <p:nvPr/>
        </p:nvSpPr>
        <p:spPr>
          <a:xfrm>
            <a:off x="2603520" y="5508000"/>
            <a:ext cx="4680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58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5" name="Rectangle 224"/>
          <p:cNvSpPr/>
          <p:nvPr/>
        </p:nvSpPr>
        <p:spPr>
          <a:xfrm>
            <a:off x="3071880" y="5508000"/>
            <a:ext cx="468000" cy="29988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26" name="TextBox 225"/>
          <p:cNvSpPr/>
          <p:nvPr/>
        </p:nvSpPr>
        <p:spPr>
          <a:xfrm>
            <a:off x="3071880" y="5508000"/>
            <a:ext cx="4680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40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7" name="Rectangle 226"/>
          <p:cNvSpPr/>
          <p:nvPr/>
        </p:nvSpPr>
        <p:spPr>
          <a:xfrm>
            <a:off x="730440" y="5808240"/>
            <a:ext cx="468000" cy="29988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28" name="TextBox 227"/>
          <p:cNvSpPr/>
          <p:nvPr/>
        </p:nvSpPr>
        <p:spPr>
          <a:xfrm>
            <a:off x="730440" y="5808240"/>
            <a:ext cx="4680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110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9" name="Rectangle 228"/>
          <p:cNvSpPr/>
          <p:nvPr/>
        </p:nvSpPr>
        <p:spPr>
          <a:xfrm>
            <a:off x="1198800" y="5808240"/>
            <a:ext cx="468000" cy="29988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30" name="TextBox 229"/>
          <p:cNvSpPr/>
          <p:nvPr/>
        </p:nvSpPr>
        <p:spPr>
          <a:xfrm>
            <a:off x="1198800" y="5808240"/>
            <a:ext cx="4680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155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1" name="Rectangle 230"/>
          <p:cNvSpPr/>
          <p:nvPr/>
        </p:nvSpPr>
        <p:spPr>
          <a:xfrm>
            <a:off x="1667160" y="5808240"/>
            <a:ext cx="468000" cy="29988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32" name="TextBox 231"/>
          <p:cNvSpPr/>
          <p:nvPr/>
        </p:nvSpPr>
        <p:spPr>
          <a:xfrm>
            <a:off x="1667160" y="5808240"/>
            <a:ext cx="4680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197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3" name="Rectangle 232"/>
          <p:cNvSpPr/>
          <p:nvPr/>
        </p:nvSpPr>
        <p:spPr>
          <a:xfrm>
            <a:off x="2135160" y="5808240"/>
            <a:ext cx="468000" cy="29988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34" name="TextBox 233"/>
          <p:cNvSpPr/>
          <p:nvPr/>
        </p:nvSpPr>
        <p:spPr>
          <a:xfrm>
            <a:off x="2135160" y="5808240"/>
            <a:ext cx="4680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78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5" name="Rectangle 234"/>
          <p:cNvSpPr/>
          <p:nvPr/>
        </p:nvSpPr>
        <p:spPr>
          <a:xfrm>
            <a:off x="2603520" y="5808240"/>
            <a:ext cx="468000" cy="29988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36" name="TextBox 235"/>
          <p:cNvSpPr/>
          <p:nvPr/>
        </p:nvSpPr>
        <p:spPr>
          <a:xfrm>
            <a:off x="2603520" y="5808240"/>
            <a:ext cx="4680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52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7" name="Rectangle 236"/>
          <p:cNvSpPr/>
          <p:nvPr/>
        </p:nvSpPr>
        <p:spPr>
          <a:xfrm>
            <a:off x="3071880" y="5808240"/>
            <a:ext cx="468000" cy="29988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38" name="TextBox 237"/>
          <p:cNvSpPr/>
          <p:nvPr/>
        </p:nvSpPr>
        <p:spPr>
          <a:xfrm>
            <a:off x="3071880" y="5808240"/>
            <a:ext cx="4680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38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9" name="Rectangle 238"/>
          <p:cNvSpPr/>
          <p:nvPr/>
        </p:nvSpPr>
        <p:spPr>
          <a:xfrm>
            <a:off x="730440" y="6108120"/>
            <a:ext cx="468000" cy="29988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40" name="TextBox 239"/>
          <p:cNvSpPr/>
          <p:nvPr/>
        </p:nvSpPr>
        <p:spPr>
          <a:xfrm>
            <a:off x="730440" y="6108120"/>
            <a:ext cx="4680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100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1" name="Rectangle 240"/>
          <p:cNvSpPr/>
          <p:nvPr/>
        </p:nvSpPr>
        <p:spPr>
          <a:xfrm>
            <a:off x="1198800" y="6108120"/>
            <a:ext cx="468000" cy="29988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42" name="TextBox 241"/>
          <p:cNvSpPr/>
          <p:nvPr/>
        </p:nvSpPr>
        <p:spPr>
          <a:xfrm>
            <a:off x="1198800" y="6108120"/>
            <a:ext cx="4680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148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3" name="Rectangle 242"/>
          <p:cNvSpPr/>
          <p:nvPr/>
        </p:nvSpPr>
        <p:spPr>
          <a:xfrm>
            <a:off x="1667160" y="6108120"/>
            <a:ext cx="468000" cy="29988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44" name="TextBox 243"/>
          <p:cNvSpPr/>
          <p:nvPr/>
        </p:nvSpPr>
        <p:spPr>
          <a:xfrm>
            <a:off x="1667160" y="6108120"/>
            <a:ext cx="4680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188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5" name="Rectangle 244"/>
          <p:cNvSpPr/>
          <p:nvPr/>
        </p:nvSpPr>
        <p:spPr>
          <a:xfrm>
            <a:off x="2135160" y="6108120"/>
            <a:ext cx="468000" cy="29988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46" name="TextBox 245"/>
          <p:cNvSpPr/>
          <p:nvPr/>
        </p:nvSpPr>
        <p:spPr>
          <a:xfrm>
            <a:off x="2135160" y="6108120"/>
            <a:ext cx="4680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72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7" name="Rectangle 246"/>
          <p:cNvSpPr/>
          <p:nvPr/>
        </p:nvSpPr>
        <p:spPr>
          <a:xfrm>
            <a:off x="2603520" y="6108120"/>
            <a:ext cx="468000" cy="29988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48" name="TextBox 247"/>
          <p:cNvSpPr/>
          <p:nvPr/>
        </p:nvSpPr>
        <p:spPr>
          <a:xfrm>
            <a:off x="2603520" y="6108120"/>
            <a:ext cx="4680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48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9" name="Rectangle 248"/>
          <p:cNvSpPr/>
          <p:nvPr/>
        </p:nvSpPr>
        <p:spPr>
          <a:xfrm>
            <a:off x="3071880" y="6108120"/>
            <a:ext cx="468000" cy="29988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50" name="TextBox 249"/>
          <p:cNvSpPr/>
          <p:nvPr/>
        </p:nvSpPr>
        <p:spPr>
          <a:xfrm>
            <a:off x="3071880" y="6108120"/>
            <a:ext cx="4680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35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1" name="Rectangle 250"/>
          <p:cNvSpPr/>
          <p:nvPr/>
        </p:nvSpPr>
        <p:spPr>
          <a:xfrm>
            <a:off x="730440" y="4907880"/>
            <a:ext cx="468000" cy="300240"/>
          </a:xfrm>
          <a:prstGeom prst="rect">
            <a:avLst/>
          </a:prstGeom>
          <a:solidFill>
            <a:srgbClr val="102030"/>
          </a:solidFill>
          <a:ln w="25400">
            <a:solidFill>
              <a:srgbClr val="00e57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52" name="Rectangle 251"/>
          <p:cNvSpPr/>
          <p:nvPr/>
        </p:nvSpPr>
        <p:spPr>
          <a:xfrm>
            <a:off x="1198800" y="4907880"/>
            <a:ext cx="468000" cy="300240"/>
          </a:xfrm>
          <a:prstGeom prst="rect">
            <a:avLst/>
          </a:prstGeom>
          <a:solidFill>
            <a:srgbClr val="102030"/>
          </a:solidFill>
          <a:ln w="25400">
            <a:solidFill>
              <a:srgbClr val="00e57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53" name="Rectangle 252"/>
          <p:cNvSpPr/>
          <p:nvPr/>
        </p:nvSpPr>
        <p:spPr>
          <a:xfrm>
            <a:off x="1667160" y="4907880"/>
            <a:ext cx="468000" cy="300240"/>
          </a:xfrm>
          <a:prstGeom prst="rect">
            <a:avLst/>
          </a:prstGeom>
          <a:solidFill>
            <a:srgbClr val="102030"/>
          </a:solidFill>
          <a:ln w="25400">
            <a:solidFill>
              <a:srgbClr val="00e57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54" name="Rectangle 253"/>
          <p:cNvSpPr/>
          <p:nvPr/>
        </p:nvSpPr>
        <p:spPr>
          <a:xfrm>
            <a:off x="730440" y="5208120"/>
            <a:ext cx="468000" cy="299880"/>
          </a:xfrm>
          <a:prstGeom prst="rect">
            <a:avLst/>
          </a:prstGeom>
          <a:solidFill>
            <a:srgbClr val="102030"/>
          </a:solidFill>
          <a:ln w="25400">
            <a:solidFill>
              <a:srgbClr val="00e57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55" name="Rectangle 254"/>
          <p:cNvSpPr/>
          <p:nvPr/>
        </p:nvSpPr>
        <p:spPr>
          <a:xfrm>
            <a:off x="1198800" y="5208120"/>
            <a:ext cx="468000" cy="299880"/>
          </a:xfrm>
          <a:prstGeom prst="rect">
            <a:avLst/>
          </a:prstGeom>
          <a:solidFill>
            <a:srgbClr val="102030"/>
          </a:solidFill>
          <a:ln w="25400">
            <a:solidFill>
              <a:srgbClr val="00e57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56" name="Rectangle 255"/>
          <p:cNvSpPr/>
          <p:nvPr/>
        </p:nvSpPr>
        <p:spPr>
          <a:xfrm>
            <a:off x="1667160" y="5208120"/>
            <a:ext cx="468000" cy="299880"/>
          </a:xfrm>
          <a:prstGeom prst="rect">
            <a:avLst/>
          </a:prstGeom>
          <a:solidFill>
            <a:srgbClr val="102030"/>
          </a:solidFill>
          <a:ln w="25400">
            <a:solidFill>
              <a:srgbClr val="00e57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57" name="Rectangle 256"/>
          <p:cNvSpPr/>
          <p:nvPr/>
        </p:nvSpPr>
        <p:spPr>
          <a:xfrm>
            <a:off x="730440" y="5508000"/>
            <a:ext cx="468000" cy="299880"/>
          </a:xfrm>
          <a:prstGeom prst="rect">
            <a:avLst/>
          </a:prstGeom>
          <a:solidFill>
            <a:srgbClr val="102030"/>
          </a:solidFill>
          <a:ln w="25400">
            <a:solidFill>
              <a:srgbClr val="00e57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58" name="Rectangle 257"/>
          <p:cNvSpPr/>
          <p:nvPr/>
        </p:nvSpPr>
        <p:spPr>
          <a:xfrm>
            <a:off x="1198800" y="5508000"/>
            <a:ext cx="468000" cy="299880"/>
          </a:xfrm>
          <a:prstGeom prst="rect">
            <a:avLst/>
          </a:prstGeom>
          <a:solidFill>
            <a:srgbClr val="102030"/>
          </a:solidFill>
          <a:ln w="25400">
            <a:solidFill>
              <a:srgbClr val="00e57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59" name="Rectangle 258"/>
          <p:cNvSpPr/>
          <p:nvPr/>
        </p:nvSpPr>
        <p:spPr>
          <a:xfrm>
            <a:off x="1667160" y="5508000"/>
            <a:ext cx="468000" cy="299880"/>
          </a:xfrm>
          <a:prstGeom prst="rect">
            <a:avLst/>
          </a:prstGeom>
          <a:solidFill>
            <a:srgbClr val="102030"/>
          </a:solidFill>
          <a:ln w="25400">
            <a:solidFill>
              <a:srgbClr val="00e57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60" name="TextBox 259"/>
          <p:cNvSpPr/>
          <p:nvPr/>
        </p:nvSpPr>
        <p:spPr>
          <a:xfrm>
            <a:off x="3510000" y="5194080"/>
            <a:ext cx="4500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00e576"/>
                </a:solidFill>
                <a:effectLst/>
                <a:uFillTx/>
                <a:latin typeface="Calibri"/>
              </a:rPr>
              <a:t>→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1" name="Rectangle 260"/>
          <p:cNvSpPr/>
          <p:nvPr/>
        </p:nvSpPr>
        <p:spPr>
          <a:xfrm>
            <a:off x="3995640" y="5169600"/>
            <a:ext cx="639720" cy="576000"/>
          </a:xfrm>
          <a:prstGeom prst="rect">
            <a:avLst/>
          </a:prstGeom>
          <a:solidFill>
            <a:srgbClr val="121e3a"/>
          </a:solidFill>
          <a:ln w="19050">
            <a:solidFill>
              <a:srgbClr val="00e57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62" name="TextBox 261"/>
          <p:cNvSpPr/>
          <p:nvPr/>
        </p:nvSpPr>
        <p:spPr>
          <a:xfrm>
            <a:off x="4000680" y="5301720"/>
            <a:ext cx="639720" cy="28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00e576"/>
                </a:solidFill>
                <a:effectLst/>
                <a:uFillTx/>
                <a:latin typeface="Calibri"/>
              </a:rPr>
              <a:t>198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3" name="TextBox 262"/>
          <p:cNvSpPr/>
          <p:nvPr/>
        </p:nvSpPr>
        <p:spPr>
          <a:xfrm>
            <a:off x="4151160" y="4500000"/>
            <a:ext cx="540000" cy="48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300" b="1" u="none" strike="noStrike">
                <a:solidFill>
                  <a:srgbClr val="ff6b35"/>
                </a:solidFill>
                <a:effectLst/>
                <a:uFillTx/>
                <a:latin typeface="Calibri"/>
              </a:rPr>
              <a:t>Pos 4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6b35"/>
                </a:solidFill>
                <a:effectLst/>
                <a:uFillTx/>
                <a:latin typeface="Calibri"/>
              </a:rPr>
              <a:t>(1,1)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4" name="Rectangle 263"/>
          <p:cNvSpPr/>
          <p:nvPr/>
        </p:nvSpPr>
        <p:spPr>
          <a:xfrm>
            <a:off x="4718160" y="4536000"/>
            <a:ext cx="475200" cy="31248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65" name="TextBox 264"/>
          <p:cNvSpPr/>
          <p:nvPr/>
        </p:nvSpPr>
        <p:spPr>
          <a:xfrm>
            <a:off x="4718160" y="4536000"/>
            <a:ext cx="47520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120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6" name="Rectangle 265"/>
          <p:cNvSpPr/>
          <p:nvPr/>
        </p:nvSpPr>
        <p:spPr>
          <a:xfrm>
            <a:off x="5193720" y="4536000"/>
            <a:ext cx="475200" cy="31248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67" name="TextBox 266"/>
          <p:cNvSpPr/>
          <p:nvPr/>
        </p:nvSpPr>
        <p:spPr>
          <a:xfrm>
            <a:off x="5193720" y="4536000"/>
            <a:ext cx="47520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145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8" name="Rectangle 267"/>
          <p:cNvSpPr/>
          <p:nvPr/>
        </p:nvSpPr>
        <p:spPr>
          <a:xfrm>
            <a:off x="5669280" y="4536000"/>
            <a:ext cx="475200" cy="31248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69" name="TextBox 268"/>
          <p:cNvSpPr/>
          <p:nvPr/>
        </p:nvSpPr>
        <p:spPr>
          <a:xfrm>
            <a:off x="5669280" y="4536000"/>
            <a:ext cx="47520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200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0" name="Rectangle 269"/>
          <p:cNvSpPr/>
          <p:nvPr/>
        </p:nvSpPr>
        <p:spPr>
          <a:xfrm>
            <a:off x="6144480" y="4536000"/>
            <a:ext cx="475200" cy="31248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71" name="TextBox 270"/>
          <p:cNvSpPr/>
          <p:nvPr/>
        </p:nvSpPr>
        <p:spPr>
          <a:xfrm>
            <a:off x="6144480" y="4536000"/>
            <a:ext cx="47520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90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2" name="Rectangle 271"/>
          <p:cNvSpPr/>
          <p:nvPr/>
        </p:nvSpPr>
        <p:spPr>
          <a:xfrm>
            <a:off x="6620040" y="4536000"/>
            <a:ext cx="475200" cy="31248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73" name="TextBox 272"/>
          <p:cNvSpPr/>
          <p:nvPr/>
        </p:nvSpPr>
        <p:spPr>
          <a:xfrm>
            <a:off x="6620040" y="4536000"/>
            <a:ext cx="47520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65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4" name="Rectangle 273"/>
          <p:cNvSpPr/>
          <p:nvPr/>
        </p:nvSpPr>
        <p:spPr>
          <a:xfrm>
            <a:off x="7095600" y="4536000"/>
            <a:ext cx="475200" cy="31248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75" name="TextBox 274"/>
          <p:cNvSpPr/>
          <p:nvPr/>
        </p:nvSpPr>
        <p:spPr>
          <a:xfrm>
            <a:off x="7095600" y="4536000"/>
            <a:ext cx="47520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50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6" name="Rectangle 275"/>
          <p:cNvSpPr/>
          <p:nvPr/>
        </p:nvSpPr>
        <p:spPr>
          <a:xfrm>
            <a:off x="4716360" y="4848480"/>
            <a:ext cx="475200" cy="31284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77" name="TextBox 276"/>
          <p:cNvSpPr/>
          <p:nvPr/>
        </p:nvSpPr>
        <p:spPr>
          <a:xfrm>
            <a:off x="4716360" y="4848480"/>
            <a:ext cx="47520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95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8" name="Rectangle 277"/>
          <p:cNvSpPr/>
          <p:nvPr/>
        </p:nvSpPr>
        <p:spPr>
          <a:xfrm>
            <a:off x="5191920" y="4848480"/>
            <a:ext cx="475200" cy="312840"/>
          </a:xfrm>
          <a:prstGeom prst="rect">
            <a:avLst/>
          </a:prstGeom>
          <a:solidFill>
            <a:srgbClr val="102030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79" name="TextBox 278"/>
          <p:cNvSpPr/>
          <p:nvPr/>
        </p:nvSpPr>
        <p:spPr>
          <a:xfrm>
            <a:off x="5191920" y="4848480"/>
            <a:ext cx="47520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180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0" name="Rectangle 279"/>
          <p:cNvSpPr/>
          <p:nvPr/>
        </p:nvSpPr>
        <p:spPr>
          <a:xfrm>
            <a:off x="5667480" y="4848480"/>
            <a:ext cx="475200" cy="312840"/>
          </a:xfrm>
          <a:prstGeom prst="rect">
            <a:avLst/>
          </a:prstGeom>
          <a:solidFill>
            <a:srgbClr val="102030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81" name="TextBox 280"/>
          <p:cNvSpPr/>
          <p:nvPr/>
        </p:nvSpPr>
        <p:spPr>
          <a:xfrm>
            <a:off x="5667480" y="4848480"/>
            <a:ext cx="47520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215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2" name="Rectangle 281"/>
          <p:cNvSpPr/>
          <p:nvPr/>
        </p:nvSpPr>
        <p:spPr>
          <a:xfrm>
            <a:off x="6142680" y="4848480"/>
            <a:ext cx="475200" cy="312840"/>
          </a:xfrm>
          <a:prstGeom prst="rect">
            <a:avLst/>
          </a:prstGeom>
          <a:solidFill>
            <a:srgbClr val="102030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83" name="TextBox 282"/>
          <p:cNvSpPr/>
          <p:nvPr/>
        </p:nvSpPr>
        <p:spPr>
          <a:xfrm>
            <a:off x="6142680" y="4848480"/>
            <a:ext cx="47520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105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4" name="Rectangle 283"/>
          <p:cNvSpPr/>
          <p:nvPr/>
        </p:nvSpPr>
        <p:spPr>
          <a:xfrm>
            <a:off x="6618240" y="4848480"/>
            <a:ext cx="475200" cy="31284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85" name="TextBox 284"/>
          <p:cNvSpPr/>
          <p:nvPr/>
        </p:nvSpPr>
        <p:spPr>
          <a:xfrm>
            <a:off x="6618240" y="4848480"/>
            <a:ext cx="47520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72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6" name="Rectangle 285"/>
          <p:cNvSpPr/>
          <p:nvPr/>
        </p:nvSpPr>
        <p:spPr>
          <a:xfrm>
            <a:off x="7093800" y="4848480"/>
            <a:ext cx="475200" cy="31284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87" name="TextBox 286"/>
          <p:cNvSpPr/>
          <p:nvPr/>
        </p:nvSpPr>
        <p:spPr>
          <a:xfrm>
            <a:off x="7093800" y="4848480"/>
            <a:ext cx="47520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48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8" name="Rectangle 287"/>
          <p:cNvSpPr/>
          <p:nvPr/>
        </p:nvSpPr>
        <p:spPr>
          <a:xfrm>
            <a:off x="4714560" y="5161320"/>
            <a:ext cx="475200" cy="31248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89" name="TextBox 288"/>
          <p:cNvSpPr/>
          <p:nvPr/>
        </p:nvSpPr>
        <p:spPr>
          <a:xfrm>
            <a:off x="4714560" y="5161320"/>
            <a:ext cx="47520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85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0" name="Rectangle 289"/>
          <p:cNvSpPr/>
          <p:nvPr/>
        </p:nvSpPr>
        <p:spPr>
          <a:xfrm>
            <a:off x="5190120" y="5161320"/>
            <a:ext cx="475200" cy="312480"/>
          </a:xfrm>
          <a:prstGeom prst="rect">
            <a:avLst/>
          </a:prstGeom>
          <a:solidFill>
            <a:srgbClr val="102030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91" name="TextBox 290"/>
          <p:cNvSpPr/>
          <p:nvPr/>
        </p:nvSpPr>
        <p:spPr>
          <a:xfrm>
            <a:off x="5190120" y="5161320"/>
            <a:ext cx="47520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175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2" name="Rectangle 291"/>
          <p:cNvSpPr/>
          <p:nvPr/>
        </p:nvSpPr>
        <p:spPr>
          <a:xfrm>
            <a:off x="5665680" y="5161320"/>
            <a:ext cx="475200" cy="312480"/>
          </a:xfrm>
          <a:prstGeom prst="rect">
            <a:avLst/>
          </a:prstGeom>
          <a:solidFill>
            <a:srgbClr val="102030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93" name="TextBox 292"/>
          <p:cNvSpPr/>
          <p:nvPr/>
        </p:nvSpPr>
        <p:spPr>
          <a:xfrm>
            <a:off x="5665680" y="5161320"/>
            <a:ext cx="47520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208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4" name="Rectangle 293"/>
          <p:cNvSpPr/>
          <p:nvPr/>
        </p:nvSpPr>
        <p:spPr>
          <a:xfrm>
            <a:off x="6140880" y="5161320"/>
            <a:ext cx="475200" cy="312480"/>
          </a:xfrm>
          <a:prstGeom prst="rect">
            <a:avLst/>
          </a:prstGeom>
          <a:solidFill>
            <a:srgbClr val="102030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95" name="TextBox 294"/>
          <p:cNvSpPr/>
          <p:nvPr/>
        </p:nvSpPr>
        <p:spPr>
          <a:xfrm>
            <a:off x="6140880" y="5161320"/>
            <a:ext cx="47520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98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6" name="Rectangle 295"/>
          <p:cNvSpPr/>
          <p:nvPr/>
        </p:nvSpPr>
        <p:spPr>
          <a:xfrm>
            <a:off x="6616440" y="5161320"/>
            <a:ext cx="475200" cy="31248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97" name="TextBox 296"/>
          <p:cNvSpPr/>
          <p:nvPr/>
        </p:nvSpPr>
        <p:spPr>
          <a:xfrm>
            <a:off x="6616440" y="5161320"/>
            <a:ext cx="47520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68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8" name="Rectangle 297"/>
          <p:cNvSpPr/>
          <p:nvPr/>
        </p:nvSpPr>
        <p:spPr>
          <a:xfrm>
            <a:off x="7092000" y="5161320"/>
            <a:ext cx="475200" cy="31248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99" name="TextBox 298"/>
          <p:cNvSpPr/>
          <p:nvPr/>
        </p:nvSpPr>
        <p:spPr>
          <a:xfrm>
            <a:off x="7092000" y="5161320"/>
            <a:ext cx="47520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45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0" name="Rectangle 299"/>
          <p:cNvSpPr/>
          <p:nvPr/>
        </p:nvSpPr>
        <p:spPr>
          <a:xfrm>
            <a:off x="4712760" y="5473800"/>
            <a:ext cx="475200" cy="31176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01" name="TextBox 300"/>
          <p:cNvSpPr/>
          <p:nvPr/>
        </p:nvSpPr>
        <p:spPr>
          <a:xfrm>
            <a:off x="4712760" y="5473800"/>
            <a:ext cx="47520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102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2" name="Rectangle 301"/>
          <p:cNvSpPr/>
          <p:nvPr/>
        </p:nvSpPr>
        <p:spPr>
          <a:xfrm>
            <a:off x="5188320" y="5473800"/>
            <a:ext cx="475200" cy="311760"/>
          </a:xfrm>
          <a:prstGeom prst="rect">
            <a:avLst/>
          </a:prstGeom>
          <a:solidFill>
            <a:srgbClr val="102030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03" name="TextBox 302"/>
          <p:cNvSpPr/>
          <p:nvPr/>
        </p:nvSpPr>
        <p:spPr>
          <a:xfrm>
            <a:off x="5188320" y="5473800"/>
            <a:ext cx="47520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162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4" name="Rectangle 303"/>
          <p:cNvSpPr/>
          <p:nvPr/>
        </p:nvSpPr>
        <p:spPr>
          <a:xfrm>
            <a:off x="5663880" y="5473800"/>
            <a:ext cx="475200" cy="311760"/>
          </a:xfrm>
          <a:prstGeom prst="rect">
            <a:avLst/>
          </a:prstGeom>
          <a:solidFill>
            <a:srgbClr val="102030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05" name="TextBox 304"/>
          <p:cNvSpPr/>
          <p:nvPr/>
        </p:nvSpPr>
        <p:spPr>
          <a:xfrm>
            <a:off x="5663880" y="5473800"/>
            <a:ext cx="47520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193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6" name="Rectangle 305"/>
          <p:cNvSpPr/>
          <p:nvPr/>
        </p:nvSpPr>
        <p:spPr>
          <a:xfrm>
            <a:off x="6139080" y="5473800"/>
            <a:ext cx="475200" cy="311760"/>
          </a:xfrm>
          <a:prstGeom prst="rect">
            <a:avLst/>
          </a:prstGeom>
          <a:solidFill>
            <a:srgbClr val="102030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07" name="TextBox 306"/>
          <p:cNvSpPr/>
          <p:nvPr/>
        </p:nvSpPr>
        <p:spPr>
          <a:xfrm>
            <a:off x="6139080" y="5473800"/>
            <a:ext cx="47520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87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8" name="Rectangle 307"/>
          <p:cNvSpPr/>
          <p:nvPr/>
        </p:nvSpPr>
        <p:spPr>
          <a:xfrm>
            <a:off x="6614640" y="5473800"/>
            <a:ext cx="475200" cy="31176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09" name="TextBox 308"/>
          <p:cNvSpPr/>
          <p:nvPr/>
        </p:nvSpPr>
        <p:spPr>
          <a:xfrm>
            <a:off x="6614640" y="5473800"/>
            <a:ext cx="47520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58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0" name="Rectangle 309"/>
          <p:cNvSpPr/>
          <p:nvPr/>
        </p:nvSpPr>
        <p:spPr>
          <a:xfrm>
            <a:off x="7090200" y="5473800"/>
            <a:ext cx="475200" cy="31176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11" name="TextBox 310"/>
          <p:cNvSpPr/>
          <p:nvPr/>
        </p:nvSpPr>
        <p:spPr>
          <a:xfrm>
            <a:off x="7090200" y="5473800"/>
            <a:ext cx="47520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40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2" name="Rectangle 311"/>
          <p:cNvSpPr/>
          <p:nvPr/>
        </p:nvSpPr>
        <p:spPr>
          <a:xfrm>
            <a:off x="4710960" y="5785920"/>
            <a:ext cx="475200" cy="31248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13" name="TextBox 312"/>
          <p:cNvSpPr/>
          <p:nvPr/>
        </p:nvSpPr>
        <p:spPr>
          <a:xfrm>
            <a:off x="4710960" y="5785920"/>
            <a:ext cx="47520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110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4" name="Rectangle 313"/>
          <p:cNvSpPr/>
          <p:nvPr/>
        </p:nvSpPr>
        <p:spPr>
          <a:xfrm>
            <a:off x="5186520" y="5785920"/>
            <a:ext cx="475200" cy="31248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15" name="TextBox 314"/>
          <p:cNvSpPr/>
          <p:nvPr/>
        </p:nvSpPr>
        <p:spPr>
          <a:xfrm>
            <a:off x="5186520" y="5785920"/>
            <a:ext cx="47520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155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6" name="Rectangle 315"/>
          <p:cNvSpPr/>
          <p:nvPr/>
        </p:nvSpPr>
        <p:spPr>
          <a:xfrm>
            <a:off x="5662080" y="5785920"/>
            <a:ext cx="475200" cy="31248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17" name="TextBox 316"/>
          <p:cNvSpPr/>
          <p:nvPr/>
        </p:nvSpPr>
        <p:spPr>
          <a:xfrm>
            <a:off x="5662080" y="5785920"/>
            <a:ext cx="47520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197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8" name="Rectangle 317"/>
          <p:cNvSpPr/>
          <p:nvPr/>
        </p:nvSpPr>
        <p:spPr>
          <a:xfrm>
            <a:off x="6137280" y="5785920"/>
            <a:ext cx="475200" cy="31248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19" name="TextBox 318"/>
          <p:cNvSpPr/>
          <p:nvPr/>
        </p:nvSpPr>
        <p:spPr>
          <a:xfrm>
            <a:off x="6137280" y="5785920"/>
            <a:ext cx="47520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78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0" name="Rectangle 319"/>
          <p:cNvSpPr/>
          <p:nvPr/>
        </p:nvSpPr>
        <p:spPr>
          <a:xfrm>
            <a:off x="6612840" y="5785920"/>
            <a:ext cx="475200" cy="31248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21" name="TextBox 320"/>
          <p:cNvSpPr/>
          <p:nvPr/>
        </p:nvSpPr>
        <p:spPr>
          <a:xfrm>
            <a:off x="6612840" y="5785920"/>
            <a:ext cx="47520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52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2" name="Rectangle 321"/>
          <p:cNvSpPr/>
          <p:nvPr/>
        </p:nvSpPr>
        <p:spPr>
          <a:xfrm>
            <a:off x="7088400" y="5785920"/>
            <a:ext cx="475200" cy="31248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23" name="TextBox 322"/>
          <p:cNvSpPr/>
          <p:nvPr/>
        </p:nvSpPr>
        <p:spPr>
          <a:xfrm>
            <a:off x="7088400" y="5785920"/>
            <a:ext cx="47520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38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4" name="Rectangle 323"/>
          <p:cNvSpPr/>
          <p:nvPr/>
        </p:nvSpPr>
        <p:spPr>
          <a:xfrm>
            <a:off x="4709160" y="6098760"/>
            <a:ext cx="475200" cy="31212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25" name="TextBox 324"/>
          <p:cNvSpPr/>
          <p:nvPr/>
        </p:nvSpPr>
        <p:spPr>
          <a:xfrm>
            <a:off x="4709160" y="6098760"/>
            <a:ext cx="47520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100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6" name="Rectangle 325"/>
          <p:cNvSpPr/>
          <p:nvPr/>
        </p:nvSpPr>
        <p:spPr>
          <a:xfrm>
            <a:off x="5184720" y="6098760"/>
            <a:ext cx="475200" cy="31212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27" name="TextBox 326"/>
          <p:cNvSpPr/>
          <p:nvPr/>
        </p:nvSpPr>
        <p:spPr>
          <a:xfrm>
            <a:off x="5184720" y="6098760"/>
            <a:ext cx="47520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148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8" name="Rectangle 327"/>
          <p:cNvSpPr/>
          <p:nvPr/>
        </p:nvSpPr>
        <p:spPr>
          <a:xfrm>
            <a:off x="5660280" y="6098760"/>
            <a:ext cx="475200" cy="31212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29" name="TextBox 328"/>
          <p:cNvSpPr/>
          <p:nvPr/>
        </p:nvSpPr>
        <p:spPr>
          <a:xfrm>
            <a:off x="5660280" y="6098760"/>
            <a:ext cx="47520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188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0" name="Rectangle 329"/>
          <p:cNvSpPr/>
          <p:nvPr/>
        </p:nvSpPr>
        <p:spPr>
          <a:xfrm>
            <a:off x="6135480" y="6098760"/>
            <a:ext cx="475200" cy="31212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31" name="TextBox 330"/>
          <p:cNvSpPr/>
          <p:nvPr/>
        </p:nvSpPr>
        <p:spPr>
          <a:xfrm>
            <a:off x="6135480" y="6098760"/>
            <a:ext cx="47520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72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2" name="Rectangle 331"/>
          <p:cNvSpPr/>
          <p:nvPr/>
        </p:nvSpPr>
        <p:spPr>
          <a:xfrm>
            <a:off x="6611040" y="6098760"/>
            <a:ext cx="475200" cy="31212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33" name="TextBox 332"/>
          <p:cNvSpPr/>
          <p:nvPr/>
        </p:nvSpPr>
        <p:spPr>
          <a:xfrm>
            <a:off x="6611040" y="6098760"/>
            <a:ext cx="47520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48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4" name="Rectangle 333"/>
          <p:cNvSpPr/>
          <p:nvPr/>
        </p:nvSpPr>
        <p:spPr>
          <a:xfrm>
            <a:off x="7086600" y="6098760"/>
            <a:ext cx="475200" cy="31212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35" name="TextBox 334"/>
          <p:cNvSpPr/>
          <p:nvPr/>
        </p:nvSpPr>
        <p:spPr>
          <a:xfrm>
            <a:off x="7086600" y="6098760"/>
            <a:ext cx="47520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35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6" name="Rectangle 335"/>
          <p:cNvSpPr/>
          <p:nvPr/>
        </p:nvSpPr>
        <p:spPr>
          <a:xfrm>
            <a:off x="5191920" y="4848480"/>
            <a:ext cx="475200" cy="312840"/>
          </a:xfrm>
          <a:prstGeom prst="rect">
            <a:avLst/>
          </a:prstGeom>
          <a:solidFill>
            <a:srgbClr val="102030"/>
          </a:solidFill>
          <a:ln w="25400">
            <a:solidFill>
              <a:srgbClr val="ff6b3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37" name="Rectangle 336"/>
          <p:cNvSpPr/>
          <p:nvPr/>
        </p:nvSpPr>
        <p:spPr>
          <a:xfrm>
            <a:off x="5667480" y="4848480"/>
            <a:ext cx="475200" cy="312840"/>
          </a:xfrm>
          <a:prstGeom prst="rect">
            <a:avLst/>
          </a:prstGeom>
          <a:solidFill>
            <a:srgbClr val="102030"/>
          </a:solidFill>
          <a:ln w="25400">
            <a:solidFill>
              <a:srgbClr val="ff6b3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38" name="Rectangle 337"/>
          <p:cNvSpPr/>
          <p:nvPr/>
        </p:nvSpPr>
        <p:spPr>
          <a:xfrm>
            <a:off x="6142680" y="4848480"/>
            <a:ext cx="475200" cy="312840"/>
          </a:xfrm>
          <a:prstGeom prst="rect">
            <a:avLst/>
          </a:prstGeom>
          <a:solidFill>
            <a:srgbClr val="102030"/>
          </a:solidFill>
          <a:ln w="25400">
            <a:solidFill>
              <a:srgbClr val="ff6b3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39" name="Rectangle 338"/>
          <p:cNvSpPr/>
          <p:nvPr/>
        </p:nvSpPr>
        <p:spPr>
          <a:xfrm>
            <a:off x="5190120" y="5161320"/>
            <a:ext cx="475200" cy="312480"/>
          </a:xfrm>
          <a:prstGeom prst="rect">
            <a:avLst/>
          </a:prstGeom>
          <a:solidFill>
            <a:srgbClr val="102030"/>
          </a:solidFill>
          <a:ln w="25400">
            <a:solidFill>
              <a:srgbClr val="ff6b3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40" name="Rectangle 339"/>
          <p:cNvSpPr/>
          <p:nvPr/>
        </p:nvSpPr>
        <p:spPr>
          <a:xfrm>
            <a:off x="5665680" y="5161320"/>
            <a:ext cx="475200" cy="312480"/>
          </a:xfrm>
          <a:prstGeom prst="rect">
            <a:avLst/>
          </a:prstGeom>
          <a:solidFill>
            <a:srgbClr val="102030"/>
          </a:solidFill>
          <a:ln w="25400">
            <a:solidFill>
              <a:srgbClr val="ff6b3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41" name="Rectangle 340"/>
          <p:cNvSpPr/>
          <p:nvPr/>
        </p:nvSpPr>
        <p:spPr>
          <a:xfrm>
            <a:off x="6140880" y="5161320"/>
            <a:ext cx="475200" cy="312480"/>
          </a:xfrm>
          <a:prstGeom prst="rect">
            <a:avLst/>
          </a:prstGeom>
          <a:solidFill>
            <a:srgbClr val="102030"/>
          </a:solidFill>
          <a:ln w="25400">
            <a:solidFill>
              <a:srgbClr val="ff6b3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42" name="Rectangle 341"/>
          <p:cNvSpPr/>
          <p:nvPr/>
        </p:nvSpPr>
        <p:spPr>
          <a:xfrm>
            <a:off x="5188320" y="5473800"/>
            <a:ext cx="475200" cy="311760"/>
          </a:xfrm>
          <a:prstGeom prst="rect">
            <a:avLst/>
          </a:prstGeom>
          <a:solidFill>
            <a:srgbClr val="102030"/>
          </a:solidFill>
          <a:ln w="25400">
            <a:solidFill>
              <a:srgbClr val="ff6b3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43" name="Rectangle 342"/>
          <p:cNvSpPr/>
          <p:nvPr/>
        </p:nvSpPr>
        <p:spPr>
          <a:xfrm>
            <a:off x="5663880" y="5473800"/>
            <a:ext cx="475200" cy="311760"/>
          </a:xfrm>
          <a:prstGeom prst="rect">
            <a:avLst/>
          </a:prstGeom>
          <a:solidFill>
            <a:srgbClr val="102030"/>
          </a:solidFill>
          <a:ln w="25400">
            <a:solidFill>
              <a:srgbClr val="ff6b3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44" name="Rectangle 343"/>
          <p:cNvSpPr/>
          <p:nvPr/>
        </p:nvSpPr>
        <p:spPr>
          <a:xfrm>
            <a:off x="6139080" y="5473800"/>
            <a:ext cx="475200" cy="311760"/>
          </a:xfrm>
          <a:prstGeom prst="rect">
            <a:avLst/>
          </a:prstGeom>
          <a:solidFill>
            <a:srgbClr val="102030"/>
          </a:solidFill>
          <a:ln w="25400">
            <a:solidFill>
              <a:srgbClr val="ff6b3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45" name="TextBox 344"/>
          <p:cNvSpPr/>
          <p:nvPr/>
        </p:nvSpPr>
        <p:spPr>
          <a:xfrm>
            <a:off x="7470360" y="5411160"/>
            <a:ext cx="4568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ff6b35"/>
                </a:solidFill>
                <a:effectLst/>
                <a:uFillTx/>
                <a:latin typeface="Calibri"/>
              </a:rPr>
              <a:t>→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6" name="Rectangle 345"/>
          <p:cNvSpPr/>
          <p:nvPr/>
        </p:nvSpPr>
        <p:spPr>
          <a:xfrm>
            <a:off x="7927560" y="5365440"/>
            <a:ext cx="639720" cy="520920"/>
          </a:xfrm>
          <a:prstGeom prst="rect">
            <a:avLst/>
          </a:prstGeom>
          <a:solidFill>
            <a:srgbClr val="121e3a"/>
          </a:solidFill>
          <a:ln w="19050">
            <a:solidFill>
              <a:srgbClr val="ff6b3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47" name="TextBox 346"/>
          <p:cNvSpPr/>
          <p:nvPr/>
        </p:nvSpPr>
        <p:spPr>
          <a:xfrm>
            <a:off x="7927560" y="5473440"/>
            <a:ext cx="63972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6b35"/>
                </a:solidFill>
                <a:effectLst/>
                <a:uFillTx/>
                <a:latin typeface="Calibri"/>
              </a:rPr>
              <a:t>220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8" name="Rectangle 347"/>
          <p:cNvSpPr/>
          <p:nvPr/>
        </p:nvSpPr>
        <p:spPr>
          <a:xfrm>
            <a:off x="8640000" y="2079720"/>
            <a:ext cx="3413160" cy="4196880"/>
          </a:xfrm>
          <a:prstGeom prst="rect">
            <a:avLst/>
          </a:prstGeom>
          <a:solidFill>
            <a:srgbClr val="0f1732"/>
          </a:solidFill>
          <a:ln w="19050">
            <a:solidFill>
              <a:srgbClr val="00e57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49" name="TextBox 348"/>
          <p:cNvSpPr/>
          <p:nvPr/>
        </p:nvSpPr>
        <p:spPr>
          <a:xfrm>
            <a:off x="8824320" y="2216880"/>
            <a:ext cx="3595680" cy="48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00e576"/>
                </a:solidFill>
                <a:effectLst/>
                <a:uFillTx/>
                <a:latin typeface="Calibri"/>
              </a:rPr>
              <a:t>Output Feature Map (6×6 in → 6×6 out with padding=1)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0" name="TextBox 349"/>
          <p:cNvSpPr/>
          <p:nvPr/>
        </p:nvSpPr>
        <p:spPr>
          <a:xfrm>
            <a:off x="8824320" y="2765520"/>
            <a:ext cx="359568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i="1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Each cell in the output = one filter position calculation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1" name="Rectangle 350"/>
          <p:cNvSpPr/>
          <p:nvPr/>
        </p:nvSpPr>
        <p:spPr>
          <a:xfrm>
            <a:off x="8824320" y="3131280"/>
            <a:ext cx="479160" cy="456840"/>
          </a:xfrm>
          <a:prstGeom prst="rect">
            <a:avLst/>
          </a:prstGeom>
          <a:solidFill>
            <a:srgbClr val="102210"/>
          </a:solidFill>
          <a:ln w="15240">
            <a:solidFill>
              <a:srgbClr val="00d4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52" name="TextBox 351"/>
          <p:cNvSpPr/>
          <p:nvPr/>
        </p:nvSpPr>
        <p:spPr>
          <a:xfrm>
            <a:off x="8824320" y="3131280"/>
            <a:ext cx="47916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00d4ff"/>
                </a:solidFill>
                <a:effectLst/>
                <a:uFillTx/>
                <a:latin typeface="Calibri"/>
              </a:rPr>
              <a:t>210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3" name="Rectangle 352"/>
          <p:cNvSpPr/>
          <p:nvPr/>
        </p:nvSpPr>
        <p:spPr>
          <a:xfrm>
            <a:off x="9303840" y="3131280"/>
            <a:ext cx="479160" cy="456840"/>
          </a:xfrm>
          <a:prstGeom prst="rect">
            <a:avLst/>
          </a:prstGeom>
          <a:solidFill>
            <a:srgbClr val="102210"/>
          </a:solidFill>
          <a:ln w="15240">
            <a:solidFill>
              <a:srgbClr val="ffc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54" name="TextBox 353"/>
          <p:cNvSpPr/>
          <p:nvPr/>
        </p:nvSpPr>
        <p:spPr>
          <a:xfrm>
            <a:off x="9303840" y="3131280"/>
            <a:ext cx="47916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fcc00"/>
                </a:solidFill>
                <a:effectLst/>
                <a:uFillTx/>
                <a:latin typeface="Calibri"/>
              </a:rPr>
              <a:t>185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5" name="Rectangle 354"/>
          <p:cNvSpPr/>
          <p:nvPr/>
        </p:nvSpPr>
        <p:spPr>
          <a:xfrm>
            <a:off x="9783360" y="3131280"/>
            <a:ext cx="479160" cy="456840"/>
          </a:xfrm>
          <a:prstGeom prst="rect">
            <a:avLst/>
          </a:prstGeom>
          <a:solidFill>
            <a:srgbClr val="121e3a"/>
          </a:solidFill>
          <a:ln w="1524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56" name="TextBox 355"/>
          <p:cNvSpPr/>
          <p:nvPr/>
        </p:nvSpPr>
        <p:spPr>
          <a:xfrm>
            <a:off x="9783360" y="3131280"/>
            <a:ext cx="47916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142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7" name="Rectangle 356"/>
          <p:cNvSpPr/>
          <p:nvPr/>
        </p:nvSpPr>
        <p:spPr>
          <a:xfrm>
            <a:off x="10262520" y="3131280"/>
            <a:ext cx="479160" cy="456840"/>
          </a:xfrm>
          <a:prstGeom prst="rect">
            <a:avLst/>
          </a:prstGeom>
          <a:solidFill>
            <a:srgbClr val="121e3a"/>
          </a:solidFill>
          <a:ln w="1524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58" name="TextBox 357"/>
          <p:cNvSpPr/>
          <p:nvPr/>
        </p:nvSpPr>
        <p:spPr>
          <a:xfrm>
            <a:off x="10262520" y="3131280"/>
            <a:ext cx="47916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88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9" name="Rectangle 358"/>
          <p:cNvSpPr/>
          <p:nvPr/>
        </p:nvSpPr>
        <p:spPr>
          <a:xfrm>
            <a:off x="10742040" y="3131280"/>
            <a:ext cx="479160" cy="456840"/>
          </a:xfrm>
          <a:prstGeom prst="rect">
            <a:avLst/>
          </a:prstGeom>
          <a:solidFill>
            <a:srgbClr val="121e3a"/>
          </a:solidFill>
          <a:ln w="1524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60" name="TextBox 359"/>
          <p:cNvSpPr/>
          <p:nvPr/>
        </p:nvSpPr>
        <p:spPr>
          <a:xfrm>
            <a:off x="10742040" y="3131280"/>
            <a:ext cx="47916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52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1" name="Rectangle 360"/>
          <p:cNvSpPr/>
          <p:nvPr/>
        </p:nvSpPr>
        <p:spPr>
          <a:xfrm>
            <a:off x="11221560" y="3131280"/>
            <a:ext cx="479160" cy="456840"/>
          </a:xfrm>
          <a:prstGeom prst="rect">
            <a:avLst/>
          </a:prstGeom>
          <a:solidFill>
            <a:srgbClr val="121e3a"/>
          </a:solidFill>
          <a:ln w="1524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62" name="TextBox 361"/>
          <p:cNvSpPr/>
          <p:nvPr/>
        </p:nvSpPr>
        <p:spPr>
          <a:xfrm>
            <a:off x="11221560" y="3131280"/>
            <a:ext cx="47916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28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3" name="Rectangle 362"/>
          <p:cNvSpPr/>
          <p:nvPr/>
        </p:nvSpPr>
        <p:spPr>
          <a:xfrm>
            <a:off x="8824320" y="3588480"/>
            <a:ext cx="479160" cy="456840"/>
          </a:xfrm>
          <a:prstGeom prst="rect">
            <a:avLst/>
          </a:prstGeom>
          <a:solidFill>
            <a:srgbClr val="102210"/>
          </a:solidFill>
          <a:ln w="15240">
            <a:solidFill>
              <a:srgbClr val="00e57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64" name="TextBox 363"/>
          <p:cNvSpPr/>
          <p:nvPr/>
        </p:nvSpPr>
        <p:spPr>
          <a:xfrm>
            <a:off x="8824320" y="3588480"/>
            <a:ext cx="47916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00e576"/>
                </a:solidFill>
                <a:effectLst/>
                <a:uFillTx/>
                <a:latin typeface="Calibri"/>
              </a:rPr>
              <a:t>198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5" name="Rectangle 364"/>
          <p:cNvSpPr/>
          <p:nvPr/>
        </p:nvSpPr>
        <p:spPr>
          <a:xfrm>
            <a:off x="9303840" y="3588480"/>
            <a:ext cx="479160" cy="456840"/>
          </a:xfrm>
          <a:prstGeom prst="rect">
            <a:avLst/>
          </a:prstGeom>
          <a:solidFill>
            <a:srgbClr val="102210"/>
          </a:solidFill>
          <a:ln w="15240">
            <a:solidFill>
              <a:srgbClr val="ff6b3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66" name="TextBox 365"/>
          <p:cNvSpPr/>
          <p:nvPr/>
        </p:nvSpPr>
        <p:spPr>
          <a:xfrm>
            <a:off x="9303840" y="3588480"/>
            <a:ext cx="47916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f6b35"/>
                </a:solidFill>
                <a:effectLst/>
                <a:uFillTx/>
                <a:latin typeface="Calibri"/>
              </a:rPr>
              <a:t>220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7" name="Rectangle 366"/>
          <p:cNvSpPr/>
          <p:nvPr/>
        </p:nvSpPr>
        <p:spPr>
          <a:xfrm>
            <a:off x="9783360" y="3588480"/>
            <a:ext cx="479160" cy="456840"/>
          </a:xfrm>
          <a:prstGeom prst="rect">
            <a:avLst/>
          </a:prstGeom>
          <a:solidFill>
            <a:srgbClr val="121e3a"/>
          </a:solidFill>
          <a:ln w="1524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68" name="TextBox 367"/>
          <p:cNvSpPr/>
          <p:nvPr/>
        </p:nvSpPr>
        <p:spPr>
          <a:xfrm>
            <a:off x="9783360" y="3588480"/>
            <a:ext cx="47916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168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9" name="Rectangle 368"/>
          <p:cNvSpPr/>
          <p:nvPr/>
        </p:nvSpPr>
        <p:spPr>
          <a:xfrm>
            <a:off x="10262520" y="3588480"/>
            <a:ext cx="479160" cy="456840"/>
          </a:xfrm>
          <a:prstGeom prst="rect">
            <a:avLst/>
          </a:prstGeom>
          <a:solidFill>
            <a:srgbClr val="121e3a"/>
          </a:solidFill>
          <a:ln w="1524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70" name="TextBox 369"/>
          <p:cNvSpPr/>
          <p:nvPr/>
        </p:nvSpPr>
        <p:spPr>
          <a:xfrm>
            <a:off x="10262520" y="3588480"/>
            <a:ext cx="47916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95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1" name="Rectangle 370"/>
          <p:cNvSpPr/>
          <p:nvPr/>
        </p:nvSpPr>
        <p:spPr>
          <a:xfrm>
            <a:off x="10742040" y="3588480"/>
            <a:ext cx="479160" cy="456840"/>
          </a:xfrm>
          <a:prstGeom prst="rect">
            <a:avLst/>
          </a:prstGeom>
          <a:solidFill>
            <a:srgbClr val="121e3a"/>
          </a:solidFill>
          <a:ln w="1524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72" name="TextBox 371"/>
          <p:cNvSpPr/>
          <p:nvPr/>
        </p:nvSpPr>
        <p:spPr>
          <a:xfrm>
            <a:off x="10742040" y="3588480"/>
            <a:ext cx="47916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58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3" name="Rectangle 372"/>
          <p:cNvSpPr/>
          <p:nvPr/>
        </p:nvSpPr>
        <p:spPr>
          <a:xfrm>
            <a:off x="11221560" y="3588480"/>
            <a:ext cx="479160" cy="456840"/>
          </a:xfrm>
          <a:prstGeom prst="rect">
            <a:avLst/>
          </a:prstGeom>
          <a:solidFill>
            <a:srgbClr val="121e3a"/>
          </a:solidFill>
          <a:ln w="1524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74" name="TextBox 373"/>
          <p:cNvSpPr/>
          <p:nvPr/>
        </p:nvSpPr>
        <p:spPr>
          <a:xfrm>
            <a:off x="11221560" y="3588480"/>
            <a:ext cx="47916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30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5" name="Rectangle 374"/>
          <p:cNvSpPr/>
          <p:nvPr/>
        </p:nvSpPr>
        <p:spPr>
          <a:xfrm>
            <a:off x="8824320" y="4045680"/>
            <a:ext cx="479160" cy="456840"/>
          </a:xfrm>
          <a:prstGeom prst="rect">
            <a:avLst/>
          </a:prstGeom>
          <a:solidFill>
            <a:srgbClr val="121e3a"/>
          </a:solidFill>
          <a:ln w="1524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76" name="TextBox 375"/>
          <p:cNvSpPr/>
          <p:nvPr/>
        </p:nvSpPr>
        <p:spPr>
          <a:xfrm>
            <a:off x="8824320" y="4045680"/>
            <a:ext cx="47916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172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7" name="Rectangle 376"/>
          <p:cNvSpPr/>
          <p:nvPr/>
        </p:nvSpPr>
        <p:spPr>
          <a:xfrm>
            <a:off x="9303840" y="4045680"/>
            <a:ext cx="479160" cy="456840"/>
          </a:xfrm>
          <a:prstGeom prst="rect">
            <a:avLst/>
          </a:prstGeom>
          <a:solidFill>
            <a:srgbClr val="121e3a"/>
          </a:solidFill>
          <a:ln w="1524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78" name="TextBox 377"/>
          <p:cNvSpPr/>
          <p:nvPr/>
        </p:nvSpPr>
        <p:spPr>
          <a:xfrm>
            <a:off x="9303840" y="4045680"/>
            <a:ext cx="47916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195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9" name="Rectangle 378"/>
          <p:cNvSpPr/>
          <p:nvPr/>
        </p:nvSpPr>
        <p:spPr>
          <a:xfrm>
            <a:off x="9783360" y="4045680"/>
            <a:ext cx="479160" cy="456840"/>
          </a:xfrm>
          <a:prstGeom prst="rect">
            <a:avLst/>
          </a:prstGeom>
          <a:solidFill>
            <a:srgbClr val="121e3a"/>
          </a:solidFill>
          <a:ln w="1524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80" name="TextBox 379"/>
          <p:cNvSpPr/>
          <p:nvPr/>
        </p:nvSpPr>
        <p:spPr>
          <a:xfrm>
            <a:off x="9783360" y="4045680"/>
            <a:ext cx="47916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185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1" name="Rectangle 380"/>
          <p:cNvSpPr/>
          <p:nvPr/>
        </p:nvSpPr>
        <p:spPr>
          <a:xfrm>
            <a:off x="10262520" y="4045680"/>
            <a:ext cx="479160" cy="456840"/>
          </a:xfrm>
          <a:prstGeom prst="rect">
            <a:avLst/>
          </a:prstGeom>
          <a:solidFill>
            <a:srgbClr val="121e3a"/>
          </a:solidFill>
          <a:ln w="1524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82" name="TextBox 381"/>
          <p:cNvSpPr/>
          <p:nvPr/>
        </p:nvSpPr>
        <p:spPr>
          <a:xfrm>
            <a:off x="10262520" y="4045680"/>
            <a:ext cx="47916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110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3" name="Rectangle 382"/>
          <p:cNvSpPr/>
          <p:nvPr/>
        </p:nvSpPr>
        <p:spPr>
          <a:xfrm>
            <a:off x="10742040" y="4045680"/>
            <a:ext cx="479160" cy="456840"/>
          </a:xfrm>
          <a:prstGeom prst="rect">
            <a:avLst/>
          </a:prstGeom>
          <a:solidFill>
            <a:srgbClr val="121e3a"/>
          </a:solidFill>
          <a:ln w="1524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84" name="TextBox 383"/>
          <p:cNvSpPr/>
          <p:nvPr/>
        </p:nvSpPr>
        <p:spPr>
          <a:xfrm>
            <a:off x="10742040" y="4045680"/>
            <a:ext cx="47916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65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5" name="Rectangle 384"/>
          <p:cNvSpPr/>
          <p:nvPr/>
        </p:nvSpPr>
        <p:spPr>
          <a:xfrm>
            <a:off x="11221560" y="4045680"/>
            <a:ext cx="479160" cy="456840"/>
          </a:xfrm>
          <a:prstGeom prst="rect">
            <a:avLst/>
          </a:prstGeom>
          <a:solidFill>
            <a:srgbClr val="121e3a"/>
          </a:solidFill>
          <a:ln w="1524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86" name="TextBox 385"/>
          <p:cNvSpPr/>
          <p:nvPr/>
        </p:nvSpPr>
        <p:spPr>
          <a:xfrm>
            <a:off x="11221560" y="4045680"/>
            <a:ext cx="47916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35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7" name="Rectangle 386"/>
          <p:cNvSpPr/>
          <p:nvPr/>
        </p:nvSpPr>
        <p:spPr>
          <a:xfrm>
            <a:off x="8824320" y="4502880"/>
            <a:ext cx="479160" cy="456840"/>
          </a:xfrm>
          <a:prstGeom prst="rect">
            <a:avLst/>
          </a:prstGeom>
          <a:solidFill>
            <a:srgbClr val="121e3a"/>
          </a:solidFill>
          <a:ln w="1524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88" name="TextBox 387"/>
          <p:cNvSpPr/>
          <p:nvPr/>
        </p:nvSpPr>
        <p:spPr>
          <a:xfrm>
            <a:off x="8824320" y="4502880"/>
            <a:ext cx="47916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88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9" name="Rectangle 388"/>
          <p:cNvSpPr/>
          <p:nvPr/>
        </p:nvSpPr>
        <p:spPr>
          <a:xfrm>
            <a:off x="9303840" y="4502880"/>
            <a:ext cx="479160" cy="456840"/>
          </a:xfrm>
          <a:prstGeom prst="rect">
            <a:avLst/>
          </a:prstGeom>
          <a:solidFill>
            <a:srgbClr val="121e3a"/>
          </a:solidFill>
          <a:ln w="1524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90" name="TextBox 389"/>
          <p:cNvSpPr/>
          <p:nvPr/>
        </p:nvSpPr>
        <p:spPr>
          <a:xfrm>
            <a:off x="9303840" y="4502880"/>
            <a:ext cx="47916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102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1" name="Rectangle 390"/>
          <p:cNvSpPr/>
          <p:nvPr/>
        </p:nvSpPr>
        <p:spPr>
          <a:xfrm>
            <a:off x="9783360" y="4502880"/>
            <a:ext cx="479160" cy="456840"/>
          </a:xfrm>
          <a:prstGeom prst="rect">
            <a:avLst/>
          </a:prstGeom>
          <a:solidFill>
            <a:srgbClr val="121e3a"/>
          </a:solidFill>
          <a:ln w="1524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92" name="TextBox 391"/>
          <p:cNvSpPr/>
          <p:nvPr/>
        </p:nvSpPr>
        <p:spPr>
          <a:xfrm>
            <a:off x="9783360" y="4502880"/>
            <a:ext cx="47916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118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3" name="Rectangle 392"/>
          <p:cNvSpPr/>
          <p:nvPr/>
        </p:nvSpPr>
        <p:spPr>
          <a:xfrm>
            <a:off x="10262520" y="4502880"/>
            <a:ext cx="479160" cy="456840"/>
          </a:xfrm>
          <a:prstGeom prst="rect">
            <a:avLst/>
          </a:prstGeom>
          <a:solidFill>
            <a:srgbClr val="121e3a"/>
          </a:solidFill>
          <a:ln w="1524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94" name="TextBox 393"/>
          <p:cNvSpPr/>
          <p:nvPr/>
        </p:nvSpPr>
        <p:spPr>
          <a:xfrm>
            <a:off x="10262520" y="4502880"/>
            <a:ext cx="47916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132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5" name="Rectangle 394"/>
          <p:cNvSpPr/>
          <p:nvPr/>
        </p:nvSpPr>
        <p:spPr>
          <a:xfrm>
            <a:off x="10742040" y="4502880"/>
            <a:ext cx="479160" cy="456840"/>
          </a:xfrm>
          <a:prstGeom prst="rect">
            <a:avLst/>
          </a:prstGeom>
          <a:solidFill>
            <a:srgbClr val="121e3a"/>
          </a:solidFill>
          <a:ln w="1524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96" name="TextBox 395"/>
          <p:cNvSpPr/>
          <p:nvPr/>
        </p:nvSpPr>
        <p:spPr>
          <a:xfrm>
            <a:off x="10742040" y="4502880"/>
            <a:ext cx="47916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75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7" name="Rectangle 396"/>
          <p:cNvSpPr/>
          <p:nvPr/>
        </p:nvSpPr>
        <p:spPr>
          <a:xfrm>
            <a:off x="11221560" y="4502880"/>
            <a:ext cx="479160" cy="456840"/>
          </a:xfrm>
          <a:prstGeom prst="rect">
            <a:avLst/>
          </a:prstGeom>
          <a:solidFill>
            <a:srgbClr val="121e3a"/>
          </a:solidFill>
          <a:ln w="1524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98" name="TextBox 397"/>
          <p:cNvSpPr/>
          <p:nvPr/>
        </p:nvSpPr>
        <p:spPr>
          <a:xfrm>
            <a:off x="11221560" y="4502880"/>
            <a:ext cx="47916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40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9" name="Rectangle 398"/>
          <p:cNvSpPr/>
          <p:nvPr/>
        </p:nvSpPr>
        <p:spPr>
          <a:xfrm>
            <a:off x="8824320" y="4960080"/>
            <a:ext cx="479160" cy="456840"/>
          </a:xfrm>
          <a:prstGeom prst="rect">
            <a:avLst/>
          </a:prstGeom>
          <a:solidFill>
            <a:srgbClr val="121e3a"/>
          </a:solidFill>
          <a:ln w="1524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00" name="TextBox 399"/>
          <p:cNvSpPr/>
          <p:nvPr/>
        </p:nvSpPr>
        <p:spPr>
          <a:xfrm>
            <a:off x="8824320" y="4960080"/>
            <a:ext cx="47916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45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1" name="Rectangle 400"/>
          <p:cNvSpPr/>
          <p:nvPr/>
        </p:nvSpPr>
        <p:spPr>
          <a:xfrm>
            <a:off x="9303840" y="4960080"/>
            <a:ext cx="479160" cy="456840"/>
          </a:xfrm>
          <a:prstGeom prst="rect">
            <a:avLst/>
          </a:prstGeom>
          <a:solidFill>
            <a:srgbClr val="121e3a"/>
          </a:solidFill>
          <a:ln w="1524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02" name="TextBox 401"/>
          <p:cNvSpPr/>
          <p:nvPr/>
        </p:nvSpPr>
        <p:spPr>
          <a:xfrm>
            <a:off x="9303840" y="4960080"/>
            <a:ext cx="47916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58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3" name="Rectangle 402"/>
          <p:cNvSpPr/>
          <p:nvPr/>
        </p:nvSpPr>
        <p:spPr>
          <a:xfrm>
            <a:off x="9783360" y="4960080"/>
            <a:ext cx="479160" cy="456840"/>
          </a:xfrm>
          <a:prstGeom prst="rect">
            <a:avLst/>
          </a:prstGeom>
          <a:solidFill>
            <a:srgbClr val="121e3a"/>
          </a:solidFill>
          <a:ln w="1524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04" name="TextBox 403"/>
          <p:cNvSpPr/>
          <p:nvPr/>
        </p:nvSpPr>
        <p:spPr>
          <a:xfrm>
            <a:off x="9783360" y="4960080"/>
            <a:ext cx="47916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72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5" name="Rectangle 404"/>
          <p:cNvSpPr/>
          <p:nvPr/>
        </p:nvSpPr>
        <p:spPr>
          <a:xfrm>
            <a:off x="10262520" y="4960080"/>
            <a:ext cx="479160" cy="456840"/>
          </a:xfrm>
          <a:prstGeom prst="rect">
            <a:avLst/>
          </a:prstGeom>
          <a:solidFill>
            <a:srgbClr val="121e3a"/>
          </a:solidFill>
          <a:ln w="1524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06" name="TextBox 405"/>
          <p:cNvSpPr/>
          <p:nvPr/>
        </p:nvSpPr>
        <p:spPr>
          <a:xfrm>
            <a:off x="10262520" y="4960080"/>
            <a:ext cx="47916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85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7" name="Rectangle 406"/>
          <p:cNvSpPr/>
          <p:nvPr/>
        </p:nvSpPr>
        <p:spPr>
          <a:xfrm>
            <a:off x="10742040" y="4960080"/>
            <a:ext cx="479160" cy="456840"/>
          </a:xfrm>
          <a:prstGeom prst="rect">
            <a:avLst/>
          </a:prstGeom>
          <a:solidFill>
            <a:srgbClr val="121e3a"/>
          </a:solidFill>
          <a:ln w="1524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08" name="TextBox 407"/>
          <p:cNvSpPr/>
          <p:nvPr/>
        </p:nvSpPr>
        <p:spPr>
          <a:xfrm>
            <a:off x="10742040" y="4960080"/>
            <a:ext cx="47916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92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9" name="Rectangle 408"/>
          <p:cNvSpPr/>
          <p:nvPr/>
        </p:nvSpPr>
        <p:spPr>
          <a:xfrm>
            <a:off x="11221560" y="4960080"/>
            <a:ext cx="479160" cy="456840"/>
          </a:xfrm>
          <a:prstGeom prst="rect">
            <a:avLst/>
          </a:prstGeom>
          <a:solidFill>
            <a:srgbClr val="121e3a"/>
          </a:solidFill>
          <a:ln w="1524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10" name="TextBox 409"/>
          <p:cNvSpPr/>
          <p:nvPr/>
        </p:nvSpPr>
        <p:spPr>
          <a:xfrm>
            <a:off x="11221560" y="4960080"/>
            <a:ext cx="47916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48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1" name="Rectangle 410"/>
          <p:cNvSpPr/>
          <p:nvPr/>
        </p:nvSpPr>
        <p:spPr>
          <a:xfrm>
            <a:off x="8824320" y="5417280"/>
            <a:ext cx="479160" cy="456840"/>
          </a:xfrm>
          <a:prstGeom prst="rect">
            <a:avLst/>
          </a:prstGeom>
          <a:solidFill>
            <a:srgbClr val="121e3a"/>
          </a:solidFill>
          <a:ln w="1524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12" name="TextBox 411"/>
          <p:cNvSpPr/>
          <p:nvPr/>
        </p:nvSpPr>
        <p:spPr>
          <a:xfrm>
            <a:off x="8824320" y="5417280"/>
            <a:ext cx="47916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20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3" name="Rectangle 412"/>
          <p:cNvSpPr/>
          <p:nvPr/>
        </p:nvSpPr>
        <p:spPr>
          <a:xfrm>
            <a:off x="9303840" y="5417280"/>
            <a:ext cx="479160" cy="456840"/>
          </a:xfrm>
          <a:prstGeom prst="rect">
            <a:avLst/>
          </a:prstGeom>
          <a:solidFill>
            <a:srgbClr val="121e3a"/>
          </a:solidFill>
          <a:ln w="1524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14" name="TextBox 413"/>
          <p:cNvSpPr/>
          <p:nvPr/>
        </p:nvSpPr>
        <p:spPr>
          <a:xfrm>
            <a:off x="9303840" y="5417280"/>
            <a:ext cx="47916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32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5" name="Rectangle 414"/>
          <p:cNvSpPr/>
          <p:nvPr/>
        </p:nvSpPr>
        <p:spPr>
          <a:xfrm>
            <a:off x="9783360" y="5417280"/>
            <a:ext cx="479160" cy="456840"/>
          </a:xfrm>
          <a:prstGeom prst="rect">
            <a:avLst/>
          </a:prstGeom>
          <a:solidFill>
            <a:srgbClr val="121e3a"/>
          </a:solidFill>
          <a:ln w="1524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16" name="TextBox 415"/>
          <p:cNvSpPr/>
          <p:nvPr/>
        </p:nvSpPr>
        <p:spPr>
          <a:xfrm>
            <a:off x="9783360" y="5417280"/>
            <a:ext cx="47916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45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7" name="Rectangle 416"/>
          <p:cNvSpPr/>
          <p:nvPr/>
        </p:nvSpPr>
        <p:spPr>
          <a:xfrm>
            <a:off x="10262520" y="5417280"/>
            <a:ext cx="479160" cy="456840"/>
          </a:xfrm>
          <a:prstGeom prst="rect">
            <a:avLst/>
          </a:prstGeom>
          <a:solidFill>
            <a:srgbClr val="121e3a"/>
          </a:solidFill>
          <a:ln w="1524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18" name="TextBox 417"/>
          <p:cNvSpPr/>
          <p:nvPr/>
        </p:nvSpPr>
        <p:spPr>
          <a:xfrm>
            <a:off x="10262520" y="5417280"/>
            <a:ext cx="47916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55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9" name="Rectangle 418"/>
          <p:cNvSpPr/>
          <p:nvPr/>
        </p:nvSpPr>
        <p:spPr>
          <a:xfrm>
            <a:off x="10742040" y="5417280"/>
            <a:ext cx="479160" cy="456840"/>
          </a:xfrm>
          <a:prstGeom prst="rect">
            <a:avLst/>
          </a:prstGeom>
          <a:solidFill>
            <a:srgbClr val="121e3a"/>
          </a:solidFill>
          <a:ln w="1524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20" name="TextBox 419"/>
          <p:cNvSpPr/>
          <p:nvPr/>
        </p:nvSpPr>
        <p:spPr>
          <a:xfrm>
            <a:off x="10742040" y="5417280"/>
            <a:ext cx="47916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62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1" name="Rectangle 420"/>
          <p:cNvSpPr/>
          <p:nvPr/>
        </p:nvSpPr>
        <p:spPr>
          <a:xfrm>
            <a:off x="11221560" y="5417280"/>
            <a:ext cx="479160" cy="456840"/>
          </a:xfrm>
          <a:prstGeom prst="rect">
            <a:avLst/>
          </a:prstGeom>
          <a:solidFill>
            <a:srgbClr val="121e3a"/>
          </a:solidFill>
          <a:ln w="1524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22" name="TextBox 421"/>
          <p:cNvSpPr/>
          <p:nvPr/>
        </p:nvSpPr>
        <p:spPr>
          <a:xfrm>
            <a:off x="11221560" y="5417280"/>
            <a:ext cx="47916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38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3" name="TextBox 422"/>
          <p:cNvSpPr/>
          <p:nvPr/>
        </p:nvSpPr>
        <p:spPr>
          <a:xfrm>
            <a:off x="8820360" y="5874120"/>
            <a:ext cx="3595680" cy="42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100" b="0" i="1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↑ Coloured cells = the 4 values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i="1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  we just calculated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4" name="Rectangle 423"/>
          <p:cNvSpPr/>
          <p:nvPr/>
        </p:nvSpPr>
        <p:spPr>
          <a:xfrm>
            <a:off x="274320" y="6492240"/>
            <a:ext cx="11612520" cy="255600"/>
          </a:xfrm>
          <a:prstGeom prst="rect">
            <a:avLst/>
          </a:prstGeom>
          <a:solidFill>
            <a:srgbClr val="121e3a"/>
          </a:solidFill>
          <a:ln w="12700">
            <a:solidFill>
              <a:srgbClr val="00d4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25" name="TextBox 424"/>
          <p:cNvSpPr/>
          <p:nvPr/>
        </p:nvSpPr>
        <p:spPr>
          <a:xfrm>
            <a:off x="457200" y="6510600"/>
            <a:ext cx="11429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00d4ff"/>
                </a:solidFill>
                <a:effectLst/>
                <a:uFillTx/>
                <a:latin typeface="Calibri"/>
              </a:rPr>
              <a:t>For a 128×128 image:  128×128 = 16,384 positions  →  filter runs 16,384 times  →  outputs 16,384 values  (one 128×128 feature map)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80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Rectangle 1"/>
          <p:cNvSpPr/>
          <p:nvPr/>
        </p:nvSpPr>
        <p:spPr>
          <a:xfrm>
            <a:off x="0" y="0"/>
            <a:ext cx="72720" cy="6857640"/>
          </a:xfrm>
          <a:prstGeom prst="rect">
            <a:avLst/>
          </a:prstGeom>
          <a:solidFill>
            <a:srgbClr val="00bfa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27" name="TextBox 2"/>
          <p:cNvSpPr/>
          <p:nvPr/>
        </p:nvSpPr>
        <p:spPr>
          <a:xfrm>
            <a:off x="320040" y="182880"/>
            <a:ext cx="114296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400" b="1" u="none" strike="noStrike">
                <a:solidFill>
                  <a:srgbClr val="00bfa5"/>
                </a:solidFill>
                <a:effectLst/>
                <a:uFillTx/>
                <a:latin typeface="Calibri"/>
              </a:rPr>
              <a:t>Padding — Keeping the Output the Same Size</a:t>
            </a:r>
            <a:endParaRPr lang="en-IN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8" name="TextBox 3"/>
          <p:cNvSpPr/>
          <p:nvPr/>
        </p:nvSpPr>
        <p:spPr>
          <a:xfrm>
            <a:off x="320040" y="868680"/>
            <a:ext cx="11429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Without padding, a 3×3 filter shrinks the output. Padding=1 preserves dimensions.</a:t>
            </a:r>
            <a:endParaRPr lang="en-IN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9" name="Rectangle 4"/>
          <p:cNvSpPr/>
          <p:nvPr/>
        </p:nvSpPr>
        <p:spPr>
          <a:xfrm>
            <a:off x="320040" y="1325880"/>
            <a:ext cx="11521080" cy="27000"/>
          </a:xfrm>
          <a:prstGeom prst="rect">
            <a:avLst/>
          </a:prstGeom>
          <a:solidFill>
            <a:srgbClr val="3a4a6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7640" bIns="-1764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30" name="Rectangle 5"/>
          <p:cNvSpPr/>
          <p:nvPr/>
        </p:nvSpPr>
        <p:spPr>
          <a:xfrm>
            <a:off x="274320" y="1508760"/>
            <a:ext cx="5303160" cy="5028840"/>
          </a:xfrm>
          <a:prstGeom prst="rect">
            <a:avLst/>
          </a:prstGeom>
          <a:solidFill>
            <a:srgbClr val="0f1732"/>
          </a:solidFill>
          <a:ln w="19050">
            <a:solidFill>
              <a:srgbClr val="ff454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31" name="TextBox 6"/>
          <p:cNvSpPr/>
          <p:nvPr/>
        </p:nvSpPr>
        <p:spPr>
          <a:xfrm>
            <a:off x="457200" y="1645920"/>
            <a:ext cx="4937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4545"/>
                </a:solidFill>
                <a:effectLst/>
                <a:uFillTx/>
                <a:latin typeface="Calibri"/>
              </a:rPr>
              <a:t>WITHOUT Padding  (padding=0)</a:t>
            </a:r>
            <a:endParaRPr lang="en-IN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2" name="TextBox 7"/>
          <p:cNvSpPr/>
          <p:nvPr/>
        </p:nvSpPr>
        <p:spPr>
          <a:xfrm>
            <a:off x="457200" y="2103120"/>
            <a:ext cx="21027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Input: 5×5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3" name="Rectangle 8"/>
          <p:cNvSpPr/>
          <p:nvPr/>
        </p:nvSpPr>
        <p:spPr>
          <a:xfrm>
            <a:off x="457200" y="2423160"/>
            <a:ext cx="456840" cy="41112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34" name="TextBox 9"/>
          <p:cNvSpPr/>
          <p:nvPr/>
        </p:nvSpPr>
        <p:spPr>
          <a:xfrm>
            <a:off x="457200" y="2423160"/>
            <a:ext cx="4568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1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5" name="Rectangle 10"/>
          <p:cNvSpPr/>
          <p:nvPr/>
        </p:nvSpPr>
        <p:spPr>
          <a:xfrm>
            <a:off x="914400" y="2423160"/>
            <a:ext cx="456840" cy="41112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36" name="TextBox 11"/>
          <p:cNvSpPr/>
          <p:nvPr/>
        </p:nvSpPr>
        <p:spPr>
          <a:xfrm>
            <a:off x="914400" y="2423160"/>
            <a:ext cx="4568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2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7" name="Rectangle 12"/>
          <p:cNvSpPr/>
          <p:nvPr/>
        </p:nvSpPr>
        <p:spPr>
          <a:xfrm>
            <a:off x="1371600" y="2423160"/>
            <a:ext cx="456840" cy="41112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38" name="TextBox 13"/>
          <p:cNvSpPr/>
          <p:nvPr/>
        </p:nvSpPr>
        <p:spPr>
          <a:xfrm>
            <a:off x="1371600" y="2423160"/>
            <a:ext cx="4568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3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9" name="Rectangle 14"/>
          <p:cNvSpPr/>
          <p:nvPr/>
        </p:nvSpPr>
        <p:spPr>
          <a:xfrm>
            <a:off x="1828800" y="2423160"/>
            <a:ext cx="456840" cy="41112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40" name="TextBox 15"/>
          <p:cNvSpPr/>
          <p:nvPr/>
        </p:nvSpPr>
        <p:spPr>
          <a:xfrm>
            <a:off x="1828800" y="2423160"/>
            <a:ext cx="4568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4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1" name="Rectangle 16"/>
          <p:cNvSpPr/>
          <p:nvPr/>
        </p:nvSpPr>
        <p:spPr>
          <a:xfrm>
            <a:off x="2286000" y="2423160"/>
            <a:ext cx="456840" cy="41112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42" name="TextBox 17"/>
          <p:cNvSpPr/>
          <p:nvPr/>
        </p:nvSpPr>
        <p:spPr>
          <a:xfrm>
            <a:off x="2286000" y="2423160"/>
            <a:ext cx="4568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5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3" name="Rectangle 18"/>
          <p:cNvSpPr/>
          <p:nvPr/>
        </p:nvSpPr>
        <p:spPr>
          <a:xfrm>
            <a:off x="457200" y="2834640"/>
            <a:ext cx="456840" cy="41112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44" name="TextBox 19"/>
          <p:cNvSpPr/>
          <p:nvPr/>
        </p:nvSpPr>
        <p:spPr>
          <a:xfrm>
            <a:off x="457200" y="2834640"/>
            <a:ext cx="4568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6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5" name="Rectangle 20"/>
          <p:cNvSpPr/>
          <p:nvPr/>
        </p:nvSpPr>
        <p:spPr>
          <a:xfrm>
            <a:off x="914400" y="2834640"/>
            <a:ext cx="456840" cy="41112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46" name="TextBox 21"/>
          <p:cNvSpPr/>
          <p:nvPr/>
        </p:nvSpPr>
        <p:spPr>
          <a:xfrm>
            <a:off x="914400" y="2834640"/>
            <a:ext cx="4568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7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7" name="Rectangle 22"/>
          <p:cNvSpPr/>
          <p:nvPr/>
        </p:nvSpPr>
        <p:spPr>
          <a:xfrm>
            <a:off x="1371600" y="2834640"/>
            <a:ext cx="456840" cy="41112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48" name="TextBox 23"/>
          <p:cNvSpPr/>
          <p:nvPr/>
        </p:nvSpPr>
        <p:spPr>
          <a:xfrm>
            <a:off x="1371600" y="2834640"/>
            <a:ext cx="4568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8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9" name="Rectangle 24"/>
          <p:cNvSpPr/>
          <p:nvPr/>
        </p:nvSpPr>
        <p:spPr>
          <a:xfrm>
            <a:off x="1828800" y="2834640"/>
            <a:ext cx="456840" cy="41112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50" name="TextBox 25"/>
          <p:cNvSpPr/>
          <p:nvPr/>
        </p:nvSpPr>
        <p:spPr>
          <a:xfrm>
            <a:off x="1828800" y="2834640"/>
            <a:ext cx="4568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9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1" name="Rectangle 26"/>
          <p:cNvSpPr/>
          <p:nvPr/>
        </p:nvSpPr>
        <p:spPr>
          <a:xfrm>
            <a:off x="2286000" y="2834640"/>
            <a:ext cx="456840" cy="41112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52" name="TextBox 27"/>
          <p:cNvSpPr/>
          <p:nvPr/>
        </p:nvSpPr>
        <p:spPr>
          <a:xfrm>
            <a:off x="2286000" y="2834640"/>
            <a:ext cx="4568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10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3" name="Rectangle 28"/>
          <p:cNvSpPr/>
          <p:nvPr/>
        </p:nvSpPr>
        <p:spPr>
          <a:xfrm>
            <a:off x="457200" y="3246120"/>
            <a:ext cx="456840" cy="41112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54" name="TextBox 29"/>
          <p:cNvSpPr/>
          <p:nvPr/>
        </p:nvSpPr>
        <p:spPr>
          <a:xfrm>
            <a:off x="457200" y="3246120"/>
            <a:ext cx="4568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11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5" name="Rectangle 30"/>
          <p:cNvSpPr/>
          <p:nvPr/>
        </p:nvSpPr>
        <p:spPr>
          <a:xfrm>
            <a:off x="914400" y="3246120"/>
            <a:ext cx="456840" cy="41112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56" name="TextBox 31"/>
          <p:cNvSpPr/>
          <p:nvPr/>
        </p:nvSpPr>
        <p:spPr>
          <a:xfrm>
            <a:off x="914400" y="3246120"/>
            <a:ext cx="4568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12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7" name="Rectangle 32"/>
          <p:cNvSpPr/>
          <p:nvPr/>
        </p:nvSpPr>
        <p:spPr>
          <a:xfrm>
            <a:off x="1371600" y="3246120"/>
            <a:ext cx="456840" cy="41112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58" name="TextBox 33"/>
          <p:cNvSpPr/>
          <p:nvPr/>
        </p:nvSpPr>
        <p:spPr>
          <a:xfrm>
            <a:off x="1371600" y="3246120"/>
            <a:ext cx="4568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13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9" name="Rectangle 34"/>
          <p:cNvSpPr/>
          <p:nvPr/>
        </p:nvSpPr>
        <p:spPr>
          <a:xfrm>
            <a:off x="1828800" y="3246120"/>
            <a:ext cx="456840" cy="41112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60" name="TextBox 35"/>
          <p:cNvSpPr/>
          <p:nvPr/>
        </p:nvSpPr>
        <p:spPr>
          <a:xfrm>
            <a:off x="1828800" y="3246120"/>
            <a:ext cx="4568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14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1" name="Rectangle 36"/>
          <p:cNvSpPr/>
          <p:nvPr/>
        </p:nvSpPr>
        <p:spPr>
          <a:xfrm>
            <a:off x="2286000" y="3246120"/>
            <a:ext cx="456840" cy="41112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62" name="TextBox 37"/>
          <p:cNvSpPr/>
          <p:nvPr/>
        </p:nvSpPr>
        <p:spPr>
          <a:xfrm>
            <a:off x="2286000" y="3246120"/>
            <a:ext cx="4568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15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3" name="Rectangle 38"/>
          <p:cNvSpPr/>
          <p:nvPr/>
        </p:nvSpPr>
        <p:spPr>
          <a:xfrm>
            <a:off x="457200" y="3657600"/>
            <a:ext cx="456840" cy="41112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64" name="TextBox 39"/>
          <p:cNvSpPr/>
          <p:nvPr/>
        </p:nvSpPr>
        <p:spPr>
          <a:xfrm>
            <a:off x="457200" y="3657600"/>
            <a:ext cx="4568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16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5" name="Rectangle 40"/>
          <p:cNvSpPr/>
          <p:nvPr/>
        </p:nvSpPr>
        <p:spPr>
          <a:xfrm>
            <a:off x="914400" y="3657600"/>
            <a:ext cx="456840" cy="41112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66" name="TextBox 41"/>
          <p:cNvSpPr/>
          <p:nvPr/>
        </p:nvSpPr>
        <p:spPr>
          <a:xfrm>
            <a:off x="914400" y="3657600"/>
            <a:ext cx="4568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17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7" name="Rectangle 42"/>
          <p:cNvSpPr/>
          <p:nvPr/>
        </p:nvSpPr>
        <p:spPr>
          <a:xfrm>
            <a:off x="1371600" y="3657600"/>
            <a:ext cx="456840" cy="41112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68" name="TextBox 43"/>
          <p:cNvSpPr/>
          <p:nvPr/>
        </p:nvSpPr>
        <p:spPr>
          <a:xfrm>
            <a:off x="1371600" y="3657600"/>
            <a:ext cx="4568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18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9" name="Rectangle 44"/>
          <p:cNvSpPr/>
          <p:nvPr/>
        </p:nvSpPr>
        <p:spPr>
          <a:xfrm>
            <a:off x="1828800" y="3657600"/>
            <a:ext cx="456840" cy="41112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70" name="TextBox 45"/>
          <p:cNvSpPr/>
          <p:nvPr/>
        </p:nvSpPr>
        <p:spPr>
          <a:xfrm>
            <a:off x="1828800" y="3657600"/>
            <a:ext cx="4568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19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1" name="Rectangle 46"/>
          <p:cNvSpPr/>
          <p:nvPr/>
        </p:nvSpPr>
        <p:spPr>
          <a:xfrm>
            <a:off x="2286000" y="3657600"/>
            <a:ext cx="456840" cy="41112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72" name="TextBox 47"/>
          <p:cNvSpPr/>
          <p:nvPr/>
        </p:nvSpPr>
        <p:spPr>
          <a:xfrm>
            <a:off x="2286000" y="3657600"/>
            <a:ext cx="4568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20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3" name="Rectangle 48"/>
          <p:cNvSpPr/>
          <p:nvPr/>
        </p:nvSpPr>
        <p:spPr>
          <a:xfrm>
            <a:off x="457200" y="4069080"/>
            <a:ext cx="456840" cy="41112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74" name="TextBox 49"/>
          <p:cNvSpPr/>
          <p:nvPr/>
        </p:nvSpPr>
        <p:spPr>
          <a:xfrm>
            <a:off x="457200" y="4069080"/>
            <a:ext cx="4568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21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5" name="Rectangle 50"/>
          <p:cNvSpPr/>
          <p:nvPr/>
        </p:nvSpPr>
        <p:spPr>
          <a:xfrm>
            <a:off x="914400" y="4069080"/>
            <a:ext cx="456840" cy="41112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76" name="TextBox 51"/>
          <p:cNvSpPr/>
          <p:nvPr/>
        </p:nvSpPr>
        <p:spPr>
          <a:xfrm>
            <a:off x="914400" y="4069080"/>
            <a:ext cx="4568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22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7" name="Rectangle 52"/>
          <p:cNvSpPr/>
          <p:nvPr/>
        </p:nvSpPr>
        <p:spPr>
          <a:xfrm>
            <a:off x="1371600" y="4069080"/>
            <a:ext cx="456840" cy="41112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78" name="TextBox 53"/>
          <p:cNvSpPr/>
          <p:nvPr/>
        </p:nvSpPr>
        <p:spPr>
          <a:xfrm>
            <a:off x="1371600" y="4069080"/>
            <a:ext cx="4568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23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9" name="Rectangle 54"/>
          <p:cNvSpPr/>
          <p:nvPr/>
        </p:nvSpPr>
        <p:spPr>
          <a:xfrm>
            <a:off x="1828800" y="4069080"/>
            <a:ext cx="456840" cy="41112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80" name="TextBox 55"/>
          <p:cNvSpPr/>
          <p:nvPr/>
        </p:nvSpPr>
        <p:spPr>
          <a:xfrm>
            <a:off x="1828800" y="4069080"/>
            <a:ext cx="4568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24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1" name="Rectangle 56"/>
          <p:cNvSpPr/>
          <p:nvPr/>
        </p:nvSpPr>
        <p:spPr>
          <a:xfrm>
            <a:off x="2286000" y="4069080"/>
            <a:ext cx="456840" cy="41112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82" name="TextBox 57"/>
          <p:cNvSpPr/>
          <p:nvPr/>
        </p:nvSpPr>
        <p:spPr>
          <a:xfrm>
            <a:off x="2286000" y="4069080"/>
            <a:ext cx="4568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25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3" name="TextBox 58"/>
          <p:cNvSpPr/>
          <p:nvPr/>
        </p:nvSpPr>
        <p:spPr>
          <a:xfrm>
            <a:off x="2971800" y="3291840"/>
            <a:ext cx="3654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f4545"/>
                </a:solidFill>
                <a:effectLst/>
                <a:uFillTx/>
                <a:latin typeface="Calibri"/>
              </a:rPr>
              <a:t>→</a:t>
            </a:r>
            <a:endParaRPr lang="en-IN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4" name="TextBox 59"/>
          <p:cNvSpPr/>
          <p:nvPr/>
        </p:nvSpPr>
        <p:spPr>
          <a:xfrm>
            <a:off x="3429000" y="2103120"/>
            <a:ext cx="21027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4545"/>
                </a:solidFill>
                <a:effectLst/>
                <a:uFillTx/>
                <a:latin typeface="Calibri"/>
              </a:rPr>
              <a:t>Output: 3×3  ← SMALLER!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5" name="Rectangle 60"/>
          <p:cNvSpPr/>
          <p:nvPr/>
        </p:nvSpPr>
        <p:spPr>
          <a:xfrm>
            <a:off x="3429000" y="2423160"/>
            <a:ext cx="456840" cy="411120"/>
          </a:xfrm>
          <a:prstGeom prst="rect">
            <a:avLst/>
          </a:prstGeom>
          <a:solidFill>
            <a:srgbClr val="121e3a"/>
          </a:solidFill>
          <a:ln w="10160">
            <a:solidFill>
              <a:srgbClr val="ff454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86" name="TextBox 61"/>
          <p:cNvSpPr/>
          <p:nvPr/>
        </p:nvSpPr>
        <p:spPr>
          <a:xfrm>
            <a:off x="3429000" y="2423160"/>
            <a:ext cx="4568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f4545"/>
                </a:solidFill>
                <a:effectLst/>
                <a:uFillTx/>
                <a:latin typeface="Calibri"/>
              </a:rPr>
              <a:t>A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7" name="Rectangle 62"/>
          <p:cNvSpPr/>
          <p:nvPr/>
        </p:nvSpPr>
        <p:spPr>
          <a:xfrm>
            <a:off x="3886200" y="2423160"/>
            <a:ext cx="456840" cy="411120"/>
          </a:xfrm>
          <a:prstGeom prst="rect">
            <a:avLst/>
          </a:prstGeom>
          <a:solidFill>
            <a:srgbClr val="121e3a"/>
          </a:solidFill>
          <a:ln w="10160">
            <a:solidFill>
              <a:srgbClr val="ff454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88" name="TextBox 63"/>
          <p:cNvSpPr/>
          <p:nvPr/>
        </p:nvSpPr>
        <p:spPr>
          <a:xfrm>
            <a:off x="3886200" y="2423160"/>
            <a:ext cx="4568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f4545"/>
                </a:solidFill>
                <a:effectLst/>
                <a:uFillTx/>
                <a:latin typeface="Calibri"/>
              </a:rPr>
              <a:t>B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9" name="Rectangle 64"/>
          <p:cNvSpPr/>
          <p:nvPr/>
        </p:nvSpPr>
        <p:spPr>
          <a:xfrm>
            <a:off x="4343400" y="2423160"/>
            <a:ext cx="456840" cy="411120"/>
          </a:xfrm>
          <a:prstGeom prst="rect">
            <a:avLst/>
          </a:prstGeom>
          <a:solidFill>
            <a:srgbClr val="121e3a"/>
          </a:solidFill>
          <a:ln w="10160">
            <a:solidFill>
              <a:srgbClr val="ff454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90" name="TextBox 65"/>
          <p:cNvSpPr/>
          <p:nvPr/>
        </p:nvSpPr>
        <p:spPr>
          <a:xfrm>
            <a:off x="4343400" y="2423160"/>
            <a:ext cx="4568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f4545"/>
                </a:solidFill>
                <a:effectLst/>
                <a:uFillTx/>
                <a:latin typeface="Calibri"/>
              </a:rPr>
              <a:t>C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1" name="Rectangle 66"/>
          <p:cNvSpPr/>
          <p:nvPr/>
        </p:nvSpPr>
        <p:spPr>
          <a:xfrm>
            <a:off x="3429000" y="2834640"/>
            <a:ext cx="456840" cy="411120"/>
          </a:xfrm>
          <a:prstGeom prst="rect">
            <a:avLst/>
          </a:prstGeom>
          <a:solidFill>
            <a:srgbClr val="121e3a"/>
          </a:solidFill>
          <a:ln w="10160">
            <a:solidFill>
              <a:srgbClr val="ff454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92" name="TextBox 67"/>
          <p:cNvSpPr/>
          <p:nvPr/>
        </p:nvSpPr>
        <p:spPr>
          <a:xfrm>
            <a:off x="3429000" y="2834640"/>
            <a:ext cx="4568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f4545"/>
                </a:solidFill>
                <a:effectLst/>
                <a:uFillTx/>
                <a:latin typeface="Calibri"/>
              </a:rPr>
              <a:t>D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3" name="Rectangle 68"/>
          <p:cNvSpPr/>
          <p:nvPr/>
        </p:nvSpPr>
        <p:spPr>
          <a:xfrm>
            <a:off x="3886200" y="2834640"/>
            <a:ext cx="456840" cy="411120"/>
          </a:xfrm>
          <a:prstGeom prst="rect">
            <a:avLst/>
          </a:prstGeom>
          <a:solidFill>
            <a:srgbClr val="121e3a"/>
          </a:solidFill>
          <a:ln w="10160">
            <a:solidFill>
              <a:srgbClr val="ff454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94" name="TextBox 69"/>
          <p:cNvSpPr/>
          <p:nvPr/>
        </p:nvSpPr>
        <p:spPr>
          <a:xfrm>
            <a:off x="3886200" y="2834640"/>
            <a:ext cx="4568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f4545"/>
                </a:solidFill>
                <a:effectLst/>
                <a:uFillTx/>
                <a:latin typeface="Calibri"/>
              </a:rPr>
              <a:t>E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5" name="Rectangle 70"/>
          <p:cNvSpPr/>
          <p:nvPr/>
        </p:nvSpPr>
        <p:spPr>
          <a:xfrm>
            <a:off x="4343400" y="2834640"/>
            <a:ext cx="456840" cy="411120"/>
          </a:xfrm>
          <a:prstGeom prst="rect">
            <a:avLst/>
          </a:prstGeom>
          <a:solidFill>
            <a:srgbClr val="121e3a"/>
          </a:solidFill>
          <a:ln w="10160">
            <a:solidFill>
              <a:srgbClr val="ff454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96" name="TextBox 71"/>
          <p:cNvSpPr/>
          <p:nvPr/>
        </p:nvSpPr>
        <p:spPr>
          <a:xfrm>
            <a:off x="4343400" y="2834640"/>
            <a:ext cx="4568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f4545"/>
                </a:solidFill>
                <a:effectLst/>
                <a:uFillTx/>
                <a:latin typeface="Calibri"/>
              </a:rPr>
              <a:t>F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7" name="Rectangle 72"/>
          <p:cNvSpPr/>
          <p:nvPr/>
        </p:nvSpPr>
        <p:spPr>
          <a:xfrm>
            <a:off x="3429000" y="3246120"/>
            <a:ext cx="456840" cy="411120"/>
          </a:xfrm>
          <a:prstGeom prst="rect">
            <a:avLst/>
          </a:prstGeom>
          <a:solidFill>
            <a:srgbClr val="121e3a"/>
          </a:solidFill>
          <a:ln w="10160">
            <a:solidFill>
              <a:srgbClr val="ff454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98" name="TextBox 73"/>
          <p:cNvSpPr/>
          <p:nvPr/>
        </p:nvSpPr>
        <p:spPr>
          <a:xfrm>
            <a:off x="3429000" y="3246120"/>
            <a:ext cx="4568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f4545"/>
                </a:solidFill>
                <a:effectLst/>
                <a:uFillTx/>
                <a:latin typeface="Calibri"/>
              </a:rPr>
              <a:t>G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9" name="Rectangle 74"/>
          <p:cNvSpPr/>
          <p:nvPr/>
        </p:nvSpPr>
        <p:spPr>
          <a:xfrm>
            <a:off x="3886200" y="3246120"/>
            <a:ext cx="456840" cy="411120"/>
          </a:xfrm>
          <a:prstGeom prst="rect">
            <a:avLst/>
          </a:prstGeom>
          <a:solidFill>
            <a:srgbClr val="121e3a"/>
          </a:solidFill>
          <a:ln w="10160">
            <a:solidFill>
              <a:srgbClr val="ff454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00" name="TextBox 75"/>
          <p:cNvSpPr/>
          <p:nvPr/>
        </p:nvSpPr>
        <p:spPr>
          <a:xfrm>
            <a:off x="3886200" y="3246120"/>
            <a:ext cx="4568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f4545"/>
                </a:solidFill>
                <a:effectLst/>
                <a:uFillTx/>
                <a:latin typeface="Calibri"/>
              </a:rPr>
              <a:t>H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1" name="Rectangle 76"/>
          <p:cNvSpPr/>
          <p:nvPr/>
        </p:nvSpPr>
        <p:spPr>
          <a:xfrm>
            <a:off x="4343400" y="3246120"/>
            <a:ext cx="456840" cy="411120"/>
          </a:xfrm>
          <a:prstGeom prst="rect">
            <a:avLst/>
          </a:prstGeom>
          <a:solidFill>
            <a:srgbClr val="121e3a"/>
          </a:solidFill>
          <a:ln w="10160">
            <a:solidFill>
              <a:srgbClr val="ff454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02" name="TextBox 77"/>
          <p:cNvSpPr/>
          <p:nvPr/>
        </p:nvSpPr>
        <p:spPr>
          <a:xfrm>
            <a:off x="4343400" y="3246120"/>
            <a:ext cx="4568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f4545"/>
                </a:solidFill>
                <a:effectLst/>
                <a:uFillTx/>
                <a:latin typeface="Calibri"/>
              </a:rPr>
              <a:t>I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3" name="TextBox 78"/>
          <p:cNvSpPr/>
          <p:nvPr/>
        </p:nvSpPr>
        <p:spPr>
          <a:xfrm>
            <a:off x="457200" y="4526280"/>
            <a:ext cx="493740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3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Formula: output_size = input_size - kernel_size + 1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3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= 5 - 3 + 1 = 3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3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Problem: After 4 conv layers, the feature map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would shrink dramatically and lose border information!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4" name="Rectangle 79"/>
          <p:cNvSpPr/>
          <p:nvPr/>
        </p:nvSpPr>
        <p:spPr>
          <a:xfrm>
            <a:off x="5943600" y="1508760"/>
            <a:ext cx="5943240" cy="5028840"/>
          </a:xfrm>
          <a:prstGeom prst="rect">
            <a:avLst/>
          </a:prstGeom>
          <a:solidFill>
            <a:srgbClr val="0f1732"/>
          </a:solidFill>
          <a:ln w="19050">
            <a:solidFill>
              <a:srgbClr val="00e57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05" name="TextBox 80"/>
          <p:cNvSpPr/>
          <p:nvPr/>
        </p:nvSpPr>
        <p:spPr>
          <a:xfrm>
            <a:off x="6126480" y="1645920"/>
            <a:ext cx="5577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00e576"/>
                </a:solidFill>
                <a:effectLst/>
                <a:uFillTx/>
                <a:latin typeface="Calibri"/>
              </a:rPr>
              <a:t>WITH Padding=1  (our CNN uses this)</a:t>
            </a:r>
            <a:endParaRPr lang="en-IN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6" name="TextBox 81"/>
          <p:cNvSpPr/>
          <p:nvPr/>
        </p:nvSpPr>
        <p:spPr>
          <a:xfrm>
            <a:off x="6126480" y="2103120"/>
            <a:ext cx="55774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Step 1: Add a border of zeros around the image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7" name="Rectangle 82"/>
          <p:cNvSpPr/>
          <p:nvPr/>
        </p:nvSpPr>
        <p:spPr>
          <a:xfrm>
            <a:off x="6126480" y="2423160"/>
            <a:ext cx="383760" cy="383760"/>
          </a:xfrm>
          <a:prstGeom prst="rect">
            <a:avLst/>
          </a:prstGeom>
          <a:solidFill>
            <a:srgbClr val="200808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08" name="TextBox 83"/>
          <p:cNvSpPr/>
          <p:nvPr/>
        </p:nvSpPr>
        <p:spPr>
          <a:xfrm>
            <a:off x="6126480" y="242316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0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9" name="Rectangle 84"/>
          <p:cNvSpPr/>
          <p:nvPr/>
        </p:nvSpPr>
        <p:spPr>
          <a:xfrm>
            <a:off x="6510600" y="2423160"/>
            <a:ext cx="383760" cy="383760"/>
          </a:xfrm>
          <a:prstGeom prst="rect">
            <a:avLst/>
          </a:prstGeom>
          <a:solidFill>
            <a:srgbClr val="200808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10" name="TextBox 85"/>
          <p:cNvSpPr/>
          <p:nvPr/>
        </p:nvSpPr>
        <p:spPr>
          <a:xfrm>
            <a:off x="6510600" y="242316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0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1" name="Rectangle 86"/>
          <p:cNvSpPr/>
          <p:nvPr/>
        </p:nvSpPr>
        <p:spPr>
          <a:xfrm>
            <a:off x="6894720" y="2423160"/>
            <a:ext cx="383760" cy="383760"/>
          </a:xfrm>
          <a:prstGeom prst="rect">
            <a:avLst/>
          </a:prstGeom>
          <a:solidFill>
            <a:srgbClr val="200808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12" name="TextBox 87"/>
          <p:cNvSpPr/>
          <p:nvPr/>
        </p:nvSpPr>
        <p:spPr>
          <a:xfrm>
            <a:off x="6894720" y="242316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0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3" name="Rectangle 88"/>
          <p:cNvSpPr/>
          <p:nvPr/>
        </p:nvSpPr>
        <p:spPr>
          <a:xfrm>
            <a:off x="7278480" y="2423160"/>
            <a:ext cx="383760" cy="383760"/>
          </a:xfrm>
          <a:prstGeom prst="rect">
            <a:avLst/>
          </a:prstGeom>
          <a:solidFill>
            <a:srgbClr val="200808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14" name="TextBox 89"/>
          <p:cNvSpPr/>
          <p:nvPr/>
        </p:nvSpPr>
        <p:spPr>
          <a:xfrm>
            <a:off x="7278480" y="242316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0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5" name="Rectangle 90"/>
          <p:cNvSpPr/>
          <p:nvPr/>
        </p:nvSpPr>
        <p:spPr>
          <a:xfrm>
            <a:off x="7662600" y="2423160"/>
            <a:ext cx="383760" cy="383760"/>
          </a:xfrm>
          <a:prstGeom prst="rect">
            <a:avLst/>
          </a:prstGeom>
          <a:solidFill>
            <a:srgbClr val="200808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16" name="TextBox 91"/>
          <p:cNvSpPr/>
          <p:nvPr/>
        </p:nvSpPr>
        <p:spPr>
          <a:xfrm>
            <a:off x="7662600" y="242316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0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7" name="Rectangle 92"/>
          <p:cNvSpPr/>
          <p:nvPr/>
        </p:nvSpPr>
        <p:spPr>
          <a:xfrm>
            <a:off x="8046720" y="2423160"/>
            <a:ext cx="383760" cy="383760"/>
          </a:xfrm>
          <a:prstGeom prst="rect">
            <a:avLst/>
          </a:prstGeom>
          <a:solidFill>
            <a:srgbClr val="200808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18" name="TextBox 93"/>
          <p:cNvSpPr/>
          <p:nvPr/>
        </p:nvSpPr>
        <p:spPr>
          <a:xfrm>
            <a:off x="8046720" y="242316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0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9" name="Rectangle 94"/>
          <p:cNvSpPr/>
          <p:nvPr/>
        </p:nvSpPr>
        <p:spPr>
          <a:xfrm>
            <a:off x="8430840" y="2423160"/>
            <a:ext cx="383760" cy="383760"/>
          </a:xfrm>
          <a:prstGeom prst="rect">
            <a:avLst/>
          </a:prstGeom>
          <a:solidFill>
            <a:srgbClr val="200808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20" name="TextBox 95"/>
          <p:cNvSpPr/>
          <p:nvPr/>
        </p:nvSpPr>
        <p:spPr>
          <a:xfrm>
            <a:off x="8430840" y="242316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0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1" name="Rectangle 96"/>
          <p:cNvSpPr/>
          <p:nvPr/>
        </p:nvSpPr>
        <p:spPr>
          <a:xfrm>
            <a:off x="6126480" y="2807280"/>
            <a:ext cx="383760" cy="383760"/>
          </a:xfrm>
          <a:prstGeom prst="rect">
            <a:avLst/>
          </a:prstGeom>
          <a:solidFill>
            <a:srgbClr val="200808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22" name="TextBox 97"/>
          <p:cNvSpPr/>
          <p:nvPr/>
        </p:nvSpPr>
        <p:spPr>
          <a:xfrm>
            <a:off x="6126480" y="280728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0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3" name="Rectangle 98"/>
          <p:cNvSpPr/>
          <p:nvPr/>
        </p:nvSpPr>
        <p:spPr>
          <a:xfrm>
            <a:off x="6510600" y="2807280"/>
            <a:ext cx="383760" cy="38376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24" name="TextBox 99"/>
          <p:cNvSpPr/>
          <p:nvPr/>
        </p:nvSpPr>
        <p:spPr>
          <a:xfrm>
            <a:off x="6510600" y="280728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1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5" name="Rectangle 100"/>
          <p:cNvSpPr/>
          <p:nvPr/>
        </p:nvSpPr>
        <p:spPr>
          <a:xfrm>
            <a:off x="6894720" y="2807280"/>
            <a:ext cx="383760" cy="38376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26" name="TextBox 101"/>
          <p:cNvSpPr/>
          <p:nvPr/>
        </p:nvSpPr>
        <p:spPr>
          <a:xfrm>
            <a:off x="6894720" y="280728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2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7" name="Rectangle 102"/>
          <p:cNvSpPr/>
          <p:nvPr/>
        </p:nvSpPr>
        <p:spPr>
          <a:xfrm>
            <a:off x="7278480" y="2807280"/>
            <a:ext cx="383760" cy="38376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28" name="TextBox 103"/>
          <p:cNvSpPr/>
          <p:nvPr/>
        </p:nvSpPr>
        <p:spPr>
          <a:xfrm>
            <a:off x="7278480" y="280728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3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9" name="Rectangle 104"/>
          <p:cNvSpPr/>
          <p:nvPr/>
        </p:nvSpPr>
        <p:spPr>
          <a:xfrm>
            <a:off x="7662600" y="2807280"/>
            <a:ext cx="383760" cy="38376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30" name="TextBox 105"/>
          <p:cNvSpPr/>
          <p:nvPr/>
        </p:nvSpPr>
        <p:spPr>
          <a:xfrm>
            <a:off x="7662600" y="280728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4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1" name="Rectangle 106"/>
          <p:cNvSpPr/>
          <p:nvPr/>
        </p:nvSpPr>
        <p:spPr>
          <a:xfrm>
            <a:off x="8046720" y="2807280"/>
            <a:ext cx="383760" cy="38376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32" name="TextBox 107"/>
          <p:cNvSpPr/>
          <p:nvPr/>
        </p:nvSpPr>
        <p:spPr>
          <a:xfrm>
            <a:off x="8046720" y="280728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5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3" name="Rectangle 108"/>
          <p:cNvSpPr/>
          <p:nvPr/>
        </p:nvSpPr>
        <p:spPr>
          <a:xfrm>
            <a:off x="8430840" y="2807280"/>
            <a:ext cx="383760" cy="383760"/>
          </a:xfrm>
          <a:prstGeom prst="rect">
            <a:avLst/>
          </a:prstGeom>
          <a:solidFill>
            <a:srgbClr val="200808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34" name="TextBox 109"/>
          <p:cNvSpPr/>
          <p:nvPr/>
        </p:nvSpPr>
        <p:spPr>
          <a:xfrm>
            <a:off x="8430840" y="280728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0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5" name="Rectangle 110"/>
          <p:cNvSpPr/>
          <p:nvPr/>
        </p:nvSpPr>
        <p:spPr>
          <a:xfrm>
            <a:off x="6126480" y="3191400"/>
            <a:ext cx="383760" cy="383760"/>
          </a:xfrm>
          <a:prstGeom prst="rect">
            <a:avLst/>
          </a:prstGeom>
          <a:solidFill>
            <a:srgbClr val="200808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36" name="TextBox 111"/>
          <p:cNvSpPr/>
          <p:nvPr/>
        </p:nvSpPr>
        <p:spPr>
          <a:xfrm>
            <a:off x="6126480" y="319140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0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7" name="Rectangle 112"/>
          <p:cNvSpPr/>
          <p:nvPr/>
        </p:nvSpPr>
        <p:spPr>
          <a:xfrm>
            <a:off x="6510600" y="3191400"/>
            <a:ext cx="383760" cy="38376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38" name="TextBox 113"/>
          <p:cNvSpPr/>
          <p:nvPr/>
        </p:nvSpPr>
        <p:spPr>
          <a:xfrm>
            <a:off x="6510600" y="319140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6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9" name="Rectangle 114"/>
          <p:cNvSpPr/>
          <p:nvPr/>
        </p:nvSpPr>
        <p:spPr>
          <a:xfrm>
            <a:off x="6894720" y="3191400"/>
            <a:ext cx="383760" cy="38376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40" name="TextBox 115"/>
          <p:cNvSpPr/>
          <p:nvPr/>
        </p:nvSpPr>
        <p:spPr>
          <a:xfrm>
            <a:off x="6894720" y="319140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7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1" name="Rectangle 116"/>
          <p:cNvSpPr/>
          <p:nvPr/>
        </p:nvSpPr>
        <p:spPr>
          <a:xfrm>
            <a:off x="7278480" y="3191400"/>
            <a:ext cx="383760" cy="38376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42" name="TextBox 117"/>
          <p:cNvSpPr/>
          <p:nvPr/>
        </p:nvSpPr>
        <p:spPr>
          <a:xfrm>
            <a:off x="7278480" y="319140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8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3" name="Rectangle 118"/>
          <p:cNvSpPr/>
          <p:nvPr/>
        </p:nvSpPr>
        <p:spPr>
          <a:xfrm>
            <a:off x="7662600" y="3191400"/>
            <a:ext cx="383760" cy="38376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44" name="TextBox 119"/>
          <p:cNvSpPr/>
          <p:nvPr/>
        </p:nvSpPr>
        <p:spPr>
          <a:xfrm>
            <a:off x="7662600" y="319140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9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5" name="Rectangle 120"/>
          <p:cNvSpPr/>
          <p:nvPr/>
        </p:nvSpPr>
        <p:spPr>
          <a:xfrm>
            <a:off x="8046720" y="3191400"/>
            <a:ext cx="383760" cy="38376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46" name="TextBox 121"/>
          <p:cNvSpPr/>
          <p:nvPr/>
        </p:nvSpPr>
        <p:spPr>
          <a:xfrm>
            <a:off x="8046720" y="319140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10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7" name="Rectangle 122"/>
          <p:cNvSpPr/>
          <p:nvPr/>
        </p:nvSpPr>
        <p:spPr>
          <a:xfrm>
            <a:off x="8430840" y="3191400"/>
            <a:ext cx="383760" cy="383760"/>
          </a:xfrm>
          <a:prstGeom prst="rect">
            <a:avLst/>
          </a:prstGeom>
          <a:solidFill>
            <a:srgbClr val="200808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48" name="TextBox 123"/>
          <p:cNvSpPr/>
          <p:nvPr/>
        </p:nvSpPr>
        <p:spPr>
          <a:xfrm>
            <a:off x="8430840" y="319140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0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9" name="Rectangle 124"/>
          <p:cNvSpPr/>
          <p:nvPr/>
        </p:nvSpPr>
        <p:spPr>
          <a:xfrm>
            <a:off x="6126480" y="3575160"/>
            <a:ext cx="383760" cy="383760"/>
          </a:xfrm>
          <a:prstGeom prst="rect">
            <a:avLst/>
          </a:prstGeom>
          <a:solidFill>
            <a:srgbClr val="200808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50" name="TextBox 125"/>
          <p:cNvSpPr/>
          <p:nvPr/>
        </p:nvSpPr>
        <p:spPr>
          <a:xfrm>
            <a:off x="6126480" y="357516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0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1" name="Rectangle 126"/>
          <p:cNvSpPr/>
          <p:nvPr/>
        </p:nvSpPr>
        <p:spPr>
          <a:xfrm>
            <a:off x="6510600" y="3575160"/>
            <a:ext cx="383760" cy="38376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52" name="TextBox 127"/>
          <p:cNvSpPr/>
          <p:nvPr/>
        </p:nvSpPr>
        <p:spPr>
          <a:xfrm>
            <a:off x="6510600" y="357516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11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3" name="Rectangle 128"/>
          <p:cNvSpPr/>
          <p:nvPr/>
        </p:nvSpPr>
        <p:spPr>
          <a:xfrm>
            <a:off x="6894720" y="3575160"/>
            <a:ext cx="383760" cy="38376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54" name="TextBox 129"/>
          <p:cNvSpPr/>
          <p:nvPr/>
        </p:nvSpPr>
        <p:spPr>
          <a:xfrm>
            <a:off x="6894720" y="357516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12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5" name="Rectangle 130"/>
          <p:cNvSpPr/>
          <p:nvPr/>
        </p:nvSpPr>
        <p:spPr>
          <a:xfrm>
            <a:off x="7278480" y="3575160"/>
            <a:ext cx="383760" cy="38376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56" name="TextBox 131"/>
          <p:cNvSpPr/>
          <p:nvPr/>
        </p:nvSpPr>
        <p:spPr>
          <a:xfrm>
            <a:off x="7278480" y="357516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13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7" name="Rectangle 132"/>
          <p:cNvSpPr/>
          <p:nvPr/>
        </p:nvSpPr>
        <p:spPr>
          <a:xfrm>
            <a:off x="7662600" y="3575160"/>
            <a:ext cx="383760" cy="38376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58" name="TextBox 133"/>
          <p:cNvSpPr/>
          <p:nvPr/>
        </p:nvSpPr>
        <p:spPr>
          <a:xfrm>
            <a:off x="7662600" y="357516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14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9" name="Rectangle 134"/>
          <p:cNvSpPr/>
          <p:nvPr/>
        </p:nvSpPr>
        <p:spPr>
          <a:xfrm>
            <a:off x="8046720" y="3575160"/>
            <a:ext cx="383760" cy="38376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60" name="TextBox 135"/>
          <p:cNvSpPr/>
          <p:nvPr/>
        </p:nvSpPr>
        <p:spPr>
          <a:xfrm>
            <a:off x="8046720" y="357516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15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1" name="Rectangle 136"/>
          <p:cNvSpPr/>
          <p:nvPr/>
        </p:nvSpPr>
        <p:spPr>
          <a:xfrm>
            <a:off x="8430840" y="3575160"/>
            <a:ext cx="383760" cy="383760"/>
          </a:xfrm>
          <a:prstGeom prst="rect">
            <a:avLst/>
          </a:prstGeom>
          <a:solidFill>
            <a:srgbClr val="200808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62" name="TextBox 137"/>
          <p:cNvSpPr/>
          <p:nvPr/>
        </p:nvSpPr>
        <p:spPr>
          <a:xfrm>
            <a:off x="8430840" y="357516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0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3" name="Rectangle 138"/>
          <p:cNvSpPr/>
          <p:nvPr/>
        </p:nvSpPr>
        <p:spPr>
          <a:xfrm>
            <a:off x="6126480" y="3959280"/>
            <a:ext cx="383760" cy="383760"/>
          </a:xfrm>
          <a:prstGeom prst="rect">
            <a:avLst/>
          </a:prstGeom>
          <a:solidFill>
            <a:srgbClr val="200808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64" name="TextBox 139"/>
          <p:cNvSpPr/>
          <p:nvPr/>
        </p:nvSpPr>
        <p:spPr>
          <a:xfrm>
            <a:off x="6126480" y="395928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0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5" name="Rectangle 140"/>
          <p:cNvSpPr/>
          <p:nvPr/>
        </p:nvSpPr>
        <p:spPr>
          <a:xfrm>
            <a:off x="6510600" y="3959280"/>
            <a:ext cx="383760" cy="38376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66" name="TextBox 141"/>
          <p:cNvSpPr/>
          <p:nvPr/>
        </p:nvSpPr>
        <p:spPr>
          <a:xfrm>
            <a:off x="6510600" y="395928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16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7" name="Rectangle 142"/>
          <p:cNvSpPr/>
          <p:nvPr/>
        </p:nvSpPr>
        <p:spPr>
          <a:xfrm>
            <a:off x="6894720" y="3959280"/>
            <a:ext cx="383760" cy="38376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68" name="TextBox 143"/>
          <p:cNvSpPr/>
          <p:nvPr/>
        </p:nvSpPr>
        <p:spPr>
          <a:xfrm>
            <a:off x="6894720" y="395928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17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9" name="Rectangle 144"/>
          <p:cNvSpPr/>
          <p:nvPr/>
        </p:nvSpPr>
        <p:spPr>
          <a:xfrm>
            <a:off x="7278480" y="3959280"/>
            <a:ext cx="383760" cy="38376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70" name="TextBox 145"/>
          <p:cNvSpPr/>
          <p:nvPr/>
        </p:nvSpPr>
        <p:spPr>
          <a:xfrm>
            <a:off x="7278480" y="395928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18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1" name="Rectangle 146"/>
          <p:cNvSpPr/>
          <p:nvPr/>
        </p:nvSpPr>
        <p:spPr>
          <a:xfrm>
            <a:off x="7662600" y="3959280"/>
            <a:ext cx="383760" cy="38376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72" name="TextBox 147"/>
          <p:cNvSpPr/>
          <p:nvPr/>
        </p:nvSpPr>
        <p:spPr>
          <a:xfrm>
            <a:off x="7662600" y="395928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19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3" name="Rectangle 148"/>
          <p:cNvSpPr/>
          <p:nvPr/>
        </p:nvSpPr>
        <p:spPr>
          <a:xfrm>
            <a:off x="8046720" y="3959280"/>
            <a:ext cx="383760" cy="38376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74" name="TextBox 149"/>
          <p:cNvSpPr/>
          <p:nvPr/>
        </p:nvSpPr>
        <p:spPr>
          <a:xfrm>
            <a:off x="8046720" y="395928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20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5" name="Rectangle 150"/>
          <p:cNvSpPr/>
          <p:nvPr/>
        </p:nvSpPr>
        <p:spPr>
          <a:xfrm>
            <a:off x="8430840" y="3959280"/>
            <a:ext cx="383760" cy="383760"/>
          </a:xfrm>
          <a:prstGeom prst="rect">
            <a:avLst/>
          </a:prstGeom>
          <a:solidFill>
            <a:srgbClr val="200808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76" name="TextBox 151"/>
          <p:cNvSpPr/>
          <p:nvPr/>
        </p:nvSpPr>
        <p:spPr>
          <a:xfrm>
            <a:off x="8430840" y="395928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0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7" name="Rectangle 152"/>
          <p:cNvSpPr/>
          <p:nvPr/>
        </p:nvSpPr>
        <p:spPr>
          <a:xfrm>
            <a:off x="6126480" y="4343400"/>
            <a:ext cx="383760" cy="383760"/>
          </a:xfrm>
          <a:prstGeom prst="rect">
            <a:avLst/>
          </a:prstGeom>
          <a:solidFill>
            <a:srgbClr val="200808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78" name="TextBox 153"/>
          <p:cNvSpPr/>
          <p:nvPr/>
        </p:nvSpPr>
        <p:spPr>
          <a:xfrm>
            <a:off x="6126480" y="434340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0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9" name="Rectangle 154"/>
          <p:cNvSpPr/>
          <p:nvPr/>
        </p:nvSpPr>
        <p:spPr>
          <a:xfrm>
            <a:off x="6510600" y="4343400"/>
            <a:ext cx="383760" cy="38376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80" name="TextBox 155"/>
          <p:cNvSpPr/>
          <p:nvPr/>
        </p:nvSpPr>
        <p:spPr>
          <a:xfrm>
            <a:off x="6510600" y="434340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21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1" name="Rectangle 156"/>
          <p:cNvSpPr/>
          <p:nvPr/>
        </p:nvSpPr>
        <p:spPr>
          <a:xfrm>
            <a:off x="6894720" y="4343400"/>
            <a:ext cx="383760" cy="38376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82" name="TextBox 157"/>
          <p:cNvSpPr/>
          <p:nvPr/>
        </p:nvSpPr>
        <p:spPr>
          <a:xfrm>
            <a:off x="6894720" y="434340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22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3" name="Rectangle 158"/>
          <p:cNvSpPr/>
          <p:nvPr/>
        </p:nvSpPr>
        <p:spPr>
          <a:xfrm>
            <a:off x="7278480" y="4343400"/>
            <a:ext cx="383760" cy="38376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84" name="TextBox 159"/>
          <p:cNvSpPr/>
          <p:nvPr/>
        </p:nvSpPr>
        <p:spPr>
          <a:xfrm>
            <a:off x="7278480" y="434340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23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5" name="Rectangle 160"/>
          <p:cNvSpPr/>
          <p:nvPr/>
        </p:nvSpPr>
        <p:spPr>
          <a:xfrm>
            <a:off x="7662600" y="4343400"/>
            <a:ext cx="383760" cy="38376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86" name="TextBox 161"/>
          <p:cNvSpPr/>
          <p:nvPr/>
        </p:nvSpPr>
        <p:spPr>
          <a:xfrm>
            <a:off x="7662600" y="434340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24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7" name="Rectangle 162"/>
          <p:cNvSpPr/>
          <p:nvPr/>
        </p:nvSpPr>
        <p:spPr>
          <a:xfrm>
            <a:off x="8046720" y="4343400"/>
            <a:ext cx="383760" cy="383760"/>
          </a:xfrm>
          <a:prstGeom prst="rect">
            <a:avLst/>
          </a:prstGeom>
          <a:solidFill>
            <a:srgbClr val="121e3a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88" name="TextBox 163"/>
          <p:cNvSpPr/>
          <p:nvPr/>
        </p:nvSpPr>
        <p:spPr>
          <a:xfrm>
            <a:off x="8046720" y="434340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25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9" name="Rectangle 164"/>
          <p:cNvSpPr/>
          <p:nvPr/>
        </p:nvSpPr>
        <p:spPr>
          <a:xfrm>
            <a:off x="8430840" y="4343400"/>
            <a:ext cx="383760" cy="383760"/>
          </a:xfrm>
          <a:prstGeom prst="rect">
            <a:avLst/>
          </a:prstGeom>
          <a:solidFill>
            <a:srgbClr val="200808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90" name="TextBox 165"/>
          <p:cNvSpPr/>
          <p:nvPr/>
        </p:nvSpPr>
        <p:spPr>
          <a:xfrm>
            <a:off x="8430840" y="434340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0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1" name="Rectangle 166"/>
          <p:cNvSpPr/>
          <p:nvPr/>
        </p:nvSpPr>
        <p:spPr>
          <a:xfrm>
            <a:off x="6126480" y="4727520"/>
            <a:ext cx="383760" cy="383760"/>
          </a:xfrm>
          <a:prstGeom prst="rect">
            <a:avLst/>
          </a:prstGeom>
          <a:solidFill>
            <a:srgbClr val="200808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92" name="TextBox 167"/>
          <p:cNvSpPr/>
          <p:nvPr/>
        </p:nvSpPr>
        <p:spPr>
          <a:xfrm>
            <a:off x="6126480" y="472752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0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3" name="Rectangle 168"/>
          <p:cNvSpPr/>
          <p:nvPr/>
        </p:nvSpPr>
        <p:spPr>
          <a:xfrm>
            <a:off x="6510600" y="4727520"/>
            <a:ext cx="383760" cy="383760"/>
          </a:xfrm>
          <a:prstGeom prst="rect">
            <a:avLst/>
          </a:prstGeom>
          <a:solidFill>
            <a:srgbClr val="200808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94" name="TextBox 169"/>
          <p:cNvSpPr/>
          <p:nvPr/>
        </p:nvSpPr>
        <p:spPr>
          <a:xfrm>
            <a:off x="6510600" y="472752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0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5" name="Rectangle 170"/>
          <p:cNvSpPr/>
          <p:nvPr/>
        </p:nvSpPr>
        <p:spPr>
          <a:xfrm>
            <a:off x="6894720" y="4727520"/>
            <a:ext cx="383760" cy="383760"/>
          </a:xfrm>
          <a:prstGeom prst="rect">
            <a:avLst/>
          </a:prstGeom>
          <a:solidFill>
            <a:srgbClr val="200808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96" name="TextBox 171"/>
          <p:cNvSpPr/>
          <p:nvPr/>
        </p:nvSpPr>
        <p:spPr>
          <a:xfrm>
            <a:off x="6894720" y="472752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0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7" name="Rectangle 172"/>
          <p:cNvSpPr/>
          <p:nvPr/>
        </p:nvSpPr>
        <p:spPr>
          <a:xfrm>
            <a:off x="7278480" y="4727520"/>
            <a:ext cx="383760" cy="383760"/>
          </a:xfrm>
          <a:prstGeom prst="rect">
            <a:avLst/>
          </a:prstGeom>
          <a:solidFill>
            <a:srgbClr val="200808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98" name="TextBox 173"/>
          <p:cNvSpPr/>
          <p:nvPr/>
        </p:nvSpPr>
        <p:spPr>
          <a:xfrm>
            <a:off x="7278480" y="472752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0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9" name="Rectangle 174"/>
          <p:cNvSpPr/>
          <p:nvPr/>
        </p:nvSpPr>
        <p:spPr>
          <a:xfrm>
            <a:off x="7662600" y="4727520"/>
            <a:ext cx="383760" cy="383760"/>
          </a:xfrm>
          <a:prstGeom prst="rect">
            <a:avLst/>
          </a:prstGeom>
          <a:solidFill>
            <a:srgbClr val="200808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00" name="TextBox 175"/>
          <p:cNvSpPr/>
          <p:nvPr/>
        </p:nvSpPr>
        <p:spPr>
          <a:xfrm>
            <a:off x="7662600" y="472752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0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1" name="Rectangle 176"/>
          <p:cNvSpPr/>
          <p:nvPr/>
        </p:nvSpPr>
        <p:spPr>
          <a:xfrm>
            <a:off x="8046720" y="4727520"/>
            <a:ext cx="383760" cy="383760"/>
          </a:xfrm>
          <a:prstGeom prst="rect">
            <a:avLst/>
          </a:prstGeom>
          <a:solidFill>
            <a:srgbClr val="200808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02" name="TextBox 177"/>
          <p:cNvSpPr/>
          <p:nvPr/>
        </p:nvSpPr>
        <p:spPr>
          <a:xfrm>
            <a:off x="8046720" y="472752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0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3" name="Rectangle 178"/>
          <p:cNvSpPr/>
          <p:nvPr/>
        </p:nvSpPr>
        <p:spPr>
          <a:xfrm>
            <a:off x="8430840" y="4727520"/>
            <a:ext cx="383760" cy="383760"/>
          </a:xfrm>
          <a:prstGeom prst="rect">
            <a:avLst/>
          </a:prstGeom>
          <a:solidFill>
            <a:srgbClr val="200808"/>
          </a:solidFill>
          <a:ln w="1016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04" name="TextBox 179"/>
          <p:cNvSpPr/>
          <p:nvPr/>
        </p:nvSpPr>
        <p:spPr>
          <a:xfrm>
            <a:off x="8430840" y="472752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0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5" name="TextBox 180"/>
          <p:cNvSpPr/>
          <p:nvPr/>
        </p:nvSpPr>
        <p:spPr>
          <a:xfrm>
            <a:off x="5989320" y="2423160"/>
            <a:ext cx="11516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800" b="0" i="1" u="none" strike="noStrike">
                <a:solidFill>
                  <a:srgbClr val="ff4545"/>
                </a:solidFill>
                <a:effectLst/>
                <a:uFillTx/>
                <a:latin typeface="Calibri"/>
              </a:rPr>
              <a:t>0 = zero</a:t>
            </a:r>
            <a:endParaRPr lang="en-IN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800" b="0" i="1" u="none" strike="noStrike">
                <a:solidFill>
                  <a:srgbClr val="ff4545"/>
                </a:solidFill>
                <a:effectLst/>
                <a:uFillTx/>
                <a:latin typeface="Calibri"/>
              </a:rPr>
              <a:t>(pad)</a:t>
            </a:r>
            <a:endParaRPr lang="en-IN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6" name="TextBox 181"/>
          <p:cNvSpPr/>
          <p:nvPr/>
        </p:nvSpPr>
        <p:spPr>
          <a:xfrm>
            <a:off x="9006840" y="3200400"/>
            <a:ext cx="3654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00e576"/>
                </a:solidFill>
                <a:effectLst/>
                <a:uFillTx/>
                <a:latin typeface="Calibri"/>
              </a:rPr>
              <a:t>→</a:t>
            </a:r>
            <a:endParaRPr lang="en-IN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7" name="TextBox 182"/>
          <p:cNvSpPr/>
          <p:nvPr/>
        </p:nvSpPr>
        <p:spPr>
          <a:xfrm>
            <a:off x="9509760" y="2103120"/>
            <a:ext cx="21942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00e576"/>
                </a:solidFill>
                <a:effectLst/>
                <a:uFillTx/>
                <a:latin typeface="Calibri"/>
              </a:rPr>
              <a:t>Output: 5×5  ← SAME SIZE!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8" name="Rectangle 183"/>
          <p:cNvSpPr/>
          <p:nvPr/>
        </p:nvSpPr>
        <p:spPr>
          <a:xfrm>
            <a:off x="9509760" y="2423160"/>
            <a:ext cx="383760" cy="383760"/>
          </a:xfrm>
          <a:prstGeom prst="rect">
            <a:avLst/>
          </a:prstGeom>
          <a:solidFill>
            <a:srgbClr val="121e3a"/>
          </a:solidFill>
          <a:ln w="10160">
            <a:solidFill>
              <a:srgbClr val="00e57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09" name="TextBox 184"/>
          <p:cNvSpPr/>
          <p:nvPr/>
        </p:nvSpPr>
        <p:spPr>
          <a:xfrm>
            <a:off x="9509760" y="242316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e576"/>
                </a:solidFill>
                <a:effectLst/>
                <a:uFillTx/>
                <a:latin typeface="Calibri"/>
              </a:rPr>
              <a:t>A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0" name="Rectangle 185"/>
          <p:cNvSpPr/>
          <p:nvPr/>
        </p:nvSpPr>
        <p:spPr>
          <a:xfrm>
            <a:off x="9893880" y="2423160"/>
            <a:ext cx="383760" cy="383760"/>
          </a:xfrm>
          <a:prstGeom prst="rect">
            <a:avLst/>
          </a:prstGeom>
          <a:solidFill>
            <a:srgbClr val="121e3a"/>
          </a:solidFill>
          <a:ln w="10160">
            <a:solidFill>
              <a:srgbClr val="00e57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11" name="TextBox 186"/>
          <p:cNvSpPr/>
          <p:nvPr/>
        </p:nvSpPr>
        <p:spPr>
          <a:xfrm>
            <a:off x="9893880" y="242316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e576"/>
                </a:solidFill>
                <a:effectLst/>
                <a:uFillTx/>
                <a:latin typeface="Calibri"/>
              </a:rPr>
              <a:t>B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2" name="Rectangle 187"/>
          <p:cNvSpPr/>
          <p:nvPr/>
        </p:nvSpPr>
        <p:spPr>
          <a:xfrm>
            <a:off x="10278000" y="2423160"/>
            <a:ext cx="383760" cy="383760"/>
          </a:xfrm>
          <a:prstGeom prst="rect">
            <a:avLst/>
          </a:prstGeom>
          <a:solidFill>
            <a:srgbClr val="121e3a"/>
          </a:solidFill>
          <a:ln w="10160">
            <a:solidFill>
              <a:srgbClr val="00e57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13" name="TextBox 188"/>
          <p:cNvSpPr/>
          <p:nvPr/>
        </p:nvSpPr>
        <p:spPr>
          <a:xfrm>
            <a:off x="10278000" y="242316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e576"/>
                </a:solidFill>
                <a:effectLst/>
                <a:uFillTx/>
                <a:latin typeface="Calibri"/>
              </a:rPr>
              <a:t>C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4" name="Rectangle 189"/>
          <p:cNvSpPr/>
          <p:nvPr/>
        </p:nvSpPr>
        <p:spPr>
          <a:xfrm>
            <a:off x="10661760" y="2423160"/>
            <a:ext cx="383760" cy="383760"/>
          </a:xfrm>
          <a:prstGeom prst="rect">
            <a:avLst/>
          </a:prstGeom>
          <a:solidFill>
            <a:srgbClr val="121e3a"/>
          </a:solidFill>
          <a:ln w="10160">
            <a:solidFill>
              <a:srgbClr val="00e57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15" name="TextBox 190"/>
          <p:cNvSpPr/>
          <p:nvPr/>
        </p:nvSpPr>
        <p:spPr>
          <a:xfrm>
            <a:off x="10661760" y="242316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e576"/>
                </a:solidFill>
                <a:effectLst/>
                <a:uFillTx/>
                <a:latin typeface="Calibri"/>
              </a:rPr>
              <a:t>D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6" name="Rectangle 191"/>
          <p:cNvSpPr/>
          <p:nvPr/>
        </p:nvSpPr>
        <p:spPr>
          <a:xfrm>
            <a:off x="11045880" y="2423160"/>
            <a:ext cx="383760" cy="383760"/>
          </a:xfrm>
          <a:prstGeom prst="rect">
            <a:avLst/>
          </a:prstGeom>
          <a:solidFill>
            <a:srgbClr val="121e3a"/>
          </a:solidFill>
          <a:ln w="10160">
            <a:solidFill>
              <a:srgbClr val="00e57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17" name="TextBox 192"/>
          <p:cNvSpPr/>
          <p:nvPr/>
        </p:nvSpPr>
        <p:spPr>
          <a:xfrm>
            <a:off x="11045880" y="242316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e576"/>
                </a:solidFill>
                <a:effectLst/>
                <a:uFillTx/>
                <a:latin typeface="Calibri"/>
              </a:rPr>
              <a:t>E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8" name="Rectangle 193"/>
          <p:cNvSpPr/>
          <p:nvPr/>
        </p:nvSpPr>
        <p:spPr>
          <a:xfrm>
            <a:off x="9509760" y="2807280"/>
            <a:ext cx="383760" cy="383760"/>
          </a:xfrm>
          <a:prstGeom prst="rect">
            <a:avLst/>
          </a:prstGeom>
          <a:solidFill>
            <a:srgbClr val="121e3a"/>
          </a:solidFill>
          <a:ln w="10160">
            <a:solidFill>
              <a:srgbClr val="00e57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19" name="TextBox 194"/>
          <p:cNvSpPr/>
          <p:nvPr/>
        </p:nvSpPr>
        <p:spPr>
          <a:xfrm>
            <a:off x="9509760" y="280728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e576"/>
                </a:solidFill>
                <a:effectLst/>
                <a:uFillTx/>
                <a:latin typeface="Calibri"/>
              </a:rPr>
              <a:t>F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0" name="Rectangle 195"/>
          <p:cNvSpPr/>
          <p:nvPr/>
        </p:nvSpPr>
        <p:spPr>
          <a:xfrm>
            <a:off x="9893880" y="2807280"/>
            <a:ext cx="383760" cy="383760"/>
          </a:xfrm>
          <a:prstGeom prst="rect">
            <a:avLst/>
          </a:prstGeom>
          <a:solidFill>
            <a:srgbClr val="121e3a"/>
          </a:solidFill>
          <a:ln w="10160">
            <a:solidFill>
              <a:srgbClr val="00e57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21" name="TextBox 196"/>
          <p:cNvSpPr/>
          <p:nvPr/>
        </p:nvSpPr>
        <p:spPr>
          <a:xfrm>
            <a:off x="9893880" y="280728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e576"/>
                </a:solidFill>
                <a:effectLst/>
                <a:uFillTx/>
                <a:latin typeface="Calibri"/>
              </a:rPr>
              <a:t>G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2" name="Rectangle 197"/>
          <p:cNvSpPr/>
          <p:nvPr/>
        </p:nvSpPr>
        <p:spPr>
          <a:xfrm>
            <a:off x="10278000" y="2807280"/>
            <a:ext cx="383760" cy="383760"/>
          </a:xfrm>
          <a:prstGeom prst="rect">
            <a:avLst/>
          </a:prstGeom>
          <a:solidFill>
            <a:srgbClr val="121e3a"/>
          </a:solidFill>
          <a:ln w="10160">
            <a:solidFill>
              <a:srgbClr val="00e57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23" name="TextBox 198"/>
          <p:cNvSpPr/>
          <p:nvPr/>
        </p:nvSpPr>
        <p:spPr>
          <a:xfrm>
            <a:off x="10278000" y="280728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e576"/>
                </a:solidFill>
                <a:effectLst/>
                <a:uFillTx/>
                <a:latin typeface="Calibri"/>
              </a:rPr>
              <a:t>H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4" name="Rectangle 199"/>
          <p:cNvSpPr/>
          <p:nvPr/>
        </p:nvSpPr>
        <p:spPr>
          <a:xfrm>
            <a:off x="10661760" y="2807280"/>
            <a:ext cx="383760" cy="383760"/>
          </a:xfrm>
          <a:prstGeom prst="rect">
            <a:avLst/>
          </a:prstGeom>
          <a:solidFill>
            <a:srgbClr val="121e3a"/>
          </a:solidFill>
          <a:ln w="10160">
            <a:solidFill>
              <a:srgbClr val="00e57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25" name="TextBox 200"/>
          <p:cNvSpPr/>
          <p:nvPr/>
        </p:nvSpPr>
        <p:spPr>
          <a:xfrm>
            <a:off x="10661760" y="280728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e576"/>
                </a:solidFill>
                <a:effectLst/>
                <a:uFillTx/>
                <a:latin typeface="Calibri"/>
              </a:rPr>
              <a:t>I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6" name="Rectangle 201"/>
          <p:cNvSpPr/>
          <p:nvPr/>
        </p:nvSpPr>
        <p:spPr>
          <a:xfrm>
            <a:off x="11045880" y="2807280"/>
            <a:ext cx="383760" cy="383760"/>
          </a:xfrm>
          <a:prstGeom prst="rect">
            <a:avLst/>
          </a:prstGeom>
          <a:solidFill>
            <a:srgbClr val="121e3a"/>
          </a:solidFill>
          <a:ln w="10160">
            <a:solidFill>
              <a:srgbClr val="00e57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27" name="TextBox 202"/>
          <p:cNvSpPr/>
          <p:nvPr/>
        </p:nvSpPr>
        <p:spPr>
          <a:xfrm>
            <a:off x="11045880" y="280728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e576"/>
                </a:solidFill>
                <a:effectLst/>
                <a:uFillTx/>
                <a:latin typeface="Calibri"/>
              </a:rPr>
              <a:t>J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8" name="Rectangle 203"/>
          <p:cNvSpPr/>
          <p:nvPr/>
        </p:nvSpPr>
        <p:spPr>
          <a:xfrm>
            <a:off x="9509760" y="3191400"/>
            <a:ext cx="383760" cy="383760"/>
          </a:xfrm>
          <a:prstGeom prst="rect">
            <a:avLst/>
          </a:prstGeom>
          <a:solidFill>
            <a:srgbClr val="121e3a"/>
          </a:solidFill>
          <a:ln w="10160">
            <a:solidFill>
              <a:srgbClr val="00e57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29" name="TextBox 204"/>
          <p:cNvSpPr/>
          <p:nvPr/>
        </p:nvSpPr>
        <p:spPr>
          <a:xfrm>
            <a:off x="9509760" y="319140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e576"/>
                </a:solidFill>
                <a:effectLst/>
                <a:uFillTx/>
                <a:latin typeface="Calibri"/>
              </a:rPr>
              <a:t>K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0" name="Rectangle 205"/>
          <p:cNvSpPr/>
          <p:nvPr/>
        </p:nvSpPr>
        <p:spPr>
          <a:xfrm>
            <a:off x="9893880" y="3191400"/>
            <a:ext cx="383760" cy="383760"/>
          </a:xfrm>
          <a:prstGeom prst="rect">
            <a:avLst/>
          </a:prstGeom>
          <a:solidFill>
            <a:srgbClr val="121e3a"/>
          </a:solidFill>
          <a:ln w="10160">
            <a:solidFill>
              <a:srgbClr val="00e57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31" name="TextBox 206"/>
          <p:cNvSpPr/>
          <p:nvPr/>
        </p:nvSpPr>
        <p:spPr>
          <a:xfrm>
            <a:off x="9893880" y="319140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e576"/>
                </a:solidFill>
                <a:effectLst/>
                <a:uFillTx/>
                <a:latin typeface="Calibri"/>
              </a:rPr>
              <a:t>L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2" name="Rectangle 207"/>
          <p:cNvSpPr/>
          <p:nvPr/>
        </p:nvSpPr>
        <p:spPr>
          <a:xfrm>
            <a:off x="10278000" y="3191400"/>
            <a:ext cx="383760" cy="383760"/>
          </a:xfrm>
          <a:prstGeom prst="rect">
            <a:avLst/>
          </a:prstGeom>
          <a:solidFill>
            <a:srgbClr val="121e3a"/>
          </a:solidFill>
          <a:ln w="10160">
            <a:solidFill>
              <a:srgbClr val="00e57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33" name="TextBox 208"/>
          <p:cNvSpPr/>
          <p:nvPr/>
        </p:nvSpPr>
        <p:spPr>
          <a:xfrm>
            <a:off x="10278000" y="319140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e576"/>
                </a:solidFill>
                <a:effectLst/>
                <a:uFillTx/>
                <a:latin typeface="Calibri"/>
              </a:rPr>
              <a:t>M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4" name="Rectangle 209"/>
          <p:cNvSpPr/>
          <p:nvPr/>
        </p:nvSpPr>
        <p:spPr>
          <a:xfrm>
            <a:off x="10661760" y="3191400"/>
            <a:ext cx="383760" cy="383760"/>
          </a:xfrm>
          <a:prstGeom prst="rect">
            <a:avLst/>
          </a:prstGeom>
          <a:solidFill>
            <a:srgbClr val="121e3a"/>
          </a:solidFill>
          <a:ln w="10160">
            <a:solidFill>
              <a:srgbClr val="00e57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35" name="TextBox 210"/>
          <p:cNvSpPr/>
          <p:nvPr/>
        </p:nvSpPr>
        <p:spPr>
          <a:xfrm>
            <a:off x="10661760" y="319140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e576"/>
                </a:solidFill>
                <a:effectLst/>
                <a:uFillTx/>
                <a:latin typeface="Calibri"/>
              </a:rPr>
              <a:t>N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6" name="Rectangle 211"/>
          <p:cNvSpPr/>
          <p:nvPr/>
        </p:nvSpPr>
        <p:spPr>
          <a:xfrm>
            <a:off x="11045880" y="3191400"/>
            <a:ext cx="383760" cy="383760"/>
          </a:xfrm>
          <a:prstGeom prst="rect">
            <a:avLst/>
          </a:prstGeom>
          <a:solidFill>
            <a:srgbClr val="121e3a"/>
          </a:solidFill>
          <a:ln w="10160">
            <a:solidFill>
              <a:srgbClr val="00e57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37" name="TextBox 212"/>
          <p:cNvSpPr/>
          <p:nvPr/>
        </p:nvSpPr>
        <p:spPr>
          <a:xfrm>
            <a:off x="11045880" y="319140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e576"/>
                </a:solidFill>
                <a:effectLst/>
                <a:uFillTx/>
                <a:latin typeface="Calibri"/>
              </a:rPr>
              <a:t>O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8" name="Rectangle 213"/>
          <p:cNvSpPr/>
          <p:nvPr/>
        </p:nvSpPr>
        <p:spPr>
          <a:xfrm>
            <a:off x="9509760" y="3575160"/>
            <a:ext cx="383760" cy="383760"/>
          </a:xfrm>
          <a:prstGeom prst="rect">
            <a:avLst/>
          </a:prstGeom>
          <a:solidFill>
            <a:srgbClr val="121e3a"/>
          </a:solidFill>
          <a:ln w="10160">
            <a:solidFill>
              <a:srgbClr val="00e57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39" name="TextBox 214"/>
          <p:cNvSpPr/>
          <p:nvPr/>
        </p:nvSpPr>
        <p:spPr>
          <a:xfrm>
            <a:off x="9509760" y="357516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e576"/>
                </a:solidFill>
                <a:effectLst/>
                <a:uFillTx/>
                <a:latin typeface="Calibri"/>
              </a:rPr>
              <a:t>P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0" name="Rectangle 215"/>
          <p:cNvSpPr/>
          <p:nvPr/>
        </p:nvSpPr>
        <p:spPr>
          <a:xfrm>
            <a:off x="9893880" y="3575160"/>
            <a:ext cx="383760" cy="383760"/>
          </a:xfrm>
          <a:prstGeom prst="rect">
            <a:avLst/>
          </a:prstGeom>
          <a:solidFill>
            <a:srgbClr val="121e3a"/>
          </a:solidFill>
          <a:ln w="10160">
            <a:solidFill>
              <a:srgbClr val="00e57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41" name="TextBox 216"/>
          <p:cNvSpPr/>
          <p:nvPr/>
        </p:nvSpPr>
        <p:spPr>
          <a:xfrm>
            <a:off x="9893880" y="357516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e576"/>
                </a:solidFill>
                <a:effectLst/>
                <a:uFillTx/>
                <a:latin typeface="Calibri"/>
              </a:rPr>
              <a:t>Q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2" name="Rectangle 217"/>
          <p:cNvSpPr/>
          <p:nvPr/>
        </p:nvSpPr>
        <p:spPr>
          <a:xfrm>
            <a:off x="10278000" y="3575160"/>
            <a:ext cx="383760" cy="383760"/>
          </a:xfrm>
          <a:prstGeom prst="rect">
            <a:avLst/>
          </a:prstGeom>
          <a:solidFill>
            <a:srgbClr val="121e3a"/>
          </a:solidFill>
          <a:ln w="10160">
            <a:solidFill>
              <a:srgbClr val="00e57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43" name="TextBox 218"/>
          <p:cNvSpPr/>
          <p:nvPr/>
        </p:nvSpPr>
        <p:spPr>
          <a:xfrm>
            <a:off x="10278000" y="357516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e576"/>
                </a:solidFill>
                <a:effectLst/>
                <a:uFillTx/>
                <a:latin typeface="Calibri"/>
              </a:rPr>
              <a:t>R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4" name="Rectangle 219"/>
          <p:cNvSpPr/>
          <p:nvPr/>
        </p:nvSpPr>
        <p:spPr>
          <a:xfrm>
            <a:off x="10661760" y="3575160"/>
            <a:ext cx="383760" cy="383760"/>
          </a:xfrm>
          <a:prstGeom prst="rect">
            <a:avLst/>
          </a:prstGeom>
          <a:solidFill>
            <a:srgbClr val="121e3a"/>
          </a:solidFill>
          <a:ln w="10160">
            <a:solidFill>
              <a:srgbClr val="00e57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45" name="TextBox 220"/>
          <p:cNvSpPr/>
          <p:nvPr/>
        </p:nvSpPr>
        <p:spPr>
          <a:xfrm>
            <a:off x="10661760" y="357516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e576"/>
                </a:solidFill>
                <a:effectLst/>
                <a:uFillTx/>
                <a:latin typeface="Calibri"/>
              </a:rPr>
              <a:t>S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6" name="Rectangle 221"/>
          <p:cNvSpPr/>
          <p:nvPr/>
        </p:nvSpPr>
        <p:spPr>
          <a:xfrm>
            <a:off x="11045880" y="3575160"/>
            <a:ext cx="383760" cy="383760"/>
          </a:xfrm>
          <a:prstGeom prst="rect">
            <a:avLst/>
          </a:prstGeom>
          <a:solidFill>
            <a:srgbClr val="121e3a"/>
          </a:solidFill>
          <a:ln w="10160">
            <a:solidFill>
              <a:srgbClr val="00e57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47" name="TextBox 222"/>
          <p:cNvSpPr/>
          <p:nvPr/>
        </p:nvSpPr>
        <p:spPr>
          <a:xfrm>
            <a:off x="11045880" y="357516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e576"/>
                </a:solidFill>
                <a:effectLst/>
                <a:uFillTx/>
                <a:latin typeface="Calibri"/>
              </a:rPr>
              <a:t>T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8" name="Rectangle 223"/>
          <p:cNvSpPr/>
          <p:nvPr/>
        </p:nvSpPr>
        <p:spPr>
          <a:xfrm>
            <a:off x="9509760" y="3959280"/>
            <a:ext cx="383760" cy="383760"/>
          </a:xfrm>
          <a:prstGeom prst="rect">
            <a:avLst/>
          </a:prstGeom>
          <a:solidFill>
            <a:srgbClr val="121e3a"/>
          </a:solidFill>
          <a:ln w="10160">
            <a:solidFill>
              <a:srgbClr val="00e57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49" name="TextBox 224"/>
          <p:cNvSpPr/>
          <p:nvPr/>
        </p:nvSpPr>
        <p:spPr>
          <a:xfrm>
            <a:off x="9509760" y="395928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e576"/>
                </a:solidFill>
                <a:effectLst/>
                <a:uFillTx/>
                <a:latin typeface="Calibri"/>
              </a:rPr>
              <a:t>U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0" name="Rectangle 225"/>
          <p:cNvSpPr/>
          <p:nvPr/>
        </p:nvSpPr>
        <p:spPr>
          <a:xfrm>
            <a:off x="9893880" y="3959280"/>
            <a:ext cx="383760" cy="383760"/>
          </a:xfrm>
          <a:prstGeom prst="rect">
            <a:avLst/>
          </a:prstGeom>
          <a:solidFill>
            <a:srgbClr val="121e3a"/>
          </a:solidFill>
          <a:ln w="10160">
            <a:solidFill>
              <a:srgbClr val="00e57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51" name="TextBox 226"/>
          <p:cNvSpPr/>
          <p:nvPr/>
        </p:nvSpPr>
        <p:spPr>
          <a:xfrm>
            <a:off x="9893880" y="395928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e576"/>
                </a:solidFill>
                <a:effectLst/>
                <a:uFillTx/>
                <a:latin typeface="Calibri"/>
              </a:rPr>
              <a:t>V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2" name="Rectangle 227"/>
          <p:cNvSpPr/>
          <p:nvPr/>
        </p:nvSpPr>
        <p:spPr>
          <a:xfrm>
            <a:off x="10278000" y="3959280"/>
            <a:ext cx="383760" cy="383760"/>
          </a:xfrm>
          <a:prstGeom prst="rect">
            <a:avLst/>
          </a:prstGeom>
          <a:solidFill>
            <a:srgbClr val="121e3a"/>
          </a:solidFill>
          <a:ln w="10160">
            <a:solidFill>
              <a:srgbClr val="00e57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53" name="TextBox 228"/>
          <p:cNvSpPr/>
          <p:nvPr/>
        </p:nvSpPr>
        <p:spPr>
          <a:xfrm>
            <a:off x="10278000" y="395928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e576"/>
                </a:solidFill>
                <a:effectLst/>
                <a:uFillTx/>
                <a:latin typeface="Calibri"/>
              </a:rPr>
              <a:t>W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4" name="Rectangle 229"/>
          <p:cNvSpPr/>
          <p:nvPr/>
        </p:nvSpPr>
        <p:spPr>
          <a:xfrm>
            <a:off x="10661760" y="3959280"/>
            <a:ext cx="383760" cy="383760"/>
          </a:xfrm>
          <a:prstGeom prst="rect">
            <a:avLst/>
          </a:prstGeom>
          <a:solidFill>
            <a:srgbClr val="121e3a"/>
          </a:solidFill>
          <a:ln w="10160">
            <a:solidFill>
              <a:srgbClr val="00e57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55" name="TextBox 230"/>
          <p:cNvSpPr/>
          <p:nvPr/>
        </p:nvSpPr>
        <p:spPr>
          <a:xfrm>
            <a:off x="10661760" y="395928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e576"/>
                </a:solidFill>
                <a:effectLst/>
                <a:uFillTx/>
                <a:latin typeface="Calibri"/>
              </a:rPr>
              <a:t>X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6" name="Rectangle 231"/>
          <p:cNvSpPr/>
          <p:nvPr/>
        </p:nvSpPr>
        <p:spPr>
          <a:xfrm>
            <a:off x="11045880" y="3959280"/>
            <a:ext cx="383760" cy="383760"/>
          </a:xfrm>
          <a:prstGeom prst="rect">
            <a:avLst/>
          </a:prstGeom>
          <a:solidFill>
            <a:srgbClr val="121e3a"/>
          </a:solidFill>
          <a:ln w="10160">
            <a:solidFill>
              <a:srgbClr val="00e57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57" name="TextBox 232"/>
          <p:cNvSpPr/>
          <p:nvPr/>
        </p:nvSpPr>
        <p:spPr>
          <a:xfrm>
            <a:off x="11045880" y="395928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e576"/>
                </a:solidFill>
                <a:effectLst/>
                <a:uFillTx/>
                <a:latin typeface="Calibri"/>
              </a:rPr>
              <a:t>Y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8" name="TextBox 233"/>
          <p:cNvSpPr/>
          <p:nvPr/>
        </p:nvSpPr>
        <p:spPr>
          <a:xfrm>
            <a:off x="6126480" y="5220000"/>
            <a:ext cx="557748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3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Formula with padding: output = input - kernel + 2×pad + 1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3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= 128 - 3 + 2×1 + 1 = 128  ✓  Same size!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3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Benefit: Every pixel — including corners and edges —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3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gets to be the centre of a filter calculation.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No information lost at the borders.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80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9" name="Rectangle 1"/>
          <p:cNvSpPr/>
          <p:nvPr/>
        </p:nvSpPr>
        <p:spPr>
          <a:xfrm>
            <a:off x="0" y="0"/>
            <a:ext cx="72720" cy="6857640"/>
          </a:xfrm>
          <a:prstGeom prst="rect">
            <a:avLst/>
          </a:prstGeom>
          <a:solidFill>
            <a:srgbClr val="a040c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60" name="TextBox 2"/>
          <p:cNvSpPr/>
          <p:nvPr/>
        </p:nvSpPr>
        <p:spPr>
          <a:xfrm>
            <a:off x="320040" y="182880"/>
            <a:ext cx="114296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400" b="1" u="none" strike="noStrike">
                <a:solidFill>
                  <a:srgbClr val="a040c0"/>
                </a:solidFill>
                <a:effectLst/>
                <a:uFillTx/>
                <a:latin typeface="Calibri"/>
              </a:rPr>
              <a:t>Multiple Filters Running in Parallel</a:t>
            </a:r>
            <a:endParaRPr lang="en-IN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1" name="TextBox 3"/>
          <p:cNvSpPr/>
          <p:nvPr/>
        </p:nvSpPr>
        <p:spPr>
          <a:xfrm>
            <a:off x="320040" y="868680"/>
            <a:ext cx="11429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Block 1: 32 filters applied simultaneously → 32 different feature maps</a:t>
            </a:r>
            <a:endParaRPr lang="en-IN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2" name="Rectangle 4"/>
          <p:cNvSpPr/>
          <p:nvPr/>
        </p:nvSpPr>
        <p:spPr>
          <a:xfrm>
            <a:off x="320040" y="1325880"/>
            <a:ext cx="11521080" cy="27000"/>
          </a:xfrm>
          <a:prstGeom prst="rect">
            <a:avLst/>
          </a:prstGeom>
          <a:solidFill>
            <a:srgbClr val="3a4a6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7640" bIns="-1764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63" name="TextBox 5"/>
          <p:cNvSpPr/>
          <p:nvPr/>
        </p:nvSpPr>
        <p:spPr>
          <a:xfrm>
            <a:off x="320040" y="1417320"/>
            <a:ext cx="115210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Each filter is an independent 3×3 grid. All 32 run on the same input at the same time.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4" name="Rectangle 6"/>
          <p:cNvSpPr/>
          <p:nvPr/>
        </p:nvSpPr>
        <p:spPr>
          <a:xfrm>
            <a:off x="274320" y="1874520"/>
            <a:ext cx="1645560" cy="4205880"/>
          </a:xfrm>
          <a:prstGeom prst="rect">
            <a:avLst/>
          </a:prstGeom>
          <a:solidFill>
            <a:srgbClr val="0f1732"/>
          </a:solidFill>
          <a:ln w="19050">
            <a:solidFill>
              <a:srgbClr val="00d4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65" name="TextBox 7"/>
          <p:cNvSpPr/>
          <p:nvPr/>
        </p:nvSpPr>
        <p:spPr>
          <a:xfrm>
            <a:off x="274320" y="1874520"/>
            <a:ext cx="16455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00d4ff"/>
                </a:solidFill>
                <a:effectLst/>
                <a:uFillTx/>
                <a:latin typeface="Calibri"/>
              </a:rPr>
              <a:t>INPUT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6" name="TextBox 8"/>
          <p:cNvSpPr/>
          <p:nvPr/>
        </p:nvSpPr>
        <p:spPr>
          <a:xfrm>
            <a:off x="274320" y="2286000"/>
            <a:ext cx="16455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00d4ff"/>
                </a:solidFill>
                <a:effectLst/>
                <a:uFillTx/>
                <a:latin typeface="Calibri"/>
              </a:rPr>
              <a:t>[3, 128, 128]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7" name="TextBox 9"/>
          <p:cNvSpPr/>
          <p:nvPr/>
        </p:nvSpPr>
        <p:spPr>
          <a:xfrm>
            <a:off x="274320" y="2743200"/>
            <a:ext cx="1645560" cy="22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2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3 channels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2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(R, G, B)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2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128×128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2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pixels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per channel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8" name="TextBox 10"/>
          <p:cNvSpPr/>
          <p:nvPr/>
        </p:nvSpPr>
        <p:spPr>
          <a:xfrm>
            <a:off x="2011680" y="3840480"/>
            <a:ext cx="3654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3a4a6a"/>
                </a:solidFill>
                <a:effectLst/>
                <a:uFillTx/>
                <a:latin typeface="Calibri"/>
              </a:rPr>
              <a:t>→</a:t>
            </a:r>
            <a:endParaRPr lang="en-IN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9" name="Rectangle 11"/>
          <p:cNvSpPr/>
          <p:nvPr/>
        </p:nvSpPr>
        <p:spPr>
          <a:xfrm>
            <a:off x="2514600" y="1874520"/>
            <a:ext cx="2925720" cy="4205880"/>
          </a:xfrm>
          <a:prstGeom prst="rect">
            <a:avLst/>
          </a:prstGeom>
          <a:solidFill>
            <a:srgbClr val="0f1732"/>
          </a:solidFill>
          <a:ln w="19050">
            <a:solidFill>
              <a:srgbClr val="a040c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70" name="TextBox 12"/>
          <p:cNvSpPr/>
          <p:nvPr/>
        </p:nvSpPr>
        <p:spPr>
          <a:xfrm>
            <a:off x="2514600" y="1874520"/>
            <a:ext cx="29257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a040c0"/>
                </a:solidFill>
                <a:effectLst/>
                <a:uFillTx/>
                <a:latin typeface="Calibri"/>
              </a:rPr>
              <a:t>32 FILTERS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1" name="TextBox 13"/>
          <p:cNvSpPr/>
          <p:nvPr/>
        </p:nvSpPr>
        <p:spPr>
          <a:xfrm>
            <a:off x="2606040" y="2331720"/>
            <a:ext cx="2742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Each filter: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[3, 3, 3]  = 27 weights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(3×3 kernel × 3 channels)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2" name="Rectangle 14"/>
          <p:cNvSpPr/>
          <p:nvPr/>
        </p:nvSpPr>
        <p:spPr>
          <a:xfrm>
            <a:off x="2606040" y="2926080"/>
            <a:ext cx="2742840" cy="347040"/>
          </a:xfrm>
          <a:prstGeom prst="rect">
            <a:avLst/>
          </a:prstGeom>
          <a:solidFill>
            <a:srgbClr val="121e3a"/>
          </a:solidFill>
          <a:ln w="10160">
            <a:solidFill>
              <a:srgbClr val="00d4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73" name="TextBox 15"/>
          <p:cNvSpPr/>
          <p:nvPr/>
        </p:nvSpPr>
        <p:spPr>
          <a:xfrm>
            <a:off x="2697480" y="2926080"/>
            <a:ext cx="914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00d4ff"/>
                </a:solidFill>
                <a:effectLst/>
                <a:uFillTx/>
                <a:latin typeface="Calibri"/>
              </a:rPr>
              <a:t>Filter 1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4" name="TextBox 16"/>
          <p:cNvSpPr/>
          <p:nvPr/>
        </p:nvSpPr>
        <p:spPr>
          <a:xfrm>
            <a:off x="3657600" y="2926080"/>
            <a:ext cx="1554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Vertical edges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5" name="Rectangle 17"/>
          <p:cNvSpPr/>
          <p:nvPr/>
        </p:nvSpPr>
        <p:spPr>
          <a:xfrm>
            <a:off x="2606040" y="3310200"/>
            <a:ext cx="2742840" cy="347040"/>
          </a:xfrm>
          <a:prstGeom prst="rect">
            <a:avLst/>
          </a:prstGeom>
          <a:solidFill>
            <a:srgbClr val="121e3a"/>
          </a:solidFill>
          <a:ln w="10160">
            <a:solidFill>
              <a:srgbClr val="00e57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76" name="TextBox 18"/>
          <p:cNvSpPr/>
          <p:nvPr/>
        </p:nvSpPr>
        <p:spPr>
          <a:xfrm>
            <a:off x="2697480" y="3310200"/>
            <a:ext cx="914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00e576"/>
                </a:solidFill>
                <a:effectLst/>
                <a:uFillTx/>
                <a:latin typeface="Calibri"/>
              </a:rPr>
              <a:t>Filter 2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7" name="TextBox 19"/>
          <p:cNvSpPr/>
          <p:nvPr/>
        </p:nvSpPr>
        <p:spPr>
          <a:xfrm>
            <a:off x="3657600" y="3310200"/>
            <a:ext cx="1554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Horizontal edges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8" name="Rectangle 20"/>
          <p:cNvSpPr/>
          <p:nvPr/>
        </p:nvSpPr>
        <p:spPr>
          <a:xfrm>
            <a:off x="2606040" y="3694320"/>
            <a:ext cx="2742840" cy="347040"/>
          </a:xfrm>
          <a:prstGeom prst="rect">
            <a:avLst/>
          </a:prstGeom>
          <a:solidFill>
            <a:srgbClr val="121e3a"/>
          </a:solidFill>
          <a:ln w="10160">
            <a:solidFill>
              <a:srgbClr val="ffc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79" name="TextBox 21"/>
          <p:cNvSpPr/>
          <p:nvPr/>
        </p:nvSpPr>
        <p:spPr>
          <a:xfrm>
            <a:off x="2697480" y="3694320"/>
            <a:ext cx="914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fcc00"/>
                </a:solidFill>
                <a:effectLst/>
                <a:uFillTx/>
                <a:latin typeface="Calibri"/>
              </a:rPr>
              <a:t>Filter 3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0" name="TextBox 22"/>
          <p:cNvSpPr/>
          <p:nvPr/>
        </p:nvSpPr>
        <p:spPr>
          <a:xfrm>
            <a:off x="3657600" y="3694320"/>
            <a:ext cx="1554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Diagonal texture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1" name="Rectangle 23"/>
          <p:cNvSpPr/>
          <p:nvPr/>
        </p:nvSpPr>
        <p:spPr>
          <a:xfrm>
            <a:off x="2606040" y="4078080"/>
            <a:ext cx="2742840" cy="347040"/>
          </a:xfrm>
          <a:prstGeom prst="rect">
            <a:avLst/>
          </a:prstGeom>
          <a:solidFill>
            <a:srgbClr val="121e3a"/>
          </a:solidFill>
          <a:ln w="10160">
            <a:solidFill>
              <a:srgbClr val="ff6b3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82" name="TextBox 24"/>
          <p:cNvSpPr/>
          <p:nvPr/>
        </p:nvSpPr>
        <p:spPr>
          <a:xfrm>
            <a:off x="2697480" y="4078080"/>
            <a:ext cx="914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f6b35"/>
                </a:solidFill>
                <a:effectLst/>
                <a:uFillTx/>
                <a:latin typeface="Calibri"/>
              </a:rPr>
              <a:t>Filter 4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3" name="TextBox 25"/>
          <p:cNvSpPr/>
          <p:nvPr/>
        </p:nvSpPr>
        <p:spPr>
          <a:xfrm>
            <a:off x="3657600" y="4078080"/>
            <a:ext cx="1554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Colour gradients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4" name="Rectangle 26"/>
          <p:cNvSpPr/>
          <p:nvPr/>
        </p:nvSpPr>
        <p:spPr>
          <a:xfrm>
            <a:off x="2606040" y="4462200"/>
            <a:ext cx="2742840" cy="347040"/>
          </a:xfrm>
          <a:prstGeom prst="rect">
            <a:avLst/>
          </a:prstGeom>
          <a:solidFill>
            <a:srgbClr val="121e3a"/>
          </a:solidFill>
          <a:ln w="10160">
            <a:solidFill>
              <a:srgbClr val="ff454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85" name="TextBox 27"/>
          <p:cNvSpPr/>
          <p:nvPr/>
        </p:nvSpPr>
        <p:spPr>
          <a:xfrm>
            <a:off x="2697480" y="4462200"/>
            <a:ext cx="914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f4545"/>
                </a:solidFill>
                <a:effectLst/>
                <a:uFillTx/>
                <a:latin typeface="Calibri"/>
              </a:rPr>
              <a:t>Filter 5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6" name="TextBox 28"/>
          <p:cNvSpPr/>
          <p:nvPr/>
        </p:nvSpPr>
        <p:spPr>
          <a:xfrm>
            <a:off x="3657600" y="4462200"/>
            <a:ext cx="1554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Corner detection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7" name="Rectangle 29"/>
          <p:cNvSpPr/>
          <p:nvPr/>
        </p:nvSpPr>
        <p:spPr>
          <a:xfrm>
            <a:off x="2606040" y="4846320"/>
            <a:ext cx="2742840" cy="347040"/>
          </a:xfrm>
          <a:prstGeom prst="rect">
            <a:avLst/>
          </a:prstGeom>
          <a:solidFill>
            <a:srgbClr val="121e3a"/>
          </a:solidFill>
          <a:ln w="10160">
            <a:solidFill>
              <a:srgbClr val="ff50a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88" name="TextBox 30"/>
          <p:cNvSpPr/>
          <p:nvPr/>
        </p:nvSpPr>
        <p:spPr>
          <a:xfrm>
            <a:off x="2697480" y="4846320"/>
            <a:ext cx="914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f50a0"/>
                </a:solidFill>
                <a:effectLst/>
                <a:uFillTx/>
                <a:latin typeface="Calibri"/>
              </a:rPr>
              <a:t>...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9" name="TextBox 31"/>
          <p:cNvSpPr/>
          <p:nvPr/>
        </p:nvSpPr>
        <p:spPr>
          <a:xfrm>
            <a:off x="3657600" y="4846320"/>
            <a:ext cx="1554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... (27 more)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0" name="Rectangle 32"/>
          <p:cNvSpPr/>
          <p:nvPr/>
        </p:nvSpPr>
        <p:spPr>
          <a:xfrm>
            <a:off x="2606040" y="5230440"/>
            <a:ext cx="2742840" cy="347040"/>
          </a:xfrm>
          <a:prstGeom prst="rect">
            <a:avLst/>
          </a:prstGeom>
          <a:solidFill>
            <a:srgbClr val="121e3a"/>
          </a:solidFill>
          <a:ln w="10160">
            <a:solidFill>
              <a:srgbClr val="a040c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91" name="TextBox 33"/>
          <p:cNvSpPr/>
          <p:nvPr/>
        </p:nvSpPr>
        <p:spPr>
          <a:xfrm>
            <a:off x="2697480" y="5230440"/>
            <a:ext cx="914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a040c0"/>
                </a:solidFill>
                <a:effectLst/>
                <a:uFillTx/>
                <a:latin typeface="Calibri"/>
              </a:rPr>
              <a:t>Filter 32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2" name="TextBox 34"/>
          <p:cNvSpPr/>
          <p:nvPr/>
        </p:nvSpPr>
        <p:spPr>
          <a:xfrm>
            <a:off x="3657600" y="5230440"/>
            <a:ext cx="1554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Learned pattern 32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3" name="TextBox 35"/>
          <p:cNvSpPr/>
          <p:nvPr/>
        </p:nvSpPr>
        <p:spPr>
          <a:xfrm>
            <a:off x="5577840" y="3840480"/>
            <a:ext cx="3654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3a4a6a"/>
                </a:solidFill>
                <a:effectLst/>
                <a:uFillTx/>
                <a:latin typeface="Calibri"/>
              </a:rPr>
              <a:t>→</a:t>
            </a:r>
            <a:endParaRPr lang="en-IN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4" name="Rectangle 36"/>
          <p:cNvSpPr/>
          <p:nvPr/>
        </p:nvSpPr>
        <p:spPr>
          <a:xfrm>
            <a:off x="6080760" y="1874520"/>
            <a:ext cx="3017160" cy="4205880"/>
          </a:xfrm>
          <a:prstGeom prst="rect">
            <a:avLst/>
          </a:prstGeom>
          <a:solidFill>
            <a:srgbClr val="0f1732"/>
          </a:solidFill>
          <a:ln w="19050">
            <a:solidFill>
              <a:srgbClr val="00e57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95" name="TextBox 37"/>
          <p:cNvSpPr/>
          <p:nvPr/>
        </p:nvSpPr>
        <p:spPr>
          <a:xfrm>
            <a:off x="6080760" y="1874520"/>
            <a:ext cx="30171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00e576"/>
                </a:solidFill>
                <a:effectLst/>
                <a:uFillTx/>
                <a:latin typeface="Calibri"/>
              </a:rPr>
              <a:t>32 FEATURE MAPS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6" name="TextBox 38"/>
          <p:cNvSpPr/>
          <p:nvPr/>
        </p:nvSpPr>
        <p:spPr>
          <a:xfrm>
            <a:off x="6172200" y="2331720"/>
            <a:ext cx="2834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Each map: [128, 128]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(same size as input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thanks to padding=1)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7" name="Rectangle 39"/>
          <p:cNvSpPr/>
          <p:nvPr/>
        </p:nvSpPr>
        <p:spPr>
          <a:xfrm>
            <a:off x="6172200" y="2926080"/>
            <a:ext cx="2834280" cy="347040"/>
          </a:xfrm>
          <a:prstGeom prst="rect">
            <a:avLst/>
          </a:prstGeom>
          <a:solidFill>
            <a:srgbClr val="121e3a"/>
          </a:solidFill>
          <a:ln w="10160">
            <a:solidFill>
              <a:srgbClr val="00d4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98" name="TextBox 40"/>
          <p:cNvSpPr/>
          <p:nvPr/>
        </p:nvSpPr>
        <p:spPr>
          <a:xfrm>
            <a:off x="6263640" y="2926080"/>
            <a:ext cx="8226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00d4ff"/>
                </a:solidFill>
                <a:effectLst/>
                <a:uFillTx/>
                <a:latin typeface="Calibri"/>
              </a:rPr>
              <a:t>Map 1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9" name="TextBox 41"/>
          <p:cNvSpPr/>
          <p:nvPr/>
        </p:nvSpPr>
        <p:spPr>
          <a:xfrm>
            <a:off x="7132320" y="2962080"/>
            <a:ext cx="196560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Bright where vertical edges are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0" name="Rectangle 42"/>
          <p:cNvSpPr/>
          <p:nvPr/>
        </p:nvSpPr>
        <p:spPr>
          <a:xfrm>
            <a:off x="6172200" y="3310200"/>
            <a:ext cx="2834280" cy="347040"/>
          </a:xfrm>
          <a:prstGeom prst="rect">
            <a:avLst/>
          </a:prstGeom>
          <a:solidFill>
            <a:srgbClr val="121e3a"/>
          </a:solidFill>
          <a:ln w="10160">
            <a:solidFill>
              <a:srgbClr val="00e57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01" name="TextBox 43"/>
          <p:cNvSpPr/>
          <p:nvPr/>
        </p:nvSpPr>
        <p:spPr>
          <a:xfrm>
            <a:off x="6263640" y="3310200"/>
            <a:ext cx="8226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00e576"/>
                </a:solidFill>
                <a:effectLst/>
                <a:uFillTx/>
                <a:latin typeface="Calibri"/>
              </a:rPr>
              <a:t>Map 2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2" name="TextBox 44"/>
          <p:cNvSpPr/>
          <p:nvPr/>
        </p:nvSpPr>
        <p:spPr>
          <a:xfrm>
            <a:off x="7132320" y="3346200"/>
            <a:ext cx="187416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Bright where horiz. edges are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3" name="Rectangle 45"/>
          <p:cNvSpPr/>
          <p:nvPr/>
        </p:nvSpPr>
        <p:spPr>
          <a:xfrm>
            <a:off x="6172200" y="3694320"/>
            <a:ext cx="2834280" cy="347040"/>
          </a:xfrm>
          <a:prstGeom prst="rect">
            <a:avLst/>
          </a:prstGeom>
          <a:solidFill>
            <a:srgbClr val="121e3a"/>
          </a:solidFill>
          <a:ln w="10160">
            <a:solidFill>
              <a:srgbClr val="ffc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04" name="TextBox 46"/>
          <p:cNvSpPr/>
          <p:nvPr/>
        </p:nvSpPr>
        <p:spPr>
          <a:xfrm>
            <a:off x="6263640" y="3694320"/>
            <a:ext cx="8226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fcc00"/>
                </a:solidFill>
                <a:effectLst/>
                <a:uFillTx/>
                <a:latin typeface="Calibri"/>
              </a:rPr>
              <a:t>Map 3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5" name="TextBox 47"/>
          <p:cNvSpPr/>
          <p:nvPr/>
        </p:nvSpPr>
        <p:spPr>
          <a:xfrm>
            <a:off x="7132320" y="3730320"/>
            <a:ext cx="187416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Bright where diag. texture is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6" name="Rectangle 48"/>
          <p:cNvSpPr/>
          <p:nvPr/>
        </p:nvSpPr>
        <p:spPr>
          <a:xfrm>
            <a:off x="6172200" y="4078080"/>
            <a:ext cx="2834280" cy="347040"/>
          </a:xfrm>
          <a:prstGeom prst="rect">
            <a:avLst/>
          </a:prstGeom>
          <a:solidFill>
            <a:srgbClr val="121e3a"/>
          </a:solidFill>
          <a:ln w="10160">
            <a:solidFill>
              <a:srgbClr val="ff6b3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07" name="TextBox 49"/>
          <p:cNvSpPr/>
          <p:nvPr/>
        </p:nvSpPr>
        <p:spPr>
          <a:xfrm>
            <a:off x="6263640" y="4078080"/>
            <a:ext cx="8226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f6b35"/>
                </a:solidFill>
                <a:effectLst/>
                <a:uFillTx/>
                <a:latin typeface="Calibri"/>
              </a:rPr>
              <a:t>Map 4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8" name="TextBox 50"/>
          <p:cNvSpPr/>
          <p:nvPr/>
        </p:nvSpPr>
        <p:spPr>
          <a:xfrm>
            <a:off x="7132320" y="4078080"/>
            <a:ext cx="17370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Bright where colour shifts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9" name="Rectangle 51"/>
          <p:cNvSpPr/>
          <p:nvPr/>
        </p:nvSpPr>
        <p:spPr>
          <a:xfrm>
            <a:off x="6172200" y="4462200"/>
            <a:ext cx="2834280" cy="347040"/>
          </a:xfrm>
          <a:prstGeom prst="rect">
            <a:avLst/>
          </a:prstGeom>
          <a:solidFill>
            <a:srgbClr val="121e3a"/>
          </a:solidFill>
          <a:ln w="10160">
            <a:solidFill>
              <a:srgbClr val="ff454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10" name="TextBox 52"/>
          <p:cNvSpPr/>
          <p:nvPr/>
        </p:nvSpPr>
        <p:spPr>
          <a:xfrm>
            <a:off x="6263640" y="4462200"/>
            <a:ext cx="8226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f4545"/>
                </a:solidFill>
                <a:effectLst/>
                <a:uFillTx/>
                <a:latin typeface="Calibri"/>
              </a:rPr>
              <a:t>Map 5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1" name="TextBox 53"/>
          <p:cNvSpPr/>
          <p:nvPr/>
        </p:nvSpPr>
        <p:spPr>
          <a:xfrm>
            <a:off x="7132320" y="4498200"/>
            <a:ext cx="187416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Bright where corners appear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2" name="Rectangle 54"/>
          <p:cNvSpPr/>
          <p:nvPr/>
        </p:nvSpPr>
        <p:spPr>
          <a:xfrm>
            <a:off x="6172200" y="4846320"/>
            <a:ext cx="2834280" cy="347040"/>
          </a:xfrm>
          <a:prstGeom prst="rect">
            <a:avLst/>
          </a:prstGeom>
          <a:solidFill>
            <a:srgbClr val="121e3a"/>
          </a:solidFill>
          <a:ln w="10160">
            <a:solidFill>
              <a:srgbClr val="ff50a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13" name="TextBox 55"/>
          <p:cNvSpPr/>
          <p:nvPr/>
        </p:nvSpPr>
        <p:spPr>
          <a:xfrm>
            <a:off x="6263640" y="4846320"/>
            <a:ext cx="8226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f50a0"/>
                </a:solidFill>
                <a:effectLst/>
                <a:uFillTx/>
                <a:latin typeface="Calibri"/>
              </a:rPr>
              <a:t>...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4" name="TextBox 56"/>
          <p:cNvSpPr/>
          <p:nvPr/>
        </p:nvSpPr>
        <p:spPr>
          <a:xfrm>
            <a:off x="7132320" y="4846320"/>
            <a:ext cx="17370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...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5" name="Rectangle 57"/>
          <p:cNvSpPr/>
          <p:nvPr/>
        </p:nvSpPr>
        <p:spPr>
          <a:xfrm>
            <a:off x="6172200" y="5230440"/>
            <a:ext cx="2834280" cy="347040"/>
          </a:xfrm>
          <a:prstGeom prst="rect">
            <a:avLst/>
          </a:prstGeom>
          <a:solidFill>
            <a:srgbClr val="121e3a"/>
          </a:solidFill>
          <a:ln w="10160">
            <a:solidFill>
              <a:srgbClr val="a040c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16" name="TextBox 58"/>
          <p:cNvSpPr/>
          <p:nvPr/>
        </p:nvSpPr>
        <p:spPr>
          <a:xfrm>
            <a:off x="6263640" y="5230440"/>
            <a:ext cx="8226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a040c0"/>
                </a:solidFill>
                <a:effectLst/>
                <a:uFillTx/>
                <a:latin typeface="Calibri"/>
              </a:rPr>
              <a:t>Map 32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7" name="TextBox 59"/>
          <p:cNvSpPr/>
          <p:nvPr/>
        </p:nvSpPr>
        <p:spPr>
          <a:xfrm>
            <a:off x="7132320" y="5194440"/>
            <a:ext cx="1874160" cy="4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Bright where pattern 32 appears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8" name="TextBox 60"/>
          <p:cNvSpPr/>
          <p:nvPr/>
        </p:nvSpPr>
        <p:spPr>
          <a:xfrm>
            <a:off x="9235440" y="3840480"/>
            <a:ext cx="3654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3a4a6a"/>
                </a:solidFill>
                <a:effectLst/>
                <a:uFillTx/>
                <a:latin typeface="Calibri"/>
              </a:rPr>
              <a:t>→</a:t>
            </a:r>
            <a:endParaRPr lang="en-IN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9" name="Rectangle 61"/>
          <p:cNvSpPr/>
          <p:nvPr/>
        </p:nvSpPr>
        <p:spPr>
          <a:xfrm>
            <a:off x="9738360" y="1874520"/>
            <a:ext cx="2148480" cy="4205880"/>
          </a:xfrm>
          <a:prstGeom prst="rect">
            <a:avLst/>
          </a:prstGeom>
          <a:solidFill>
            <a:srgbClr val="0f1732"/>
          </a:solidFill>
          <a:ln w="19050">
            <a:solidFill>
              <a:srgbClr val="ffc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20" name="TextBox 62"/>
          <p:cNvSpPr/>
          <p:nvPr/>
        </p:nvSpPr>
        <p:spPr>
          <a:xfrm>
            <a:off x="9738360" y="1874520"/>
            <a:ext cx="21484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300" b="1" u="none" strike="noStrike">
                <a:solidFill>
                  <a:srgbClr val="ffcc00"/>
                </a:solidFill>
                <a:effectLst/>
                <a:uFillTx/>
                <a:latin typeface="Calibri"/>
              </a:rPr>
              <a:t>AFTER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cc00"/>
                </a:solidFill>
                <a:effectLst/>
                <a:uFillTx/>
                <a:latin typeface="Calibri"/>
              </a:rPr>
              <a:t>MAXPOOL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1" name="TextBox 63"/>
          <p:cNvSpPr/>
          <p:nvPr/>
        </p:nvSpPr>
        <p:spPr>
          <a:xfrm>
            <a:off x="9829800" y="2468880"/>
            <a:ext cx="1965600" cy="22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4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[32, 64, 64]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4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32 maps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4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but now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4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64×64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(halved)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2" name="Rectangle 64"/>
          <p:cNvSpPr/>
          <p:nvPr/>
        </p:nvSpPr>
        <p:spPr>
          <a:xfrm>
            <a:off x="274320" y="6217920"/>
            <a:ext cx="11612520" cy="475200"/>
          </a:xfrm>
          <a:prstGeom prst="rect">
            <a:avLst/>
          </a:prstGeom>
          <a:solidFill>
            <a:srgbClr val="121e3a"/>
          </a:solidFill>
          <a:ln w="15240">
            <a:solidFill>
              <a:srgbClr val="a040c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23" name="TextBox 65"/>
          <p:cNvSpPr/>
          <p:nvPr/>
        </p:nvSpPr>
        <p:spPr>
          <a:xfrm>
            <a:off x="457200" y="6263640"/>
            <a:ext cx="114296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a040c0"/>
                </a:solidFill>
                <a:effectLst/>
                <a:uFillTx/>
                <a:latin typeface="Calibri"/>
              </a:rPr>
              <a:t>Block 1 total weights:  32 filters × 27 weights/filter = 864 + 32 biases = 896 parameters    →  After training, these 896 numbers encode what Block 1 'knows' about the image.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80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4" name="Rectangle 1"/>
          <p:cNvSpPr/>
          <p:nvPr/>
        </p:nvSpPr>
        <p:spPr>
          <a:xfrm>
            <a:off x="0" y="0"/>
            <a:ext cx="72720" cy="6857640"/>
          </a:xfrm>
          <a:prstGeom prst="rect">
            <a:avLst/>
          </a:prstGeom>
          <a:solidFill>
            <a:srgbClr val="ff6b3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25" name="TextBox 2"/>
          <p:cNvSpPr/>
          <p:nvPr/>
        </p:nvSpPr>
        <p:spPr>
          <a:xfrm>
            <a:off x="320040" y="182880"/>
            <a:ext cx="114296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400" b="1" u="none" strike="noStrike">
                <a:solidFill>
                  <a:srgbClr val="ff6b35"/>
                </a:solidFill>
                <a:effectLst/>
                <a:uFillTx/>
                <a:latin typeface="Calibri"/>
              </a:rPr>
              <a:t>What Do Different Filters Actually Detect?</a:t>
            </a:r>
            <a:endParaRPr lang="en-IN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6" name="TextBox 3"/>
          <p:cNvSpPr/>
          <p:nvPr/>
        </p:nvSpPr>
        <p:spPr>
          <a:xfrm>
            <a:off x="320040" y="868680"/>
            <a:ext cx="11429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The same image, 4 different filters → 4 completely different feature maps</a:t>
            </a:r>
            <a:endParaRPr lang="en-IN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7" name="Rectangle 4"/>
          <p:cNvSpPr/>
          <p:nvPr/>
        </p:nvSpPr>
        <p:spPr>
          <a:xfrm>
            <a:off x="320040" y="1325880"/>
            <a:ext cx="11521080" cy="27000"/>
          </a:xfrm>
          <a:prstGeom prst="rect">
            <a:avLst/>
          </a:prstGeom>
          <a:solidFill>
            <a:srgbClr val="3a4a6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7640" bIns="-1764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28" name="TextBox 5"/>
          <p:cNvSpPr/>
          <p:nvPr/>
        </p:nvSpPr>
        <p:spPr>
          <a:xfrm>
            <a:off x="320040" y="1417320"/>
            <a:ext cx="115210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i="1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High value (bright) in a feature map = 'I found my pattern here'    Low/zero value (dark) = 'nothing interesting at this position'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9" name="Rectangle 6"/>
          <p:cNvSpPr/>
          <p:nvPr/>
        </p:nvSpPr>
        <p:spPr>
          <a:xfrm>
            <a:off x="274320" y="1874520"/>
            <a:ext cx="2742840" cy="4525920"/>
          </a:xfrm>
          <a:prstGeom prst="rect">
            <a:avLst/>
          </a:prstGeom>
          <a:solidFill>
            <a:srgbClr val="0f1732"/>
          </a:solidFill>
          <a:ln w="19050">
            <a:solidFill>
              <a:srgbClr val="00d4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30" name="TextBox 7"/>
          <p:cNvSpPr/>
          <p:nvPr/>
        </p:nvSpPr>
        <p:spPr>
          <a:xfrm>
            <a:off x="365760" y="1920240"/>
            <a:ext cx="2605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400" b="1" u="none" strike="noStrike">
                <a:solidFill>
                  <a:srgbClr val="00d4ff"/>
                </a:solidFill>
                <a:effectLst/>
                <a:uFillTx/>
                <a:latin typeface="Calibri"/>
              </a:rPr>
              <a:t>Edge Detector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00d4ff"/>
                </a:solidFill>
                <a:effectLst/>
                <a:uFillTx/>
                <a:latin typeface="Calibri"/>
              </a:rPr>
              <a:t>Filter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1" name="TextBox 8"/>
          <p:cNvSpPr/>
          <p:nvPr/>
        </p:nvSpPr>
        <p:spPr>
          <a:xfrm>
            <a:off x="365760" y="2468880"/>
            <a:ext cx="2605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i="1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Detects any sharp change in brightness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2" name="Rectangle 9"/>
          <p:cNvSpPr/>
          <p:nvPr/>
        </p:nvSpPr>
        <p:spPr>
          <a:xfrm>
            <a:off x="868680" y="2880360"/>
            <a:ext cx="347040" cy="328680"/>
          </a:xfrm>
          <a:prstGeom prst="rect">
            <a:avLst/>
          </a:prstGeom>
          <a:solidFill>
            <a:srgbClr val="121e3a"/>
          </a:solidFill>
          <a:ln w="10160">
            <a:solidFill>
              <a:srgbClr val="00d4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33" name="TextBox 10"/>
          <p:cNvSpPr/>
          <p:nvPr/>
        </p:nvSpPr>
        <p:spPr>
          <a:xfrm>
            <a:off x="868680" y="2880360"/>
            <a:ext cx="3470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00d4ff"/>
                </a:solidFill>
                <a:effectLst/>
                <a:uFillTx/>
                <a:latin typeface="Calibri"/>
              </a:rPr>
              <a:t>-1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4" name="Rectangle 11"/>
          <p:cNvSpPr/>
          <p:nvPr/>
        </p:nvSpPr>
        <p:spPr>
          <a:xfrm>
            <a:off x="1216080" y="2880360"/>
            <a:ext cx="347040" cy="328680"/>
          </a:xfrm>
          <a:prstGeom prst="rect">
            <a:avLst/>
          </a:prstGeom>
          <a:solidFill>
            <a:srgbClr val="121e3a"/>
          </a:solidFill>
          <a:ln w="10160">
            <a:solidFill>
              <a:srgbClr val="00d4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35" name="TextBox 12"/>
          <p:cNvSpPr/>
          <p:nvPr/>
        </p:nvSpPr>
        <p:spPr>
          <a:xfrm>
            <a:off x="1216080" y="2880360"/>
            <a:ext cx="3470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00d4ff"/>
                </a:solidFill>
                <a:effectLst/>
                <a:uFillTx/>
                <a:latin typeface="Calibri"/>
              </a:rPr>
              <a:t>-1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6" name="Rectangle 13"/>
          <p:cNvSpPr/>
          <p:nvPr/>
        </p:nvSpPr>
        <p:spPr>
          <a:xfrm>
            <a:off x="1563480" y="2880360"/>
            <a:ext cx="347040" cy="328680"/>
          </a:xfrm>
          <a:prstGeom prst="rect">
            <a:avLst/>
          </a:prstGeom>
          <a:solidFill>
            <a:srgbClr val="121e3a"/>
          </a:solidFill>
          <a:ln w="10160">
            <a:solidFill>
              <a:srgbClr val="00d4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37" name="TextBox 14"/>
          <p:cNvSpPr/>
          <p:nvPr/>
        </p:nvSpPr>
        <p:spPr>
          <a:xfrm>
            <a:off x="1563480" y="2880360"/>
            <a:ext cx="3470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00d4ff"/>
                </a:solidFill>
                <a:effectLst/>
                <a:uFillTx/>
                <a:latin typeface="Calibri"/>
              </a:rPr>
              <a:t>-1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8" name="Rectangle 15"/>
          <p:cNvSpPr/>
          <p:nvPr/>
        </p:nvSpPr>
        <p:spPr>
          <a:xfrm>
            <a:off x="868680" y="3209400"/>
            <a:ext cx="347040" cy="328680"/>
          </a:xfrm>
          <a:prstGeom prst="rect">
            <a:avLst/>
          </a:prstGeom>
          <a:solidFill>
            <a:srgbClr val="121e3a"/>
          </a:solidFill>
          <a:ln w="10160">
            <a:solidFill>
              <a:srgbClr val="00d4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39" name="TextBox 16"/>
          <p:cNvSpPr/>
          <p:nvPr/>
        </p:nvSpPr>
        <p:spPr>
          <a:xfrm>
            <a:off x="868680" y="3209400"/>
            <a:ext cx="3470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00d4ff"/>
                </a:solidFill>
                <a:effectLst/>
                <a:uFillTx/>
                <a:latin typeface="Calibri"/>
              </a:rPr>
              <a:t>-1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0" name="Rectangle 17"/>
          <p:cNvSpPr/>
          <p:nvPr/>
        </p:nvSpPr>
        <p:spPr>
          <a:xfrm>
            <a:off x="1216080" y="3209400"/>
            <a:ext cx="347040" cy="328680"/>
          </a:xfrm>
          <a:prstGeom prst="rect">
            <a:avLst/>
          </a:prstGeom>
          <a:solidFill>
            <a:srgbClr val="1a1804"/>
          </a:solidFill>
          <a:ln w="10160">
            <a:solidFill>
              <a:srgbClr val="00d4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41" name="TextBox 18"/>
          <p:cNvSpPr/>
          <p:nvPr/>
        </p:nvSpPr>
        <p:spPr>
          <a:xfrm>
            <a:off x="1216080" y="3209400"/>
            <a:ext cx="3470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00d4ff"/>
                </a:solidFill>
                <a:effectLst/>
                <a:uFillTx/>
                <a:latin typeface="Calibri"/>
              </a:rPr>
              <a:t>8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2" name="Rectangle 19"/>
          <p:cNvSpPr/>
          <p:nvPr/>
        </p:nvSpPr>
        <p:spPr>
          <a:xfrm>
            <a:off x="1563480" y="3209400"/>
            <a:ext cx="347040" cy="328680"/>
          </a:xfrm>
          <a:prstGeom prst="rect">
            <a:avLst/>
          </a:prstGeom>
          <a:solidFill>
            <a:srgbClr val="121e3a"/>
          </a:solidFill>
          <a:ln w="10160">
            <a:solidFill>
              <a:srgbClr val="00d4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43" name="TextBox 20"/>
          <p:cNvSpPr/>
          <p:nvPr/>
        </p:nvSpPr>
        <p:spPr>
          <a:xfrm>
            <a:off x="1563480" y="3209400"/>
            <a:ext cx="3470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00d4ff"/>
                </a:solidFill>
                <a:effectLst/>
                <a:uFillTx/>
                <a:latin typeface="Calibri"/>
              </a:rPr>
              <a:t>-1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4" name="Rectangle 21"/>
          <p:cNvSpPr/>
          <p:nvPr/>
        </p:nvSpPr>
        <p:spPr>
          <a:xfrm>
            <a:off x="868680" y="3538800"/>
            <a:ext cx="347040" cy="328680"/>
          </a:xfrm>
          <a:prstGeom prst="rect">
            <a:avLst/>
          </a:prstGeom>
          <a:solidFill>
            <a:srgbClr val="121e3a"/>
          </a:solidFill>
          <a:ln w="10160">
            <a:solidFill>
              <a:srgbClr val="00d4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45" name="TextBox 22"/>
          <p:cNvSpPr/>
          <p:nvPr/>
        </p:nvSpPr>
        <p:spPr>
          <a:xfrm>
            <a:off x="868680" y="3538800"/>
            <a:ext cx="3470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00d4ff"/>
                </a:solidFill>
                <a:effectLst/>
                <a:uFillTx/>
                <a:latin typeface="Calibri"/>
              </a:rPr>
              <a:t>-1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6" name="Rectangle 23"/>
          <p:cNvSpPr/>
          <p:nvPr/>
        </p:nvSpPr>
        <p:spPr>
          <a:xfrm>
            <a:off x="1216080" y="3538800"/>
            <a:ext cx="347040" cy="328680"/>
          </a:xfrm>
          <a:prstGeom prst="rect">
            <a:avLst/>
          </a:prstGeom>
          <a:solidFill>
            <a:srgbClr val="121e3a"/>
          </a:solidFill>
          <a:ln w="10160">
            <a:solidFill>
              <a:srgbClr val="00d4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47" name="TextBox 24"/>
          <p:cNvSpPr/>
          <p:nvPr/>
        </p:nvSpPr>
        <p:spPr>
          <a:xfrm>
            <a:off x="1216080" y="3538800"/>
            <a:ext cx="3470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00d4ff"/>
                </a:solidFill>
                <a:effectLst/>
                <a:uFillTx/>
                <a:latin typeface="Calibri"/>
              </a:rPr>
              <a:t>-1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8" name="Rectangle 25"/>
          <p:cNvSpPr/>
          <p:nvPr/>
        </p:nvSpPr>
        <p:spPr>
          <a:xfrm>
            <a:off x="1563480" y="3538800"/>
            <a:ext cx="347040" cy="328680"/>
          </a:xfrm>
          <a:prstGeom prst="rect">
            <a:avLst/>
          </a:prstGeom>
          <a:solidFill>
            <a:srgbClr val="121e3a"/>
          </a:solidFill>
          <a:ln w="10160">
            <a:solidFill>
              <a:srgbClr val="00d4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49" name="TextBox 26"/>
          <p:cNvSpPr/>
          <p:nvPr/>
        </p:nvSpPr>
        <p:spPr>
          <a:xfrm>
            <a:off x="1563480" y="3538800"/>
            <a:ext cx="3470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00d4ff"/>
                </a:solidFill>
                <a:effectLst/>
                <a:uFillTx/>
                <a:latin typeface="Calibri"/>
              </a:rPr>
              <a:t>-1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0" name="TextBox 27"/>
          <p:cNvSpPr/>
          <p:nvPr/>
        </p:nvSpPr>
        <p:spPr>
          <a:xfrm>
            <a:off x="868680" y="3904560"/>
            <a:ext cx="1042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900" b="0" i="1" u="none" strike="noStrike">
                <a:solidFill>
                  <a:srgbClr val="3a4a6a"/>
                </a:solidFill>
                <a:effectLst/>
                <a:uFillTx/>
                <a:latin typeface="Calibri"/>
              </a:rPr>
              <a:t>filter weights</a:t>
            </a:r>
            <a:endParaRPr lang="en-IN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1" name="TextBox 28"/>
          <p:cNvSpPr/>
          <p:nvPr/>
        </p:nvSpPr>
        <p:spPr>
          <a:xfrm>
            <a:off x="365760" y="4069080"/>
            <a:ext cx="2605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00d4ff"/>
                </a:solidFill>
                <a:effectLst/>
                <a:uFillTx/>
                <a:latin typeface="Calibri"/>
              </a:rPr>
              <a:t>Detects: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2" name="TextBox 29"/>
          <p:cNvSpPr/>
          <p:nvPr/>
        </p:nvSpPr>
        <p:spPr>
          <a:xfrm>
            <a:off x="365760" y="4370760"/>
            <a:ext cx="26056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Pineapple outline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Apple silhouette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Stem boundary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3" name="TextBox 30"/>
          <p:cNvSpPr/>
          <p:nvPr/>
        </p:nvSpPr>
        <p:spPr>
          <a:xfrm>
            <a:off x="365760" y="5029200"/>
            <a:ext cx="2605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00d4ff"/>
                </a:solidFill>
                <a:effectLst/>
                <a:uFillTx/>
                <a:latin typeface="Calibri"/>
              </a:rPr>
              <a:t>Feature map: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4" name="TextBox 31"/>
          <p:cNvSpPr/>
          <p:nvPr/>
        </p:nvSpPr>
        <p:spPr>
          <a:xfrm>
            <a:off x="365760" y="5330880"/>
            <a:ext cx="26056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100" b="0" i="1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Output bright at all fruit edges;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i="1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dark in uniform colour regions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5" name="Rectangle 32"/>
          <p:cNvSpPr/>
          <p:nvPr/>
        </p:nvSpPr>
        <p:spPr>
          <a:xfrm>
            <a:off x="3108960" y="1874520"/>
            <a:ext cx="2742840" cy="4525920"/>
          </a:xfrm>
          <a:prstGeom prst="rect">
            <a:avLst/>
          </a:prstGeom>
          <a:solidFill>
            <a:srgbClr val="0f1732"/>
          </a:solidFill>
          <a:ln w="19050">
            <a:solidFill>
              <a:srgbClr val="00e57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56" name="TextBox 33"/>
          <p:cNvSpPr/>
          <p:nvPr/>
        </p:nvSpPr>
        <p:spPr>
          <a:xfrm>
            <a:off x="3200400" y="1920240"/>
            <a:ext cx="2605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400" b="1" u="none" strike="noStrike">
                <a:solidFill>
                  <a:srgbClr val="00e576"/>
                </a:solidFill>
                <a:effectLst/>
                <a:uFillTx/>
                <a:latin typeface="Calibri"/>
              </a:rPr>
              <a:t>Horizontal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00e576"/>
                </a:solidFill>
                <a:effectLst/>
                <a:uFillTx/>
                <a:latin typeface="Calibri"/>
              </a:rPr>
              <a:t>Edge Filter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7" name="TextBox 34"/>
          <p:cNvSpPr/>
          <p:nvPr/>
        </p:nvSpPr>
        <p:spPr>
          <a:xfrm>
            <a:off x="3200400" y="2468880"/>
            <a:ext cx="2605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i="1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Detects top-to-bottom brightness transitions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8" name="Rectangle 35"/>
          <p:cNvSpPr/>
          <p:nvPr/>
        </p:nvSpPr>
        <p:spPr>
          <a:xfrm>
            <a:off x="3703320" y="2880360"/>
            <a:ext cx="347040" cy="328680"/>
          </a:xfrm>
          <a:prstGeom prst="rect">
            <a:avLst/>
          </a:prstGeom>
          <a:solidFill>
            <a:srgbClr val="121e3a"/>
          </a:solidFill>
          <a:ln w="10160">
            <a:solidFill>
              <a:srgbClr val="00e57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59" name="TextBox 36"/>
          <p:cNvSpPr/>
          <p:nvPr/>
        </p:nvSpPr>
        <p:spPr>
          <a:xfrm>
            <a:off x="3703320" y="2880360"/>
            <a:ext cx="3470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00e576"/>
                </a:solidFill>
                <a:effectLst/>
                <a:uFillTx/>
                <a:latin typeface="Calibri"/>
              </a:rPr>
              <a:t>-1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0" name="Rectangle 37"/>
          <p:cNvSpPr/>
          <p:nvPr/>
        </p:nvSpPr>
        <p:spPr>
          <a:xfrm>
            <a:off x="4050720" y="2880360"/>
            <a:ext cx="347040" cy="328680"/>
          </a:xfrm>
          <a:prstGeom prst="rect">
            <a:avLst/>
          </a:prstGeom>
          <a:solidFill>
            <a:srgbClr val="121e3a"/>
          </a:solidFill>
          <a:ln w="10160">
            <a:solidFill>
              <a:srgbClr val="00e57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61" name="TextBox 38"/>
          <p:cNvSpPr/>
          <p:nvPr/>
        </p:nvSpPr>
        <p:spPr>
          <a:xfrm>
            <a:off x="4050720" y="2880360"/>
            <a:ext cx="3470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00e576"/>
                </a:solidFill>
                <a:effectLst/>
                <a:uFillTx/>
                <a:latin typeface="Calibri"/>
              </a:rPr>
              <a:t>-2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2" name="Rectangle 39"/>
          <p:cNvSpPr/>
          <p:nvPr/>
        </p:nvSpPr>
        <p:spPr>
          <a:xfrm>
            <a:off x="4398120" y="2880360"/>
            <a:ext cx="347040" cy="328680"/>
          </a:xfrm>
          <a:prstGeom prst="rect">
            <a:avLst/>
          </a:prstGeom>
          <a:solidFill>
            <a:srgbClr val="121e3a"/>
          </a:solidFill>
          <a:ln w="10160">
            <a:solidFill>
              <a:srgbClr val="00e57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63" name="TextBox 40"/>
          <p:cNvSpPr/>
          <p:nvPr/>
        </p:nvSpPr>
        <p:spPr>
          <a:xfrm>
            <a:off x="4398120" y="2880360"/>
            <a:ext cx="3470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00e576"/>
                </a:solidFill>
                <a:effectLst/>
                <a:uFillTx/>
                <a:latin typeface="Calibri"/>
              </a:rPr>
              <a:t>-1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4" name="Rectangle 41"/>
          <p:cNvSpPr/>
          <p:nvPr/>
        </p:nvSpPr>
        <p:spPr>
          <a:xfrm>
            <a:off x="3703320" y="3209400"/>
            <a:ext cx="347040" cy="328680"/>
          </a:xfrm>
          <a:prstGeom prst="rect">
            <a:avLst/>
          </a:prstGeom>
          <a:solidFill>
            <a:srgbClr val="121e3a"/>
          </a:solidFill>
          <a:ln w="10160">
            <a:solidFill>
              <a:srgbClr val="00e57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65" name="TextBox 42"/>
          <p:cNvSpPr/>
          <p:nvPr/>
        </p:nvSpPr>
        <p:spPr>
          <a:xfrm>
            <a:off x="3703320" y="3209400"/>
            <a:ext cx="3470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00e576"/>
                </a:solidFill>
                <a:effectLst/>
                <a:uFillTx/>
                <a:latin typeface="Calibri"/>
              </a:rPr>
              <a:t>0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6" name="Rectangle 43"/>
          <p:cNvSpPr/>
          <p:nvPr/>
        </p:nvSpPr>
        <p:spPr>
          <a:xfrm>
            <a:off x="4050720" y="3209400"/>
            <a:ext cx="347040" cy="328680"/>
          </a:xfrm>
          <a:prstGeom prst="rect">
            <a:avLst/>
          </a:prstGeom>
          <a:solidFill>
            <a:srgbClr val="1a1804"/>
          </a:solidFill>
          <a:ln w="10160">
            <a:solidFill>
              <a:srgbClr val="00e57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67" name="TextBox 44"/>
          <p:cNvSpPr/>
          <p:nvPr/>
        </p:nvSpPr>
        <p:spPr>
          <a:xfrm>
            <a:off x="4050720" y="3209400"/>
            <a:ext cx="3470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00e576"/>
                </a:solidFill>
                <a:effectLst/>
                <a:uFillTx/>
                <a:latin typeface="Calibri"/>
              </a:rPr>
              <a:t>0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8" name="Rectangle 45"/>
          <p:cNvSpPr/>
          <p:nvPr/>
        </p:nvSpPr>
        <p:spPr>
          <a:xfrm>
            <a:off x="4398120" y="3209400"/>
            <a:ext cx="347040" cy="328680"/>
          </a:xfrm>
          <a:prstGeom prst="rect">
            <a:avLst/>
          </a:prstGeom>
          <a:solidFill>
            <a:srgbClr val="121e3a"/>
          </a:solidFill>
          <a:ln w="10160">
            <a:solidFill>
              <a:srgbClr val="00e57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69" name="TextBox 46"/>
          <p:cNvSpPr/>
          <p:nvPr/>
        </p:nvSpPr>
        <p:spPr>
          <a:xfrm>
            <a:off x="4398120" y="3209400"/>
            <a:ext cx="3470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00e576"/>
                </a:solidFill>
                <a:effectLst/>
                <a:uFillTx/>
                <a:latin typeface="Calibri"/>
              </a:rPr>
              <a:t>0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0" name="Rectangle 47"/>
          <p:cNvSpPr/>
          <p:nvPr/>
        </p:nvSpPr>
        <p:spPr>
          <a:xfrm>
            <a:off x="3703320" y="3538800"/>
            <a:ext cx="347040" cy="328680"/>
          </a:xfrm>
          <a:prstGeom prst="rect">
            <a:avLst/>
          </a:prstGeom>
          <a:solidFill>
            <a:srgbClr val="121e3a"/>
          </a:solidFill>
          <a:ln w="10160">
            <a:solidFill>
              <a:srgbClr val="00e57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71" name="TextBox 48"/>
          <p:cNvSpPr/>
          <p:nvPr/>
        </p:nvSpPr>
        <p:spPr>
          <a:xfrm>
            <a:off x="3703320" y="3538800"/>
            <a:ext cx="3470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00e576"/>
                </a:solidFill>
                <a:effectLst/>
                <a:uFillTx/>
                <a:latin typeface="Calibri"/>
              </a:rPr>
              <a:t>1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2" name="Rectangle 49"/>
          <p:cNvSpPr/>
          <p:nvPr/>
        </p:nvSpPr>
        <p:spPr>
          <a:xfrm>
            <a:off x="4050720" y="3538800"/>
            <a:ext cx="347040" cy="328680"/>
          </a:xfrm>
          <a:prstGeom prst="rect">
            <a:avLst/>
          </a:prstGeom>
          <a:solidFill>
            <a:srgbClr val="121e3a"/>
          </a:solidFill>
          <a:ln w="10160">
            <a:solidFill>
              <a:srgbClr val="00e57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73" name="TextBox 50"/>
          <p:cNvSpPr/>
          <p:nvPr/>
        </p:nvSpPr>
        <p:spPr>
          <a:xfrm>
            <a:off x="4050720" y="3538800"/>
            <a:ext cx="3470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00e576"/>
                </a:solidFill>
                <a:effectLst/>
                <a:uFillTx/>
                <a:latin typeface="Calibri"/>
              </a:rPr>
              <a:t>2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4" name="Rectangle 51"/>
          <p:cNvSpPr/>
          <p:nvPr/>
        </p:nvSpPr>
        <p:spPr>
          <a:xfrm>
            <a:off x="4398120" y="3538800"/>
            <a:ext cx="347040" cy="328680"/>
          </a:xfrm>
          <a:prstGeom prst="rect">
            <a:avLst/>
          </a:prstGeom>
          <a:solidFill>
            <a:srgbClr val="121e3a"/>
          </a:solidFill>
          <a:ln w="10160">
            <a:solidFill>
              <a:srgbClr val="00e57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75" name="TextBox 52"/>
          <p:cNvSpPr/>
          <p:nvPr/>
        </p:nvSpPr>
        <p:spPr>
          <a:xfrm>
            <a:off x="4398120" y="3538800"/>
            <a:ext cx="3470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00e576"/>
                </a:solidFill>
                <a:effectLst/>
                <a:uFillTx/>
                <a:latin typeface="Calibri"/>
              </a:rPr>
              <a:t>1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6" name="TextBox 53"/>
          <p:cNvSpPr/>
          <p:nvPr/>
        </p:nvSpPr>
        <p:spPr>
          <a:xfrm>
            <a:off x="3703320" y="3904560"/>
            <a:ext cx="1042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900" b="0" i="1" u="none" strike="noStrike">
                <a:solidFill>
                  <a:srgbClr val="3a4a6a"/>
                </a:solidFill>
                <a:effectLst/>
                <a:uFillTx/>
                <a:latin typeface="Calibri"/>
              </a:rPr>
              <a:t>filter weights</a:t>
            </a:r>
            <a:endParaRPr lang="en-IN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7" name="TextBox 54"/>
          <p:cNvSpPr/>
          <p:nvPr/>
        </p:nvSpPr>
        <p:spPr>
          <a:xfrm>
            <a:off x="3200400" y="4069080"/>
            <a:ext cx="2605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00e576"/>
                </a:solidFill>
                <a:effectLst/>
                <a:uFillTx/>
                <a:latin typeface="Calibri"/>
              </a:rPr>
              <a:t>Detects: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8" name="TextBox 55"/>
          <p:cNvSpPr/>
          <p:nvPr/>
        </p:nvSpPr>
        <p:spPr>
          <a:xfrm>
            <a:off x="3200400" y="4370760"/>
            <a:ext cx="26056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Top of pineapple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crown / Apple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equator line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9" name="TextBox 56"/>
          <p:cNvSpPr/>
          <p:nvPr/>
        </p:nvSpPr>
        <p:spPr>
          <a:xfrm>
            <a:off x="3200400" y="5029200"/>
            <a:ext cx="2605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00e576"/>
                </a:solidFill>
                <a:effectLst/>
                <a:uFillTx/>
                <a:latin typeface="Calibri"/>
              </a:rPr>
              <a:t>Feature map: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0" name="TextBox 57"/>
          <p:cNvSpPr/>
          <p:nvPr/>
        </p:nvSpPr>
        <p:spPr>
          <a:xfrm>
            <a:off x="3200400" y="5330880"/>
            <a:ext cx="26056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100" b="0" i="1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Output bright at crown top;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i="1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dark along vertical sides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1" name="Rectangle 58"/>
          <p:cNvSpPr/>
          <p:nvPr/>
        </p:nvSpPr>
        <p:spPr>
          <a:xfrm>
            <a:off x="5943600" y="1874520"/>
            <a:ext cx="2742840" cy="4525920"/>
          </a:xfrm>
          <a:prstGeom prst="rect">
            <a:avLst/>
          </a:prstGeom>
          <a:solidFill>
            <a:srgbClr val="0f1732"/>
          </a:solidFill>
          <a:ln w="19050">
            <a:solidFill>
              <a:srgbClr val="ffc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82" name="TextBox 59"/>
          <p:cNvSpPr/>
          <p:nvPr/>
        </p:nvSpPr>
        <p:spPr>
          <a:xfrm>
            <a:off x="6035040" y="1920240"/>
            <a:ext cx="2605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400" b="1" u="none" strike="noStrike">
                <a:solidFill>
                  <a:srgbClr val="ffcc00"/>
                </a:solidFill>
                <a:effectLst/>
                <a:uFillTx/>
                <a:latin typeface="Calibri"/>
              </a:rPr>
              <a:t>Vertical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cc00"/>
                </a:solidFill>
                <a:effectLst/>
                <a:uFillTx/>
                <a:latin typeface="Calibri"/>
              </a:rPr>
              <a:t>Edge Filter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3" name="TextBox 60"/>
          <p:cNvSpPr/>
          <p:nvPr/>
        </p:nvSpPr>
        <p:spPr>
          <a:xfrm>
            <a:off x="6035040" y="2468880"/>
            <a:ext cx="2605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i="1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Detects left-to-right brightness transitions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4" name="Rectangle 61"/>
          <p:cNvSpPr/>
          <p:nvPr/>
        </p:nvSpPr>
        <p:spPr>
          <a:xfrm>
            <a:off x="6537960" y="2880360"/>
            <a:ext cx="347040" cy="328680"/>
          </a:xfrm>
          <a:prstGeom prst="rect">
            <a:avLst/>
          </a:prstGeom>
          <a:solidFill>
            <a:srgbClr val="121e3a"/>
          </a:solidFill>
          <a:ln w="10160">
            <a:solidFill>
              <a:srgbClr val="ffc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85" name="TextBox 62"/>
          <p:cNvSpPr/>
          <p:nvPr/>
        </p:nvSpPr>
        <p:spPr>
          <a:xfrm>
            <a:off x="6537960" y="2880360"/>
            <a:ext cx="3470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fcc00"/>
                </a:solidFill>
                <a:effectLst/>
                <a:uFillTx/>
                <a:latin typeface="Calibri"/>
              </a:rPr>
              <a:t>-1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6" name="Rectangle 63"/>
          <p:cNvSpPr/>
          <p:nvPr/>
        </p:nvSpPr>
        <p:spPr>
          <a:xfrm>
            <a:off x="6885360" y="2880360"/>
            <a:ext cx="347040" cy="328680"/>
          </a:xfrm>
          <a:prstGeom prst="rect">
            <a:avLst/>
          </a:prstGeom>
          <a:solidFill>
            <a:srgbClr val="121e3a"/>
          </a:solidFill>
          <a:ln w="10160">
            <a:solidFill>
              <a:srgbClr val="ffc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87" name="TextBox 64"/>
          <p:cNvSpPr/>
          <p:nvPr/>
        </p:nvSpPr>
        <p:spPr>
          <a:xfrm>
            <a:off x="6885360" y="2880360"/>
            <a:ext cx="3470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fcc00"/>
                </a:solidFill>
                <a:effectLst/>
                <a:uFillTx/>
                <a:latin typeface="Calibri"/>
              </a:rPr>
              <a:t>0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8" name="Rectangle 65"/>
          <p:cNvSpPr/>
          <p:nvPr/>
        </p:nvSpPr>
        <p:spPr>
          <a:xfrm>
            <a:off x="7232760" y="2880360"/>
            <a:ext cx="347040" cy="328680"/>
          </a:xfrm>
          <a:prstGeom prst="rect">
            <a:avLst/>
          </a:prstGeom>
          <a:solidFill>
            <a:srgbClr val="121e3a"/>
          </a:solidFill>
          <a:ln w="10160">
            <a:solidFill>
              <a:srgbClr val="ffc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89" name="TextBox 66"/>
          <p:cNvSpPr/>
          <p:nvPr/>
        </p:nvSpPr>
        <p:spPr>
          <a:xfrm>
            <a:off x="7232760" y="2880360"/>
            <a:ext cx="3470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fcc00"/>
                </a:solidFill>
                <a:effectLst/>
                <a:uFillTx/>
                <a:latin typeface="Calibri"/>
              </a:rPr>
              <a:t>1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0" name="Rectangle 67"/>
          <p:cNvSpPr/>
          <p:nvPr/>
        </p:nvSpPr>
        <p:spPr>
          <a:xfrm>
            <a:off x="6537960" y="3209400"/>
            <a:ext cx="347040" cy="328680"/>
          </a:xfrm>
          <a:prstGeom prst="rect">
            <a:avLst/>
          </a:prstGeom>
          <a:solidFill>
            <a:srgbClr val="121e3a"/>
          </a:solidFill>
          <a:ln w="10160">
            <a:solidFill>
              <a:srgbClr val="ffc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91" name="TextBox 68"/>
          <p:cNvSpPr/>
          <p:nvPr/>
        </p:nvSpPr>
        <p:spPr>
          <a:xfrm>
            <a:off x="6537960" y="3209400"/>
            <a:ext cx="3470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fcc00"/>
                </a:solidFill>
                <a:effectLst/>
                <a:uFillTx/>
                <a:latin typeface="Calibri"/>
              </a:rPr>
              <a:t>-2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2" name="Rectangle 69"/>
          <p:cNvSpPr/>
          <p:nvPr/>
        </p:nvSpPr>
        <p:spPr>
          <a:xfrm>
            <a:off x="6885360" y="3209400"/>
            <a:ext cx="347040" cy="328680"/>
          </a:xfrm>
          <a:prstGeom prst="rect">
            <a:avLst/>
          </a:prstGeom>
          <a:solidFill>
            <a:srgbClr val="1a1804"/>
          </a:solidFill>
          <a:ln w="10160">
            <a:solidFill>
              <a:srgbClr val="ffc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93" name="TextBox 70"/>
          <p:cNvSpPr/>
          <p:nvPr/>
        </p:nvSpPr>
        <p:spPr>
          <a:xfrm>
            <a:off x="6885360" y="3209400"/>
            <a:ext cx="3470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fcc00"/>
                </a:solidFill>
                <a:effectLst/>
                <a:uFillTx/>
                <a:latin typeface="Calibri"/>
              </a:rPr>
              <a:t>0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4" name="Rectangle 71"/>
          <p:cNvSpPr/>
          <p:nvPr/>
        </p:nvSpPr>
        <p:spPr>
          <a:xfrm>
            <a:off x="7232760" y="3209400"/>
            <a:ext cx="347040" cy="328680"/>
          </a:xfrm>
          <a:prstGeom prst="rect">
            <a:avLst/>
          </a:prstGeom>
          <a:solidFill>
            <a:srgbClr val="121e3a"/>
          </a:solidFill>
          <a:ln w="10160">
            <a:solidFill>
              <a:srgbClr val="ffc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95" name="TextBox 72"/>
          <p:cNvSpPr/>
          <p:nvPr/>
        </p:nvSpPr>
        <p:spPr>
          <a:xfrm>
            <a:off x="7232760" y="3209400"/>
            <a:ext cx="3470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fcc00"/>
                </a:solidFill>
                <a:effectLst/>
                <a:uFillTx/>
                <a:latin typeface="Calibri"/>
              </a:rPr>
              <a:t>2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6" name="Rectangle 73"/>
          <p:cNvSpPr/>
          <p:nvPr/>
        </p:nvSpPr>
        <p:spPr>
          <a:xfrm>
            <a:off x="6537960" y="3538800"/>
            <a:ext cx="347040" cy="328680"/>
          </a:xfrm>
          <a:prstGeom prst="rect">
            <a:avLst/>
          </a:prstGeom>
          <a:solidFill>
            <a:srgbClr val="121e3a"/>
          </a:solidFill>
          <a:ln w="10160">
            <a:solidFill>
              <a:srgbClr val="ffc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97" name="TextBox 74"/>
          <p:cNvSpPr/>
          <p:nvPr/>
        </p:nvSpPr>
        <p:spPr>
          <a:xfrm>
            <a:off x="6537960" y="3538800"/>
            <a:ext cx="3470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fcc00"/>
                </a:solidFill>
                <a:effectLst/>
                <a:uFillTx/>
                <a:latin typeface="Calibri"/>
              </a:rPr>
              <a:t>-1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8" name="Rectangle 75"/>
          <p:cNvSpPr/>
          <p:nvPr/>
        </p:nvSpPr>
        <p:spPr>
          <a:xfrm>
            <a:off x="6885360" y="3538800"/>
            <a:ext cx="347040" cy="328680"/>
          </a:xfrm>
          <a:prstGeom prst="rect">
            <a:avLst/>
          </a:prstGeom>
          <a:solidFill>
            <a:srgbClr val="121e3a"/>
          </a:solidFill>
          <a:ln w="10160">
            <a:solidFill>
              <a:srgbClr val="ffc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99" name="TextBox 76"/>
          <p:cNvSpPr/>
          <p:nvPr/>
        </p:nvSpPr>
        <p:spPr>
          <a:xfrm>
            <a:off x="6885360" y="3538800"/>
            <a:ext cx="3470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fcc00"/>
                </a:solidFill>
                <a:effectLst/>
                <a:uFillTx/>
                <a:latin typeface="Calibri"/>
              </a:rPr>
              <a:t>0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0" name="Rectangle 77"/>
          <p:cNvSpPr/>
          <p:nvPr/>
        </p:nvSpPr>
        <p:spPr>
          <a:xfrm>
            <a:off x="7232760" y="3538800"/>
            <a:ext cx="347040" cy="328680"/>
          </a:xfrm>
          <a:prstGeom prst="rect">
            <a:avLst/>
          </a:prstGeom>
          <a:solidFill>
            <a:srgbClr val="121e3a"/>
          </a:solidFill>
          <a:ln w="10160">
            <a:solidFill>
              <a:srgbClr val="ffc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01" name="TextBox 78"/>
          <p:cNvSpPr/>
          <p:nvPr/>
        </p:nvSpPr>
        <p:spPr>
          <a:xfrm>
            <a:off x="7232760" y="3538800"/>
            <a:ext cx="3470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fcc00"/>
                </a:solidFill>
                <a:effectLst/>
                <a:uFillTx/>
                <a:latin typeface="Calibri"/>
              </a:rPr>
              <a:t>1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2" name="TextBox 79"/>
          <p:cNvSpPr/>
          <p:nvPr/>
        </p:nvSpPr>
        <p:spPr>
          <a:xfrm>
            <a:off x="6537960" y="3904560"/>
            <a:ext cx="1042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900" b="0" i="1" u="none" strike="noStrike">
                <a:solidFill>
                  <a:srgbClr val="3a4a6a"/>
                </a:solidFill>
                <a:effectLst/>
                <a:uFillTx/>
                <a:latin typeface="Calibri"/>
              </a:rPr>
              <a:t>filter weights</a:t>
            </a:r>
            <a:endParaRPr lang="en-IN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3" name="TextBox 80"/>
          <p:cNvSpPr/>
          <p:nvPr/>
        </p:nvSpPr>
        <p:spPr>
          <a:xfrm>
            <a:off x="6035040" y="4069080"/>
            <a:ext cx="2605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cc00"/>
                </a:solidFill>
                <a:effectLst/>
                <a:uFillTx/>
                <a:latin typeface="Calibri"/>
              </a:rPr>
              <a:t>Detects: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4" name="TextBox 81"/>
          <p:cNvSpPr/>
          <p:nvPr/>
        </p:nvSpPr>
        <p:spPr>
          <a:xfrm>
            <a:off x="6035040" y="4370760"/>
            <a:ext cx="26056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Left/right sides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of pineapple body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or apple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5" name="TextBox 82"/>
          <p:cNvSpPr/>
          <p:nvPr/>
        </p:nvSpPr>
        <p:spPr>
          <a:xfrm>
            <a:off x="6035040" y="5029200"/>
            <a:ext cx="2605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cc00"/>
                </a:solidFill>
                <a:effectLst/>
                <a:uFillTx/>
                <a:latin typeface="Calibri"/>
              </a:rPr>
              <a:t>Feature map: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6" name="TextBox 83"/>
          <p:cNvSpPr/>
          <p:nvPr/>
        </p:nvSpPr>
        <p:spPr>
          <a:xfrm>
            <a:off x="6035040" y="5330880"/>
            <a:ext cx="26056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100" b="0" i="1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Output bright at left &amp; right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i="1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edges; dark at top and bottom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7" name="Rectangle 84"/>
          <p:cNvSpPr/>
          <p:nvPr/>
        </p:nvSpPr>
        <p:spPr>
          <a:xfrm>
            <a:off x="8778240" y="1874520"/>
            <a:ext cx="2742840" cy="4525920"/>
          </a:xfrm>
          <a:prstGeom prst="rect">
            <a:avLst/>
          </a:prstGeom>
          <a:solidFill>
            <a:srgbClr val="0f1732"/>
          </a:solidFill>
          <a:ln w="19050">
            <a:solidFill>
              <a:srgbClr val="ff6b3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08" name="TextBox 85"/>
          <p:cNvSpPr/>
          <p:nvPr/>
        </p:nvSpPr>
        <p:spPr>
          <a:xfrm>
            <a:off x="8869680" y="1920240"/>
            <a:ext cx="2605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400" b="1" u="none" strike="noStrike">
                <a:solidFill>
                  <a:srgbClr val="ff6b35"/>
                </a:solidFill>
                <a:effectLst/>
                <a:uFillTx/>
                <a:latin typeface="Calibri"/>
              </a:rPr>
              <a:t>Texture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6b35"/>
                </a:solidFill>
                <a:effectLst/>
                <a:uFillTx/>
                <a:latin typeface="Calibri"/>
              </a:rPr>
              <a:t>Filter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9" name="TextBox 86"/>
          <p:cNvSpPr/>
          <p:nvPr/>
        </p:nvSpPr>
        <p:spPr>
          <a:xfrm>
            <a:off x="8869680" y="2468880"/>
            <a:ext cx="2605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i="1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Detects repeating small patterns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0" name="Rectangle 87"/>
          <p:cNvSpPr/>
          <p:nvPr/>
        </p:nvSpPr>
        <p:spPr>
          <a:xfrm>
            <a:off x="9372600" y="2880360"/>
            <a:ext cx="347040" cy="328680"/>
          </a:xfrm>
          <a:prstGeom prst="rect">
            <a:avLst/>
          </a:prstGeom>
          <a:solidFill>
            <a:srgbClr val="121e3a"/>
          </a:solidFill>
          <a:ln w="10160">
            <a:solidFill>
              <a:srgbClr val="ff6b3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11" name="TextBox 88"/>
          <p:cNvSpPr/>
          <p:nvPr/>
        </p:nvSpPr>
        <p:spPr>
          <a:xfrm>
            <a:off x="9372600" y="2880360"/>
            <a:ext cx="3470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f6b35"/>
                </a:solidFill>
                <a:effectLst/>
                <a:uFillTx/>
                <a:latin typeface="Calibri"/>
              </a:rPr>
              <a:t>1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2" name="Rectangle 89"/>
          <p:cNvSpPr/>
          <p:nvPr/>
        </p:nvSpPr>
        <p:spPr>
          <a:xfrm>
            <a:off x="9720000" y="2880360"/>
            <a:ext cx="347040" cy="328680"/>
          </a:xfrm>
          <a:prstGeom prst="rect">
            <a:avLst/>
          </a:prstGeom>
          <a:solidFill>
            <a:srgbClr val="121e3a"/>
          </a:solidFill>
          <a:ln w="10160">
            <a:solidFill>
              <a:srgbClr val="ff6b3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13" name="TextBox 90"/>
          <p:cNvSpPr/>
          <p:nvPr/>
        </p:nvSpPr>
        <p:spPr>
          <a:xfrm>
            <a:off x="9720000" y="2880360"/>
            <a:ext cx="3470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f6b35"/>
                </a:solidFill>
                <a:effectLst/>
                <a:uFillTx/>
                <a:latin typeface="Calibri"/>
              </a:rPr>
              <a:t>-1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4" name="Rectangle 91"/>
          <p:cNvSpPr/>
          <p:nvPr/>
        </p:nvSpPr>
        <p:spPr>
          <a:xfrm>
            <a:off x="10067400" y="2880360"/>
            <a:ext cx="347040" cy="328680"/>
          </a:xfrm>
          <a:prstGeom prst="rect">
            <a:avLst/>
          </a:prstGeom>
          <a:solidFill>
            <a:srgbClr val="121e3a"/>
          </a:solidFill>
          <a:ln w="10160">
            <a:solidFill>
              <a:srgbClr val="ff6b3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15" name="TextBox 92"/>
          <p:cNvSpPr/>
          <p:nvPr/>
        </p:nvSpPr>
        <p:spPr>
          <a:xfrm>
            <a:off x="10067400" y="2880360"/>
            <a:ext cx="3470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f6b35"/>
                </a:solidFill>
                <a:effectLst/>
                <a:uFillTx/>
                <a:latin typeface="Calibri"/>
              </a:rPr>
              <a:t>1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6" name="Rectangle 93"/>
          <p:cNvSpPr/>
          <p:nvPr/>
        </p:nvSpPr>
        <p:spPr>
          <a:xfrm>
            <a:off x="9372600" y="3209400"/>
            <a:ext cx="347040" cy="328680"/>
          </a:xfrm>
          <a:prstGeom prst="rect">
            <a:avLst/>
          </a:prstGeom>
          <a:solidFill>
            <a:srgbClr val="121e3a"/>
          </a:solidFill>
          <a:ln w="10160">
            <a:solidFill>
              <a:srgbClr val="ff6b3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17" name="TextBox 94"/>
          <p:cNvSpPr/>
          <p:nvPr/>
        </p:nvSpPr>
        <p:spPr>
          <a:xfrm>
            <a:off x="9372600" y="3209400"/>
            <a:ext cx="3470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f6b35"/>
                </a:solidFill>
                <a:effectLst/>
                <a:uFillTx/>
                <a:latin typeface="Calibri"/>
              </a:rPr>
              <a:t>-1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8" name="Rectangle 95"/>
          <p:cNvSpPr/>
          <p:nvPr/>
        </p:nvSpPr>
        <p:spPr>
          <a:xfrm>
            <a:off x="9720000" y="3209400"/>
            <a:ext cx="347040" cy="328680"/>
          </a:xfrm>
          <a:prstGeom prst="rect">
            <a:avLst/>
          </a:prstGeom>
          <a:solidFill>
            <a:srgbClr val="1a1804"/>
          </a:solidFill>
          <a:ln w="10160">
            <a:solidFill>
              <a:srgbClr val="ff6b3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19" name="TextBox 96"/>
          <p:cNvSpPr/>
          <p:nvPr/>
        </p:nvSpPr>
        <p:spPr>
          <a:xfrm>
            <a:off x="9720000" y="3209400"/>
            <a:ext cx="3470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f6b35"/>
                </a:solidFill>
                <a:effectLst/>
                <a:uFillTx/>
                <a:latin typeface="Calibri"/>
              </a:rPr>
              <a:t>1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0" name="Rectangle 97"/>
          <p:cNvSpPr/>
          <p:nvPr/>
        </p:nvSpPr>
        <p:spPr>
          <a:xfrm>
            <a:off x="10067400" y="3209400"/>
            <a:ext cx="347040" cy="328680"/>
          </a:xfrm>
          <a:prstGeom prst="rect">
            <a:avLst/>
          </a:prstGeom>
          <a:solidFill>
            <a:srgbClr val="121e3a"/>
          </a:solidFill>
          <a:ln w="10160">
            <a:solidFill>
              <a:srgbClr val="ff6b3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21" name="TextBox 98"/>
          <p:cNvSpPr/>
          <p:nvPr/>
        </p:nvSpPr>
        <p:spPr>
          <a:xfrm>
            <a:off x="10067400" y="3209400"/>
            <a:ext cx="3470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f6b35"/>
                </a:solidFill>
                <a:effectLst/>
                <a:uFillTx/>
                <a:latin typeface="Calibri"/>
              </a:rPr>
              <a:t>-1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2" name="Rectangle 99"/>
          <p:cNvSpPr/>
          <p:nvPr/>
        </p:nvSpPr>
        <p:spPr>
          <a:xfrm>
            <a:off x="9372600" y="3538800"/>
            <a:ext cx="347040" cy="328680"/>
          </a:xfrm>
          <a:prstGeom prst="rect">
            <a:avLst/>
          </a:prstGeom>
          <a:solidFill>
            <a:srgbClr val="121e3a"/>
          </a:solidFill>
          <a:ln w="10160">
            <a:solidFill>
              <a:srgbClr val="ff6b3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23" name="TextBox 100"/>
          <p:cNvSpPr/>
          <p:nvPr/>
        </p:nvSpPr>
        <p:spPr>
          <a:xfrm>
            <a:off x="9372600" y="3538800"/>
            <a:ext cx="3470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f6b35"/>
                </a:solidFill>
                <a:effectLst/>
                <a:uFillTx/>
                <a:latin typeface="Calibri"/>
              </a:rPr>
              <a:t>1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4" name="Rectangle 101"/>
          <p:cNvSpPr/>
          <p:nvPr/>
        </p:nvSpPr>
        <p:spPr>
          <a:xfrm>
            <a:off x="9720000" y="3538800"/>
            <a:ext cx="347040" cy="328680"/>
          </a:xfrm>
          <a:prstGeom prst="rect">
            <a:avLst/>
          </a:prstGeom>
          <a:solidFill>
            <a:srgbClr val="121e3a"/>
          </a:solidFill>
          <a:ln w="10160">
            <a:solidFill>
              <a:srgbClr val="ff6b3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25" name="TextBox 102"/>
          <p:cNvSpPr/>
          <p:nvPr/>
        </p:nvSpPr>
        <p:spPr>
          <a:xfrm>
            <a:off x="9720000" y="3538800"/>
            <a:ext cx="3470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f6b35"/>
                </a:solidFill>
                <a:effectLst/>
                <a:uFillTx/>
                <a:latin typeface="Calibri"/>
              </a:rPr>
              <a:t>-1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6" name="Rectangle 103"/>
          <p:cNvSpPr/>
          <p:nvPr/>
        </p:nvSpPr>
        <p:spPr>
          <a:xfrm>
            <a:off x="10067400" y="3538800"/>
            <a:ext cx="347040" cy="328680"/>
          </a:xfrm>
          <a:prstGeom prst="rect">
            <a:avLst/>
          </a:prstGeom>
          <a:solidFill>
            <a:srgbClr val="121e3a"/>
          </a:solidFill>
          <a:ln w="10160">
            <a:solidFill>
              <a:srgbClr val="ff6b3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27" name="TextBox 104"/>
          <p:cNvSpPr/>
          <p:nvPr/>
        </p:nvSpPr>
        <p:spPr>
          <a:xfrm>
            <a:off x="10067400" y="3538800"/>
            <a:ext cx="3470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f6b35"/>
                </a:solidFill>
                <a:effectLst/>
                <a:uFillTx/>
                <a:latin typeface="Calibri"/>
              </a:rPr>
              <a:t>1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8" name="TextBox 105"/>
          <p:cNvSpPr/>
          <p:nvPr/>
        </p:nvSpPr>
        <p:spPr>
          <a:xfrm>
            <a:off x="9372600" y="3904560"/>
            <a:ext cx="1042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900" b="0" i="1" u="none" strike="noStrike">
                <a:solidFill>
                  <a:srgbClr val="3a4a6a"/>
                </a:solidFill>
                <a:effectLst/>
                <a:uFillTx/>
                <a:latin typeface="Calibri"/>
              </a:rPr>
              <a:t>filter weights</a:t>
            </a:r>
            <a:endParaRPr lang="en-IN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9" name="TextBox 106"/>
          <p:cNvSpPr/>
          <p:nvPr/>
        </p:nvSpPr>
        <p:spPr>
          <a:xfrm>
            <a:off x="8869680" y="4069080"/>
            <a:ext cx="2605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6b35"/>
                </a:solidFill>
                <a:effectLst/>
                <a:uFillTx/>
                <a:latin typeface="Calibri"/>
              </a:rPr>
              <a:t>Detects: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0" name="TextBox 107"/>
          <p:cNvSpPr/>
          <p:nvPr/>
        </p:nvSpPr>
        <p:spPr>
          <a:xfrm>
            <a:off x="8869680" y="4370760"/>
            <a:ext cx="26056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Pineapple skin's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diamond pattern;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apple's smooth skin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1" name="TextBox 108"/>
          <p:cNvSpPr/>
          <p:nvPr/>
        </p:nvSpPr>
        <p:spPr>
          <a:xfrm>
            <a:off x="8869680" y="5029200"/>
            <a:ext cx="2605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6b35"/>
                </a:solidFill>
                <a:effectLst/>
                <a:uFillTx/>
                <a:latin typeface="Calibri"/>
              </a:rPr>
              <a:t>Feature map: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2" name="TextBox 109"/>
          <p:cNvSpPr/>
          <p:nvPr/>
        </p:nvSpPr>
        <p:spPr>
          <a:xfrm>
            <a:off x="8869680" y="5330880"/>
            <a:ext cx="26056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100" b="0" i="1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Output bright on pineapple skin;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i="1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very different pattern for apple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3" name="Rectangle 110"/>
          <p:cNvSpPr/>
          <p:nvPr/>
        </p:nvSpPr>
        <p:spPr>
          <a:xfrm>
            <a:off x="274320" y="6492240"/>
            <a:ext cx="11612520" cy="273960"/>
          </a:xfrm>
          <a:prstGeom prst="rect">
            <a:avLst/>
          </a:prstGeom>
          <a:solidFill>
            <a:srgbClr val="121e3a"/>
          </a:solidFill>
          <a:ln w="19050">
            <a:solidFill>
              <a:srgbClr val="00d4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34" name="TextBox 111"/>
          <p:cNvSpPr/>
          <p:nvPr/>
        </p:nvSpPr>
        <p:spPr>
          <a:xfrm>
            <a:off x="457200" y="6519600"/>
            <a:ext cx="11429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00d4ff"/>
                </a:solidFill>
                <a:effectLst/>
                <a:uFillTx/>
                <a:latin typeface="Calibri"/>
              </a:rPr>
              <a:t>Deeper layers (Block 3, 4) combine many of these basic maps → detect complex patterns like 'pineapple crown' or 'apple stem'.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80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5" name="Rectangle 1"/>
          <p:cNvSpPr/>
          <p:nvPr/>
        </p:nvSpPr>
        <p:spPr>
          <a:xfrm>
            <a:off x="0" y="0"/>
            <a:ext cx="72720" cy="6857640"/>
          </a:xfrm>
          <a:prstGeom prst="rect">
            <a:avLst/>
          </a:prstGeom>
          <a:solidFill>
            <a:srgbClr val="00bfa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36" name="TextBox 2"/>
          <p:cNvSpPr/>
          <p:nvPr/>
        </p:nvSpPr>
        <p:spPr>
          <a:xfrm>
            <a:off x="320040" y="182880"/>
            <a:ext cx="114296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400" b="1" u="none" strike="noStrike">
                <a:solidFill>
                  <a:srgbClr val="00bfa5"/>
                </a:solidFill>
                <a:effectLst/>
                <a:uFillTx/>
                <a:latin typeface="Calibri"/>
              </a:rPr>
              <a:t>All 4 Conv Blocks — Dimension Flow</a:t>
            </a:r>
            <a:endParaRPr lang="en-IN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7" name="TextBox 3"/>
          <p:cNvSpPr/>
          <p:nvPr/>
        </p:nvSpPr>
        <p:spPr>
          <a:xfrm>
            <a:off x="320040" y="868680"/>
            <a:ext cx="11429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How the tensor shape transforms from raw image to compact feature vector</a:t>
            </a:r>
            <a:endParaRPr lang="en-IN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8" name="Rectangle 4"/>
          <p:cNvSpPr/>
          <p:nvPr/>
        </p:nvSpPr>
        <p:spPr>
          <a:xfrm>
            <a:off x="320040" y="1325880"/>
            <a:ext cx="11521080" cy="27000"/>
          </a:xfrm>
          <a:prstGeom prst="rect">
            <a:avLst/>
          </a:prstGeom>
          <a:solidFill>
            <a:srgbClr val="3a4a6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7640" bIns="-1764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39" name="Rectangle 5"/>
          <p:cNvSpPr/>
          <p:nvPr/>
        </p:nvSpPr>
        <p:spPr>
          <a:xfrm>
            <a:off x="274320" y="1600200"/>
            <a:ext cx="1325520" cy="311400"/>
          </a:xfrm>
          <a:prstGeom prst="rect">
            <a:avLst/>
          </a:prstGeom>
          <a:solidFill>
            <a:srgbClr val="2a3a5a"/>
          </a:solidFill>
          <a:ln w="1905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40" name="TextBox 6"/>
          <p:cNvSpPr/>
          <p:nvPr/>
        </p:nvSpPr>
        <p:spPr>
          <a:xfrm>
            <a:off x="274320" y="1600200"/>
            <a:ext cx="13255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00d4ff"/>
                </a:solidFill>
                <a:effectLst/>
                <a:uFillTx/>
                <a:latin typeface="Calibri"/>
              </a:rPr>
              <a:t>Stage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1" name="Rectangle 7"/>
          <p:cNvSpPr/>
          <p:nvPr/>
        </p:nvSpPr>
        <p:spPr>
          <a:xfrm>
            <a:off x="1618560" y="1600200"/>
            <a:ext cx="1462680" cy="311400"/>
          </a:xfrm>
          <a:prstGeom prst="rect">
            <a:avLst/>
          </a:prstGeom>
          <a:solidFill>
            <a:srgbClr val="2a3a5a"/>
          </a:solidFill>
          <a:ln w="1905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42" name="TextBox 8"/>
          <p:cNvSpPr/>
          <p:nvPr/>
        </p:nvSpPr>
        <p:spPr>
          <a:xfrm>
            <a:off x="1618560" y="1600200"/>
            <a:ext cx="14626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00d4ff"/>
                </a:solidFill>
                <a:effectLst/>
                <a:uFillTx/>
                <a:latin typeface="Calibri"/>
              </a:rPr>
              <a:t>Tensor Shape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3" name="Rectangle 9"/>
          <p:cNvSpPr/>
          <p:nvPr/>
        </p:nvSpPr>
        <p:spPr>
          <a:xfrm>
            <a:off x="3099960" y="1600200"/>
            <a:ext cx="3017160" cy="311400"/>
          </a:xfrm>
          <a:prstGeom prst="rect">
            <a:avLst/>
          </a:prstGeom>
          <a:solidFill>
            <a:srgbClr val="2a3a5a"/>
          </a:solidFill>
          <a:ln w="1905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44" name="TextBox 10"/>
          <p:cNvSpPr/>
          <p:nvPr/>
        </p:nvSpPr>
        <p:spPr>
          <a:xfrm>
            <a:off x="3099960" y="1600200"/>
            <a:ext cx="301716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00d4ff"/>
                </a:solidFill>
                <a:effectLst/>
                <a:uFillTx/>
                <a:latin typeface="Calibri"/>
              </a:rPr>
              <a:t>What happened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5" name="Rectangle 11"/>
          <p:cNvSpPr/>
          <p:nvPr/>
        </p:nvSpPr>
        <p:spPr>
          <a:xfrm>
            <a:off x="6135480" y="1600200"/>
            <a:ext cx="1371240" cy="311400"/>
          </a:xfrm>
          <a:prstGeom prst="rect">
            <a:avLst/>
          </a:prstGeom>
          <a:solidFill>
            <a:srgbClr val="2a3a5a"/>
          </a:solidFill>
          <a:ln w="1905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46" name="TextBox 12"/>
          <p:cNvSpPr/>
          <p:nvPr/>
        </p:nvSpPr>
        <p:spPr>
          <a:xfrm>
            <a:off x="6135480" y="1600200"/>
            <a:ext cx="13712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00d4ff"/>
                </a:solidFill>
                <a:effectLst/>
                <a:uFillTx/>
                <a:latin typeface="Calibri"/>
              </a:rPr>
              <a:t>Data size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7" name="Rectangle 13"/>
          <p:cNvSpPr/>
          <p:nvPr/>
        </p:nvSpPr>
        <p:spPr>
          <a:xfrm>
            <a:off x="7525440" y="1600200"/>
            <a:ext cx="3931560" cy="311400"/>
          </a:xfrm>
          <a:prstGeom prst="rect">
            <a:avLst/>
          </a:prstGeom>
          <a:solidFill>
            <a:srgbClr val="2a3a5a"/>
          </a:solidFill>
          <a:ln w="1905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48" name="TextBox 14"/>
          <p:cNvSpPr/>
          <p:nvPr/>
        </p:nvSpPr>
        <p:spPr>
          <a:xfrm>
            <a:off x="7525440" y="1600200"/>
            <a:ext cx="393156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00d4ff"/>
                </a:solidFill>
                <a:effectLst/>
                <a:uFillTx/>
                <a:latin typeface="Calibri"/>
              </a:rPr>
              <a:t>Parameters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9" name="Rectangle 15"/>
          <p:cNvSpPr/>
          <p:nvPr/>
        </p:nvSpPr>
        <p:spPr>
          <a:xfrm>
            <a:off x="274320" y="1926720"/>
            <a:ext cx="1325520" cy="430200"/>
          </a:xfrm>
          <a:prstGeom prst="rect">
            <a:avLst/>
          </a:prstGeom>
          <a:solidFill>
            <a:srgbClr val="121e3a"/>
          </a:solidFill>
          <a:ln w="19050">
            <a:solidFill>
              <a:srgbClr val="00d4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50" name="TextBox 16"/>
          <p:cNvSpPr/>
          <p:nvPr/>
        </p:nvSpPr>
        <p:spPr>
          <a:xfrm>
            <a:off x="320040" y="1926720"/>
            <a:ext cx="1279800" cy="42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100" b="1" u="none" strike="noStrike">
                <a:solidFill>
                  <a:srgbClr val="00d4ff"/>
                </a:solidFill>
                <a:effectLst/>
                <a:uFillTx/>
                <a:latin typeface="Calibri"/>
              </a:rPr>
              <a:t>Input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00d4ff"/>
                </a:solidFill>
                <a:effectLst/>
                <a:uFillTx/>
                <a:latin typeface="Calibri"/>
              </a:rPr>
              <a:t>Image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1" name="Rectangle 17"/>
          <p:cNvSpPr/>
          <p:nvPr/>
        </p:nvSpPr>
        <p:spPr>
          <a:xfrm>
            <a:off x="1618560" y="1926720"/>
            <a:ext cx="1462680" cy="430200"/>
          </a:xfrm>
          <a:prstGeom prst="rect">
            <a:avLst/>
          </a:prstGeom>
          <a:solidFill>
            <a:srgbClr val="121e3a"/>
          </a:solidFill>
          <a:ln w="635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52" name="TextBox 18"/>
          <p:cNvSpPr/>
          <p:nvPr/>
        </p:nvSpPr>
        <p:spPr>
          <a:xfrm>
            <a:off x="1664280" y="1926720"/>
            <a:ext cx="141696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ffcc00"/>
                </a:solidFill>
                <a:effectLst/>
                <a:uFillTx/>
                <a:latin typeface="Calibri"/>
              </a:rPr>
              <a:t>[3, 128, 128]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3" name="Rectangle 19"/>
          <p:cNvSpPr/>
          <p:nvPr/>
        </p:nvSpPr>
        <p:spPr>
          <a:xfrm>
            <a:off x="3099960" y="1926720"/>
            <a:ext cx="3017160" cy="430200"/>
          </a:xfrm>
          <a:prstGeom prst="rect">
            <a:avLst/>
          </a:prstGeom>
          <a:solidFill>
            <a:srgbClr val="121e3a"/>
          </a:solidFill>
          <a:ln w="635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54" name="TextBox 20"/>
          <p:cNvSpPr/>
          <p:nvPr/>
        </p:nvSpPr>
        <p:spPr>
          <a:xfrm>
            <a:off x="3145680" y="1926720"/>
            <a:ext cx="2971440" cy="42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3 colour channels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128×128 pixels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5" name="Rectangle 21"/>
          <p:cNvSpPr/>
          <p:nvPr/>
        </p:nvSpPr>
        <p:spPr>
          <a:xfrm>
            <a:off x="6135480" y="1926720"/>
            <a:ext cx="1371240" cy="430200"/>
          </a:xfrm>
          <a:prstGeom prst="rect">
            <a:avLst/>
          </a:prstGeom>
          <a:solidFill>
            <a:srgbClr val="121e3a"/>
          </a:solidFill>
          <a:ln w="635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56" name="TextBox 22"/>
          <p:cNvSpPr/>
          <p:nvPr/>
        </p:nvSpPr>
        <p:spPr>
          <a:xfrm>
            <a:off x="6181200" y="1926720"/>
            <a:ext cx="132552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49,152 values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7" name="Rectangle 23"/>
          <p:cNvSpPr/>
          <p:nvPr/>
        </p:nvSpPr>
        <p:spPr>
          <a:xfrm>
            <a:off x="7525440" y="1926720"/>
            <a:ext cx="3931560" cy="430200"/>
          </a:xfrm>
          <a:prstGeom prst="rect">
            <a:avLst/>
          </a:prstGeom>
          <a:solidFill>
            <a:srgbClr val="121e3a"/>
          </a:solidFill>
          <a:ln w="635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58" name="TextBox 24"/>
          <p:cNvSpPr/>
          <p:nvPr/>
        </p:nvSpPr>
        <p:spPr>
          <a:xfrm>
            <a:off x="7571160" y="1926720"/>
            <a:ext cx="388584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—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9" name="Rectangle 25"/>
          <p:cNvSpPr/>
          <p:nvPr/>
        </p:nvSpPr>
        <p:spPr>
          <a:xfrm>
            <a:off x="274320" y="2356920"/>
            <a:ext cx="1325520" cy="430200"/>
          </a:xfrm>
          <a:prstGeom prst="rect">
            <a:avLst/>
          </a:prstGeom>
          <a:solidFill>
            <a:srgbClr val="0f1732"/>
          </a:solidFill>
          <a:ln w="19050">
            <a:solidFill>
              <a:srgbClr val="00e57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60" name="TextBox 26"/>
          <p:cNvSpPr/>
          <p:nvPr/>
        </p:nvSpPr>
        <p:spPr>
          <a:xfrm>
            <a:off x="320040" y="2356920"/>
            <a:ext cx="1279800" cy="42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100" b="1" u="none" strike="noStrike">
                <a:solidFill>
                  <a:srgbClr val="00e576"/>
                </a:solidFill>
                <a:effectLst/>
                <a:uFillTx/>
                <a:latin typeface="Calibri"/>
              </a:rPr>
              <a:t>Conv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00e576"/>
                </a:solidFill>
                <a:effectLst/>
                <a:uFillTx/>
                <a:latin typeface="Calibri"/>
              </a:rPr>
              <a:t>Block 1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1" name="Rectangle 27"/>
          <p:cNvSpPr/>
          <p:nvPr/>
        </p:nvSpPr>
        <p:spPr>
          <a:xfrm>
            <a:off x="1618560" y="2356920"/>
            <a:ext cx="1462680" cy="430200"/>
          </a:xfrm>
          <a:prstGeom prst="rect">
            <a:avLst/>
          </a:prstGeom>
          <a:solidFill>
            <a:srgbClr val="0f1732"/>
          </a:solidFill>
          <a:ln w="635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62" name="TextBox 28"/>
          <p:cNvSpPr/>
          <p:nvPr/>
        </p:nvSpPr>
        <p:spPr>
          <a:xfrm>
            <a:off x="1664280" y="2356920"/>
            <a:ext cx="141696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ffcc00"/>
                </a:solidFill>
                <a:effectLst/>
                <a:uFillTx/>
                <a:latin typeface="Calibri"/>
              </a:rPr>
              <a:t>[32, 128, 128]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3" name="Rectangle 29"/>
          <p:cNvSpPr/>
          <p:nvPr/>
        </p:nvSpPr>
        <p:spPr>
          <a:xfrm>
            <a:off x="3099960" y="2356920"/>
            <a:ext cx="3017160" cy="430200"/>
          </a:xfrm>
          <a:prstGeom prst="rect">
            <a:avLst/>
          </a:prstGeom>
          <a:solidFill>
            <a:srgbClr val="0f1732"/>
          </a:solidFill>
          <a:ln w="635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64" name="TextBox 30"/>
          <p:cNvSpPr/>
          <p:nvPr/>
        </p:nvSpPr>
        <p:spPr>
          <a:xfrm>
            <a:off x="3145680" y="2356920"/>
            <a:ext cx="2971440" cy="42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32 filters, padding=1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128×128 preserved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5" name="Rectangle 31"/>
          <p:cNvSpPr/>
          <p:nvPr/>
        </p:nvSpPr>
        <p:spPr>
          <a:xfrm>
            <a:off x="6135480" y="2356920"/>
            <a:ext cx="1371240" cy="430200"/>
          </a:xfrm>
          <a:prstGeom prst="rect">
            <a:avLst/>
          </a:prstGeom>
          <a:solidFill>
            <a:srgbClr val="0f1732"/>
          </a:solidFill>
          <a:ln w="635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66" name="TextBox 32"/>
          <p:cNvSpPr/>
          <p:nvPr/>
        </p:nvSpPr>
        <p:spPr>
          <a:xfrm>
            <a:off x="6181200" y="2356920"/>
            <a:ext cx="132552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524,288 values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7" name="Rectangle 33"/>
          <p:cNvSpPr/>
          <p:nvPr/>
        </p:nvSpPr>
        <p:spPr>
          <a:xfrm>
            <a:off x="7525440" y="2356920"/>
            <a:ext cx="3931560" cy="430200"/>
          </a:xfrm>
          <a:prstGeom prst="rect">
            <a:avLst/>
          </a:prstGeom>
          <a:solidFill>
            <a:srgbClr val="0f1732"/>
          </a:solidFill>
          <a:ln w="635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68" name="TextBox 34"/>
          <p:cNvSpPr/>
          <p:nvPr/>
        </p:nvSpPr>
        <p:spPr>
          <a:xfrm>
            <a:off x="7571160" y="2356920"/>
            <a:ext cx="388584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32 × (3×3×3 + 1) = 896 params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9" name="Rectangle 35"/>
          <p:cNvSpPr/>
          <p:nvPr/>
        </p:nvSpPr>
        <p:spPr>
          <a:xfrm>
            <a:off x="274320" y="2787480"/>
            <a:ext cx="1325520" cy="429840"/>
          </a:xfrm>
          <a:prstGeom prst="rect">
            <a:avLst/>
          </a:prstGeom>
          <a:solidFill>
            <a:srgbClr val="121e3a"/>
          </a:solidFill>
          <a:ln w="19050">
            <a:solidFill>
              <a:srgbClr val="00e57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70" name="TextBox 36"/>
          <p:cNvSpPr/>
          <p:nvPr/>
        </p:nvSpPr>
        <p:spPr>
          <a:xfrm>
            <a:off x="320040" y="2787480"/>
            <a:ext cx="1279800" cy="42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100" b="1" u="none" strike="noStrike">
                <a:solidFill>
                  <a:srgbClr val="00e576"/>
                </a:solidFill>
                <a:effectLst/>
                <a:uFillTx/>
                <a:latin typeface="Calibri"/>
              </a:rPr>
              <a:t>After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00e576"/>
                </a:solidFill>
                <a:effectLst/>
                <a:uFillTx/>
                <a:latin typeface="Calibri"/>
              </a:rPr>
              <a:t>MaxPool 1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1" name="Rectangle 37"/>
          <p:cNvSpPr/>
          <p:nvPr/>
        </p:nvSpPr>
        <p:spPr>
          <a:xfrm>
            <a:off x="1618560" y="2787480"/>
            <a:ext cx="1462680" cy="429840"/>
          </a:xfrm>
          <a:prstGeom prst="rect">
            <a:avLst/>
          </a:prstGeom>
          <a:solidFill>
            <a:srgbClr val="121e3a"/>
          </a:solidFill>
          <a:ln w="635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72" name="TextBox 38"/>
          <p:cNvSpPr/>
          <p:nvPr/>
        </p:nvSpPr>
        <p:spPr>
          <a:xfrm>
            <a:off x="1664280" y="2787480"/>
            <a:ext cx="141696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ffcc00"/>
                </a:solidFill>
                <a:effectLst/>
                <a:uFillTx/>
                <a:latin typeface="Calibri"/>
              </a:rPr>
              <a:t>[32, 64, 64]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3" name="Rectangle 39"/>
          <p:cNvSpPr/>
          <p:nvPr/>
        </p:nvSpPr>
        <p:spPr>
          <a:xfrm>
            <a:off x="3099960" y="2787480"/>
            <a:ext cx="3017160" cy="429840"/>
          </a:xfrm>
          <a:prstGeom prst="rect">
            <a:avLst/>
          </a:prstGeom>
          <a:solidFill>
            <a:srgbClr val="121e3a"/>
          </a:solidFill>
          <a:ln w="635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74" name="TextBox 40"/>
          <p:cNvSpPr/>
          <p:nvPr/>
        </p:nvSpPr>
        <p:spPr>
          <a:xfrm>
            <a:off x="3145680" y="2787480"/>
            <a:ext cx="2971440" cy="42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2×2 pool halves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H and W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5" name="Rectangle 41"/>
          <p:cNvSpPr/>
          <p:nvPr/>
        </p:nvSpPr>
        <p:spPr>
          <a:xfrm>
            <a:off x="6135480" y="2787480"/>
            <a:ext cx="1371240" cy="429840"/>
          </a:xfrm>
          <a:prstGeom prst="rect">
            <a:avLst/>
          </a:prstGeom>
          <a:solidFill>
            <a:srgbClr val="121e3a"/>
          </a:solidFill>
          <a:ln w="635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76" name="TextBox 42"/>
          <p:cNvSpPr/>
          <p:nvPr/>
        </p:nvSpPr>
        <p:spPr>
          <a:xfrm>
            <a:off x="6181200" y="2787480"/>
            <a:ext cx="132552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131,072 values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7" name="Rectangle 43"/>
          <p:cNvSpPr/>
          <p:nvPr/>
        </p:nvSpPr>
        <p:spPr>
          <a:xfrm>
            <a:off x="7525440" y="2787480"/>
            <a:ext cx="3931560" cy="429840"/>
          </a:xfrm>
          <a:prstGeom prst="rect">
            <a:avLst/>
          </a:prstGeom>
          <a:solidFill>
            <a:srgbClr val="121e3a"/>
          </a:solidFill>
          <a:ln w="635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78" name="TextBox 44"/>
          <p:cNvSpPr/>
          <p:nvPr/>
        </p:nvSpPr>
        <p:spPr>
          <a:xfrm>
            <a:off x="7571160" y="2787480"/>
            <a:ext cx="388584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0 params (no weights)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9" name="Rectangle 45"/>
          <p:cNvSpPr/>
          <p:nvPr/>
        </p:nvSpPr>
        <p:spPr>
          <a:xfrm>
            <a:off x="274320" y="3217680"/>
            <a:ext cx="1325520" cy="429840"/>
          </a:xfrm>
          <a:prstGeom prst="rect">
            <a:avLst/>
          </a:prstGeom>
          <a:solidFill>
            <a:srgbClr val="0f1732"/>
          </a:solidFill>
          <a:ln w="19050">
            <a:solidFill>
              <a:srgbClr val="ffc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80" name="TextBox 46"/>
          <p:cNvSpPr/>
          <p:nvPr/>
        </p:nvSpPr>
        <p:spPr>
          <a:xfrm>
            <a:off x="320040" y="3217680"/>
            <a:ext cx="1279800" cy="42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100" b="1" u="none" strike="noStrike">
                <a:solidFill>
                  <a:srgbClr val="ffcc00"/>
                </a:solidFill>
                <a:effectLst/>
                <a:uFillTx/>
                <a:latin typeface="Calibri"/>
              </a:rPr>
              <a:t>Conv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fcc00"/>
                </a:solidFill>
                <a:effectLst/>
                <a:uFillTx/>
                <a:latin typeface="Calibri"/>
              </a:rPr>
              <a:t>Block 2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1" name="Rectangle 47"/>
          <p:cNvSpPr/>
          <p:nvPr/>
        </p:nvSpPr>
        <p:spPr>
          <a:xfrm>
            <a:off x="1618560" y="3217680"/>
            <a:ext cx="1462680" cy="429840"/>
          </a:xfrm>
          <a:prstGeom prst="rect">
            <a:avLst/>
          </a:prstGeom>
          <a:solidFill>
            <a:srgbClr val="0f1732"/>
          </a:solidFill>
          <a:ln w="635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82" name="TextBox 48"/>
          <p:cNvSpPr/>
          <p:nvPr/>
        </p:nvSpPr>
        <p:spPr>
          <a:xfrm>
            <a:off x="1664280" y="3217680"/>
            <a:ext cx="141696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ffcc00"/>
                </a:solidFill>
                <a:effectLst/>
                <a:uFillTx/>
                <a:latin typeface="Calibri"/>
              </a:rPr>
              <a:t>[64, 64, 64]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3" name="Rectangle 49"/>
          <p:cNvSpPr/>
          <p:nvPr/>
        </p:nvSpPr>
        <p:spPr>
          <a:xfrm>
            <a:off x="3099960" y="3217680"/>
            <a:ext cx="3017160" cy="429840"/>
          </a:xfrm>
          <a:prstGeom prst="rect">
            <a:avLst/>
          </a:prstGeom>
          <a:solidFill>
            <a:srgbClr val="0f1732"/>
          </a:solidFill>
          <a:ln w="635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84" name="TextBox 50"/>
          <p:cNvSpPr/>
          <p:nvPr/>
        </p:nvSpPr>
        <p:spPr>
          <a:xfrm>
            <a:off x="3145680" y="3217680"/>
            <a:ext cx="2971440" cy="42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64 filters, padding=1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64×64 preserved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5" name="Rectangle 51"/>
          <p:cNvSpPr/>
          <p:nvPr/>
        </p:nvSpPr>
        <p:spPr>
          <a:xfrm>
            <a:off x="6135480" y="3217680"/>
            <a:ext cx="1371240" cy="429840"/>
          </a:xfrm>
          <a:prstGeom prst="rect">
            <a:avLst/>
          </a:prstGeom>
          <a:solidFill>
            <a:srgbClr val="0f1732"/>
          </a:solidFill>
          <a:ln w="635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86" name="TextBox 52"/>
          <p:cNvSpPr/>
          <p:nvPr/>
        </p:nvSpPr>
        <p:spPr>
          <a:xfrm>
            <a:off x="6181200" y="3217680"/>
            <a:ext cx="132552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262,144 values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7" name="Rectangle 53"/>
          <p:cNvSpPr/>
          <p:nvPr/>
        </p:nvSpPr>
        <p:spPr>
          <a:xfrm>
            <a:off x="7525440" y="3217680"/>
            <a:ext cx="3931560" cy="429840"/>
          </a:xfrm>
          <a:prstGeom prst="rect">
            <a:avLst/>
          </a:prstGeom>
          <a:solidFill>
            <a:srgbClr val="0f1732"/>
          </a:solidFill>
          <a:ln w="635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88" name="TextBox 54"/>
          <p:cNvSpPr/>
          <p:nvPr/>
        </p:nvSpPr>
        <p:spPr>
          <a:xfrm>
            <a:off x="7571160" y="3217680"/>
            <a:ext cx="388584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64 × (3×3×32 + 1) = 18,496 params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9" name="Rectangle 55"/>
          <p:cNvSpPr/>
          <p:nvPr/>
        </p:nvSpPr>
        <p:spPr>
          <a:xfrm>
            <a:off x="274320" y="3647880"/>
            <a:ext cx="1325520" cy="429840"/>
          </a:xfrm>
          <a:prstGeom prst="rect">
            <a:avLst/>
          </a:prstGeom>
          <a:solidFill>
            <a:srgbClr val="121e3a"/>
          </a:solidFill>
          <a:ln w="19050">
            <a:solidFill>
              <a:srgbClr val="ffc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90" name="TextBox 56"/>
          <p:cNvSpPr/>
          <p:nvPr/>
        </p:nvSpPr>
        <p:spPr>
          <a:xfrm>
            <a:off x="320040" y="3647880"/>
            <a:ext cx="1279800" cy="42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100" b="1" u="none" strike="noStrike">
                <a:solidFill>
                  <a:srgbClr val="ffcc00"/>
                </a:solidFill>
                <a:effectLst/>
                <a:uFillTx/>
                <a:latin typeface="Calibri"/>
              </a:rPr>
              <a:t>After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fcc00"/>
                </a:solidFill>
                <a:effectLst/>
                <a:uFillTx/>
                <a:latin typeface="Calibri"/>
              </a:rPr>
              <a:t>MaxPool 2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1" name="Rectangle 57"/>
          <p:cNvSpPr/>
          <p:nvPr/>
        </p:nvSpPr>
        <p:spPr>
          <a:xfrm>
            <a:off x="1618560" y="3647880"/>
            <a:ext cx="1462680" cy="429840"/>
          </a:xfrm>
          <a:prstGeom prst="rect">
            <a:avLst/>
          </a:prstGeom>
          <a:solidFill>
            <a:srgbClr val="121e3a"/>
          </a:solidFill>
          <a:ln w="635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92" name="TextBox 58"/>
          <p:cNvSpPr/>
          <p:nvPr/>
        </p:nvSpPr>
        <p:spPr>
          <a:xfrm>
            <a:off x="1664280" y="3647880"/>
            <a:ext cx="141696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ffcc00"/>
                </a:solidFill>
                <a:effectLst/>
                <a:uFillTx/>
                <a:latin typeface="Calibri"/>
              </a:rPr>
              <a:t>[64, 32, 32]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3" name="Rectangle 59"/>
          <p:cNvSpPr/>
          <p:nvPr/>
        </p:nvSpPr>
        <p:spPr>
          <a:xfrm>
            <a:off x="3099960" y="3647880"/>
            <a:ext cx="3017160" cy="429840"/>
          </a:xfrm>
          <a:prstGeom prst="rect">
            <a:avLst/>
          </a:prstGeom>
          <a:solidFill>
            <a:srgbClr val="121e3a"/>
          </a:solidFill>
          <a:ln w="635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94" name="TextBox 60"/>
          <p:cNvSpPr/>
          <p:nvPr/>
        </p:nvSpPr>
        <p:spPr>
          <a:xfrm>
            <a:off x="3145680" y="3647880"/>
            <a:ext cx="2971440" cy="42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2×2 pool halves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H and W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5" name="Rectangle 61"/>
          <p:cNvSpPr/>
          <p:nvPr/>
        </p:nvSpPr>
        <p:spPr>
          <a:xfrm>
            <a:off x="6135480" y="3647880"/>
            <a:ext cx="1371240" cy="429840"/>
          </a:xfrm>
          <a:prstGeom prst="rect">
            <a:avLst/>
          </a:prstGeom>
          <a:solidFill>
            <a:srgbClr val="121e3a"/>
          </a:solidFill>
          <a:ln w="635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96" name="TextBox 62"/>
          <p:cNvSpPr/>
          <p:nvPr/>
        </p:nvSpPr>
        <p:spPr>
          <a:xfrm>
            <a:off x="6181200" y="3647880"/>
            <a:ext cx="132552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65,536 values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7" name="Rectangle 63"/>
          <p:cNvSpPr/>
          <p:nvPr/>
        </p:nvSpPr>
        <p:spPr>
          <a:xfrm>
            <a:off x="7525440" y="3647880"/>
            <a:ext cx="3931560" cy="429840"/>
          </a:xfrm>
          <a:prstGeom prst="rect">
            <a:avLst/>
          </a:prstGeom>
          <a:solidFill>
            <a:srgbClr val="121e3a"/>
          </a:solidFill>
          <a:ln w="635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98" name="TextBox 64"/>
          <p:cNvSpPr/>
          <p:nvPr/>
        </p:nvSpPr>
        <p:spPr>
          <a:xfrm>
            <a:off x="7571160" y="3647880"/>
            <a:ext cx="388584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0 params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9" name="Rectangle 65"/>
          <p:cNvSpPr/>
          <p:nvPr/>
        </p:nvSpPr>
        <p:spPr>
          <a:xfrm>
            <a:off x="274320" y="4078440"/>
            <a:ext cx="1325520" cy="429840"/>
          </a:xfrm>
          <a:prstGeom prst="rect">
            <a:avLst/>
          </a:prstGeom>
          <a:solidFill>
            <a:srgbClr val="0f1732"/>
          </a:solidFill>
          <a:ln w="19050">
            <a:solidFill>
              <a:srgbClr val="ff6b3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00" name="TextBox 66"/>
          <p:cNvSpPr/>
          <p:nvPr/>
        </p:nvSpPr>
        <p:spPr>
          <a:xfrm>
            <a:off x="320040" y="4078440"/>
            <a:ext cx="1279800" cy="42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100" b="1" u="none" strike="noStrike">
                <a:solidFill>
                  <a:srgbClr val="ff6b35"/>
                </a:solidFill>
                <a:effectLst/>
                <a:uFillTx/>
                <a:latin typeface="Calibri"/>
              </a:rPr>
              <a:t>Conv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f6b35"/>
                </a:solidFill>
                <a:effectLst/>
                <a:uFillTx/>
                <a:latin typeface="Calibri"/>
              </a:rPr>
              <a:t>Block 3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1" name="Rectangle 67"/>
          <p:cNvSpPr/>
          <p:nvPr/>
        </p:nvSpPr>
        <p:spPr>
          <a:xfrm>
            <a:off x="1618560" y="4078440"/>
            <a:ext cx="1462680" cy="429840"/>
          </a:xfrm>
          <a:prstGeom prst="rect">
            <a:avLst/>
          </a:prstGeom>
          <a:solidFill>
            <a:srgbClr val="0f1732"/>
          </a:solidFill>
          <a:ln w="635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02" name="TextBox 68"/>
          <p:cNvSpPr/>
          <p:nvPr/>
        </p:nvSpPr>
        <p:spPr>
          <a:xfrm>
            <a:off x="1664280" y="4078440"/>
            <a:ext cx="141696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ffcc00"/>
                </a:solidFill>
                <a:effectLst/>
                <a:uFillTx/>
                <a:latin typeface="Calibri"/>
              </a:rPr>
              <a:t>[128, 32, 32]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3" name="Rectangle 69"/>
          <p:cNvSpPr/>
          <p:nvPr/>
        </p:nvSpPr>
        <p:spPr>
          <a:xfrm>
            <a:off x="3099960" y="4078440"/>
            <a:ext cx="3017160" cy="429840"/>
          </a:xfrm>
          <a:prstGeom prst="rect">
            <a:avLst/>
          </a:prstGeom>
          <a:solidFill>
            <a:srgbClr val="0f1732"/>
          </a:solidFill>
          <a:ln w="635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04" name="TextBox 70"/>
          <p:cNvSpPr/>
          <p:nvPr/>
        </p:nvSpPr>
        <p:spPr>
          <a:xfrm>
            <a:off x="3145680" y="4078440"/>
            <a:ext cx="2971440" cy="42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128 filters, padding=1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32×32 preserved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5" name="Rectangle 71"/>
          <p:cNvSpPr/>
          <p:nvPr/>
        </p:nvSpPr>
        <p:spPr>
          <a:xfrm>
            <a:off x="6135480" y="4078440"/>
            <a:ext cx="1371240" cy="429840"/>
          </a:xfrm>
          <a:prstGeom prst="rect">
            <a:avLst/>
          </a:prstGeom>
          <a:solidFill>
            <a:srgbClr val="0f1732"/>
          </a:solidFill>
          <a:ln w="635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06" name="TextBox 72"/>
          <p:cNvSpPr/>
          <p:nvPr/>
        </p:nvSpPr>
        <p:spPr>
          <a:xfrm>
            <a:off x="6181200" y="4078440"/>
            <a:ext cx="132552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131,072 values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7" name="Rectangle 73"/>
          <p:cNvSpPr/>
          <p:nvPr/>
        </p:nvSpPr>
        <p:spPr>
          <a:xfrm>
            <a:off x="7525440" y="4078440"/>
            <a:ext cx="3931560" cy="429840"/>
          </a:xfrm>
          <a:prstGeom prst="rect">
            <a:avLst/>
          </a:prstGeom>
          <a:solidFill>
            <a:srgbClr val="0f1732"/>
          </a:solidFill>
          <a:ln w="635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08" name="TextBox 74"/>
          <p:cNvSpPr/>
          <p:nvPr/>
        </p:nvSpPr>
        <p:spPr>
          <a:xfrm>
            <a:off x="7571160" y="4078440"/>
            <a:ext cx="388584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128 × (3×3×64 + 1) = 73,856 params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9" name="Rectangle 75"/>
          <p:cNvSpPr/>
          <p:nvPr/>
        </p:nvSpPr>
        <p:spPr>
          <a:xfrm>
            <a:off x="274320" y="4508640"/>
            <a:ext cx="1325520" cy="429840"/>
          </a:xfrm>
          <a:prstGeom prst="rect">
            <a:avLst/>
          </a:prstGeom>
          <a:solidFill>
            <a:srgbClr val="121e3a"/>
          </a:solidFill>
          <a:ln w="19050">
            <a:solidFill>
              <a:srgbClr val="ff6b3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10" name="TextBox 76"/>
          <p:cNvSpPr/>
          <p:nvPr/>
        </p:nvSpPr>
        <p:spPr>
          <a:xfrm>
            <a:off x="320040" y="4508640"/>
            <a:ext cx="1279800" cy="42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100" b="1" u="none" strike="noStrike">
                <a:solidFill>
                  <a:srgbClr val="ff6b35"/>
                </a:solidFill>
                <a:effectLst/>
                <a:uFillTx/>
                <a:latin typeface="Calibri"/>
              </a:rPr>
              <a:t>After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f6b35"/>
                </a:solidFill>
                <a:effectLst/>
                <a:uFillTx/>
                <a:latin typeface="Calibri"/>
              </a:rPr>
              <a:t>MaxPool 3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1" name="Rectangle 77"/>
          <p:cNvSpPr/>
          <p:nvPr/>
        </p:nvSpPr>
        <p:spPr>
          <a:xfrm>
            <a:off x="1618560" y="4508640"/>
            <a:ext cx="1462680" cy="429840"/>
          </a:xfrm>
          <a:prstGeom prst="rect">
            <a:avLst/>
          </a:prstGeom>
          <a:solidFill>
            <a:srgbClr val="121e3a"/>
          </a:solidFill>
          <a:ln w="635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12" name="TextBox 78"/>
          <p:cNvSpPr/>
          <p:nvPr/>
        </p:nvSpPr>
        <p:spPr>
          <a:xfrm>
            <a:off x="1664280" y="4508640"/>
            <a:ext cx="141696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ffcc00"/>
                </a:solidFill>
                <a:effectLst/>
                <a:uFillTx/>
                <a:latin typeface="Calibri"/>
              </a:rPr>
              <a:t>[128, 16, 16]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3" name="Rectangle 79"/>
          <p:cNvSpPr/>
          <p:nvPr/>
        </p:nvSpPr>
        <p:spPr>
          <a:xfrm>
            <a:off x="3099960" y="4508640"/>
            <a:ext cx="3017160" cy="429840"/>
          </a:xfrm>
          <a:prstGeom prst="rect">
            <a:avLst/>
          </a:prstGeom>
          <a:solidFill>
            <a:srgbClr val="121e3a"/>
          </a:solidFill>
          <a:ln w="635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14" name="TextBox 80"/>
          <p:cNvSpPr/>
          <p:nvPr/>
        </p:nvSpPr>
        <p:spPr>
          <a:xfrm>
            <a:off x="3145680" y="4508640"/>
            <a:ext cx="2971440" cy="42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2×2 pool halves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H and W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5" name="Rectangle 81"/>
          <p:cNvSpPr/>
          <p:nvPr/>
        </p:nvSpPr>
        <p:spPr>
          <a:xfrm>
            <a:off x="6135480" y="4508640"/>
            <a:ext cx="1371240" cy="429840"/>
          </a:xfrm>
          <a:prstGeom prst="rect">
            <a:avLst/>
          </a:prstGeom>
          <a:solidFill>
            <a:srgbClr val="121e3a"/>
          </a:solidFill>
          <a:ln w="635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16" name="TextBox 82"/>
          <p:cNvSpPr/>
          <p:nvPr/>
        </p:nvSpPr>
        <p:spPr>
          <a:xfrm>
            <a:off x="6181200" y="4508640"/>
            <a:ext cx="132552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32,768 values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7" name="Rectangle 83"/>
          <p:cNvSpPr/>
          <p:nvPr/>
        </p:nvSpPr>
        <p:spPr>
          <a:xfrm>
            <a:off x="7525440" y="4508640"/>
            <a:ext cx="3931560" cy="429840"/>
          </a:xfrm>
          <a:prstGeom prst="rect">
            <a:avLst/>
          </a:prstGeom>
          <a:solidFill>
            <a:srgbClr val="121e3a"/>
          </a:solidFill>
          <a:ln w="635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18" name="TextBox 84"/>
          <p:cNvSpPr/>
          <p:nvPr/>
        </p:nvSpPr>
        <p:spPr>
          <a:xfrm>
            <a:off x="7571160" y="4508640"/>
            <a:ext cx="388584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0 params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9" name="Rectangle 85"/>
          <p:cNvSpPr/>
          <p:nvPr/>
        </p:nvSpPr>
        <p:spPr>
          <a:xfrm>
            <a:off x="274320" y="4938840"/>
            <a:ext cx="1325520" cy="430200"/>
          </a:xfrm>
          <a:prstGeom prst="rect">
            <a:avLst/>
          </a:prstGeom>
          <a:solidFill>
            <a:srgbClr val="0f1732"/>
          </a:solidFill>
          <a:ln w="19050">
            <a:solidFill>
              <a:srgbClr val="ff454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20" name="TextBox 86"/>
          <p:cNvSpPr/>
          <p:nvPr/>
        </p:nvSpPr>
        <p:spPr>
          <a:xfrm>
            <a:off x="320040" y="4938840"/>
            <a:ext cx="1279800" cy="42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100" b="1" u="none" strike="noStrike">
                <a:solidFill>
                  <a:srgbClr val="ff4545"/>
                </a:solidFill>
                <a:effectLst/>
                <a:uFillTx/>
                <a:latin typeface="Calibri"/>
              </a:rPr>
              <a:t>Conv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f4545"/>
                </a:solidFill>
                <a:effectLst/>
                <a:uFillTx/>
                <a:latin typeface="Calibri"/>
              </a:rPr>
              <a:t>Block 4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1" name="Rectangle 87"/>
          <p:cNvSpPr/>
          <p:nvPr/>
        </p:nvSpPr>
        <p:spPr>
          <a:xfrm>
            <a:off x="1618560" y="4938840"/>
            <a:ext cx="1462680" cy="430200"/>
          </a:xfrm>
          <a:prstGeom prst="rect">
            <a:avLst/>
          </a:prstGeom>
          <a:solidFill>
            <a:srgbClr val="0f1732"/>
          </a:solidFill>
          <a:ln w="635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22" name="TextBox 88"/>
          <p:cNvSpPr/>
          <p:nvPr/>
        </p:nvSpPr>
        <p:spPr>
          <a:xfrm>
            <a:off x="1664280" y="4938840"/>
            <a:ext cx="141696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ffcc00"/>
                </a:solidFill>
                <a:effectLst/>
                <a:uFillTx/>
                <a:latin typeface="Calibri"/>
              </a:rPr>
              <a:t>[256, 16, 16]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3" name="Rectangle 89"/>
          <p:cNvSpPr/>
          <p:nvPr/>
        </p:nvSpPr>
        <p:spPr>
          <a:xfrm>
            <a:off x="3099960" y="4938840"/>
            <a:ext cx="3017160" cy="430200"/>
          </a:xfrm>
          <a:prstGeom prst="rect">
            <a:avLst/>
          </a:prstGeom>
          <a:solidFill>
            <a:srgbClr val="0f1732"/>
          </a:solidFill>
          <a:ln w="635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24" name="TextBox 90"/>
          <p:cNvSpPr/>
          <p:nvPr/>
        </p:nvSpPr>
        <p:spPr>
          <a:xfrm>
            <a:off x="3145680" y="4938840"/>
            <a:ext cx="2971440" cy="42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256 filters, padding=1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16×16 preserved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5" name="Rectangle 91"/>
          <p:cNvSpPr/>
          <p:nvPr/>
        </p:nvSpPr>
        <p:spPr>
          <a:xfrm>
            <a:off x="6135480" y="4938840"/>
            <a:ext cx="1371240" cy="430200"/>
          </a:xfrm>
          <a:prstGeom prst="rect">
            <a:avLst/>
          </a:prstGeom>
          <a:solidFill>
            <a:srgbClr val="0f1732"/>
          </a:solidFill>
          <a:ln w="635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26" name="TextBox 92"/>
          <p:cNvSpPr/>
          <p:nvPr/>
        </p:nvSpPr>
        <p:spPr>
          <a:xfrm>
            <a:off x="6181200" y="4938840"/>
            <a:ext cx="132552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65,536 values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7" name="Rectangle 93"/>
          <p:cNvSpPr/>
          <p:nvPr/>
        </p:nvSpPr>
        <p:spPr>
          <a:xfrm>
            <a:off x="7525440" y="4938840"/>
            <a:ext cx="3931560" cy="430200"/>
          </a:xfrm>
          <a:prstGeom prst="rect">
            <a:avLst/>
          </a:prstGeom>
          <a:solidFill>
            <a:srgbClr val="0f1732"/>
          </a:solidFill>
          <a:ln w="635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28" name="TextBox 94"/>
          <p:cNvSpPr/>
          <p:nvPr/>
        </p:nvSpPr>
        <p:spPr>
          <a:xfrm>
            <a:off x="7571160" y="4938840"/>
            <a:ext cx="388584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256 × (3×3×128 + 1) = 295,168 params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9" name="Rectangle 95"/>
          <p:cNvSpPr/>
          <p:nvPr/>
        </p:nvSpPr>
        <p:spPr>
          <a:xfrm>
            <a:off x="274320" y="5369040"/>
            <a:ext cx="1325520" cy="430200"/>
          </a:xfrm>
          <a:prstGeom prst="rect">
            <a:avLst/>
          </a:prstGeom>
          <a:solidFill>
            <a:srgbClr val="121e3a"/>
          </a:solidFill>
          <a:ln w="19050">
            <a:solidFill>
              <a:srgbClr val="ff454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30" name="TextBox 96"/>
          <p:cNvSpPr/>
          <p:nvPr/>
        </p:nvSpPr>
        <p:spPr>
          <a:xfrm>
            <a:off x="320040" y="5369040"/>
            <a:ext cx="1279800" cy="42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100" b="1" u="none" strike="noStrike">
                <a:solidFill>
                  <a:srgbClr val="ff4545"/>
                </a:solidFill>
                <a:effectLst/>
                <a:uFillTx/>
                <a:latin typeface="Calibri"/>
              </a:rPr>
              <a:t>After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f4545"/>
                </a:solidFill>
                <a:effectLst/>
                <a:uFillTx/>
                <a:latin typeface="Calibri"/>
              </a:rPr>
              <a:t>MaxPool 4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1" name="Rectangle 97"/>
          <p:cNvSpPr/>
          <p:nvPr/>
        </p:nvSpPr>
        <p:spPr>
          <a:xfrm>
            <a:off x="1618560" y="5369040"/>
            <a:ext cx="1462680" cy="430200"/>
          </a:xfrm>
          <a:prstGeom prst="rect">
            <a:avLst/>
          </a:prstGeom>
          <a:solidFill>
            <a:srgbClr val="121e3a"/>
          </a:solidFill>
          <a:ln w="635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32" name="TextBox 98"/>
          <p:cNvSpPr/>
          <p:nvPr/>
        </p:nvSpPr>
        <p:spPr>
          <a:xfrm>
            <a:off x="1664280" y="5369040"/>
            <a:ext cx="141696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ffcc00"/>
                </a:solidFill>
                <a:effectLst/>
                <a:uFillTx/>
                <a:latin typeface="Calibri"/>
              </a:rPr>
              <a:t>[256, 8, 8]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3" name="Rectangle 99"/>
          <p:cNvSpPr/>
          <p:nvPr/>
        </p:nvSpPr>
        <p:spPr>
          <a:xfrm>
            <a:off x="3099960" y="5369040"/>
            <a:ext cx="3017160" cy="430200"/>
          </a:xfrm>
          <a:prstGeom prst="rect">
            <a:avLst/>
          </a:prstGeom>
          <a:solidFill>
            <a:srgbClr val="121e3a"/>
          </a:solidFill>
          <a:ln w="635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34" name="TextBox 100"/>
          <p:cNvSpPr/>
          <p:nvPr/>
        </p:nvSpPr>
        <p:spPr>
          <a:xfrm>
            <a:off x="3145680" y="5369040"/>
            <a:ext cx="2971440" cy="42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2×2 pool halves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H and W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5" name="Rectangle 101"/>
          <p:cNvSpPr/>
          <p:nvPr/>
        </p:nvSpPr>
        <p:spPr>
          <a:xfrm>
            <a:off x="6135480" y="5369040"/>
            <a:ext cx="1371240" cy="430200"/>
          </a:xfrm>
          <a:prstGeom prst="rect">
            <a:avLst/>
          </a:prstGeom>
          <a:solidFill>
            <a:srgbClr val="121e3a"/>
          </a:solidFill>
          <a:ln w="635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36" name="TextBox 102"/>
          <p:cNvSpPr/>
          <p:nvPr/>
        </p:nvSpPr>
        <p:spPr>
          <a:xfrm>
            <a:off x="6181200" y="5369040"/>
            <a:ext cx="132552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16,384 values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7" name="Rectangle 103"/>
          <p:cNvSpPr/>
          <p:nvPr/>
        </p:nvSpPr>
        <p:spPr>
          <a:xfrm>
            <a:off x="7525440" y="5369040"/>
            <a:ext cx="3931560" cy="430200"/>
          </a:xfrm>
          <a:prstGeom prst="rect">
            <a:avLst/>
          </a:prstGeom>
          <a:solidFill>
            <a:srgbClr val="121e3a"/>
          </a:solidFill>
          <a:ln w="635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38" name="TextBox 104"/>
          <p:cNvSpPr/>
          <p:nvPr/>
        </p:nvSpPr>
        <p:spPr>
          <a:xfrm>
            <a:off x="7571160" y="5369040"/>
            <a:ext cx="388584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0 params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9" name="Rectangle 105"/>
          <p:cNvSpPr/>
          <p:nvPr/>
        </p:nvSpPr>
        <p:spPr>
          <a:xfrm>
            <a:off x="274320" y="5799600"/>
            <a:ext cx="1325520" cy="429840"/>
          </a:xfrm>
          <a:prstGeom prst="rect">
            <a:avLst/>
          </a:prstGeom>
          <a:solidFill>
            <a:srgbClr val="0f1732"/>
          </a:solidFill>
          <a:ln w="19050">
            <a:solidFill>
              <a:srgbClr val="a040c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40" name="TextBox 106"/>
          <p:cNvSpPr/>
          <p:nvPr/>
        </p:nvSpPr>
        <p:spPr>
          <a:xfrm>
            <a:off x="320040" y="5799600"/>
            <a:ext cx="1279800" cy="42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100" b="1" u="none" strike="noStrike">
                <a:solidFill>
                  <a:srgbClr val="a040c0"/>
                </a:solidFill>
                <a:effectLst/>
                <a:uFillTx/>
                <a:latin typeface="Calibri"/>
              </a:rPr>
              <a:t>Flatten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a040c0"/>
                </a:solidFill>
                <a:effectLst/>
                <a:uFillTx/>
                <a:latin typeface="Calibri"/>
              </a:rPr>
              <a:t>→ FC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1" name="Rectangle 107"/>
          <p:cNvSpPr/>
          <p:nvPr/>
        </p:nvSpPr>
        <p:spPr>
          <a:xfrm>
            <a:off x="1618560" y="5799600"/>
            <a:ext cx="1462680" cy="429840"/>
          </a:xfrm>
          <a:prstGeom prst="rect">
            <a:avLst/>
          </a:prstGeom>
          <a:solidFill>
            <a:srgbClr val="0f1732"/>
          </a:solidFill>
          <a:ln w="635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42" name="TextBox 108"/>
          <p:cNvSpPr/>
          <p:nvPr/>
        </p:nvSpPr>
        <p:spPr>
          <a:xfrm>
            <a:off x="1664280" y="5799600"/>
            <a:ext cx="141696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ffcc00"/>
                </a:solidFill>
                <a:effectLst/>
                <a:uFillTx/>
                <a:latin typeface="Calibri"/>
              </a:rPr>
              <a:t>[16,384]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3" name="Rectangle 109"/>
          <p:cNvSpPr/>
          <p:nvPr/>
        </p:nvSpPr>
        <p:spPr>
          <a:xfrm>
            <a:off x="3099960" y="5799600"/>
            <a:ext cx="3017160" cy="429840"/>
          </a:xfrm>
          <a:prstGeom prst="rect">
            <a:avLst/>
          </a:prstGeom>
          <a:solidFill>
            <a:srgbClr val="0f1732"/>
          </a:solidFill>
          <a:ln w="635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44" name="TextBox 110"/>
          <p:cNvSpPr/>
          <p:nvPr/>
        </p:nvSpPr>
        <p:spPr>
          <a:xfrm>
            <a:off x="3145680" y="5799600"/>
            <a:ext cx="2971440" cy="42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256×8×8 unrolled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→ 512 FC units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5" name="Rectangle 111"/>
          <p:cNvSpPr/>
          <p:nvPr/>
        </p:nvSpPr>
        <p:spPr>
          <a:xfrm>
            <a:off x="6135480" y="5799600"/>
            <a:ext cx="1371240" cy="429840"/>
          </a:xfrm>
          <a:prstGeom prst="rect">
            <a:avLst/>
          </a:prstGeom>
          <a:solidFill>
            <a:srgbClr val="0f1732"/>
          </a:solidFill>
          <a:ln w="635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46" name="TextBox 112"/>
          <p:cNvSpPr/>
          <p:nvPr/>
        </p:nvSpPr>
        <p:spPr>
          <a:xfrm>
            <a:off x="6181200" y="5799600"/>
            <a:ext cx="132552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512 units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7" name="Rectangle 113"/>
          <p:cNvSpPr/>
          <p:nvPr/>
        </p:nvSpPr>
        <p:spPr>
          <a:xfrm>
            <a:off x="7525440" y="5799600"/>
            <a:ext cx="3931560" cy="429840"/>
          </a:xfrm>
          <a:prstGeom prst="rect">
            <a:avLst/>
          </a:prstGeom>
          <a:solidFill>
            <a:srgbClr val="0f1732"/>
          </a:solidFill>
          <a:ln w="635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48" name="TextBox 114"/>
          <p:cNvSpPr/>
          <p:nvPr/>
        </p:nvSpPr>
        <p:spPr>
          <a:xfrm>
            <a:off x="7571160" y="5799600"/>
            <a:ext cx="388584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16,384×512 + 512 = 8,389,120 params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9" name="Rectangle 115"/>
          <p:cNvSpPr/>
          <p:nvPr/>
        </p:nvSpPr>
        <p:spPr>
          <a:xfrm>
            <a:off x="274320" y="6230160"/>
            <a:ext cx="1325520" cy="429840"/>
          </a:xfrm>
          <a:prstGeom prst="rect">
            <a:avLst/>
          </a:prstGeom>
          <a:solidFill>
            <a:srgbClr val="121e3a"/>
          </a:solidFill>
          <a:ln w="19050">
            <a:solidFill>
              <a:srgbClr val="00bfa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50" name="TextBox 116"/>
          <p:cNvSpPr/>
          <p:nvPr/>
        </p:nvSpPr>
        <p:spPr>
          <a:xfrm>
            <a:off x="320040" y="6230160"/>
            <a:ext cx="1279800" cy="42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100" b="1" u="none" strike="noStrike">
                <a:solidFill>
                  <a:srgbClr val="00bfa5"/>
                </a:solidFill>
                <a:effectLst/>
                <a:uFillTx/>
                <a:latin typeface="Calibri"/>
              </a:rPr>
              <a:t>Output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00bfa5"/>
                </a:solidFill>
                <a:effectLst/>
                <a:uFillTx/>
                <a:latin typeface="Calibri"/>
              </a:rPr>
              <a:t>Logits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1" name="Rectangle 117"/>
          <p:cNvSpPr/>
          <p:nvPr/>
        </p:nvSpPr>
        <p:spPr>
          <a:xfrm>
            <a:off x="1618560" y="6230160"/>
            <a:ext cx="1462680" cy="429840"/>
          </a:xfrm>
          <a:prstGeom prst="rect">
            <a:avLst/>
          </a:prstGeom>
          <a:solidFill>
            <a:srgbClr val="121e3a"/>
          </a:solidFill>
          <a:ln w="635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52" name="TextBox 118"/>
          <p:cNvSpPr/>
          <p:nvPr/>
        </p:nvSpPr>
        <p:spPr>
          <a:xfrm>
            <a:off x="1664280" y="6230160"/>
            <a:ext cx="141696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ffcc00"/>
                </a:solidFill>
                <a:effectLst/>
                <a:uFillTx/>
                <a:latin typeface="Calibri"/>
              </a:rPr>
              <a:t>[2]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3" name="Rectangle 119"/>
          <p:cNvSpPr/>
          <p:nvPr/>
        </p:nvSpPr>
        <p:spPr>
          <a:xfrm>
            <a:off x="3099960" y="6230160"/>
            <a:ext cx="3017160" cy="429840"/>
          </a:xfrm>
          <a:prstGeom prst="rect">
            <a:avLst/>
          </a:prstGeom>
          <a:solidFill>
            <a:srgbClr val="121e3a"/>
          </a:solidFill>
          <a:ln w="635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54" name="TextBox 120"/>
          <p:cNvSpPr/>
          <p:nvPr/>
        </p:nvSpPr>
        <p:spPr>
          <a:xfrm>
            <a:off x="3145680" y="6230160"/>
            <a:ext cx="2971440" cy="42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512 → 2 classes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(apple, pineapple)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5" name="Rectangle 121"/>
          <p:cNvSpPr/>
          <p:nvPr/>
        </p:nvSpPr>
        <p:spPr>
          <a:xfrm>
            <a:off x="6135480" y="6230160"/>
            <a:ext cx="1371240" cy="429840"/>
          </a:xfrm>
          <a:prstGeom prst="rect">
            <a:avLst/>
          </a:prstGeom>
          <a:solidFill>
            <a:srgbClr val="121e3a"/>
          </a:solidFill>
          <a:ln w="635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56" name="TextBox 122"/>
          <p:cNvSpPr/>
          <p:nvPr/>
        </p:nvSpPr>
        <p:spPr>
          <a:xfrm>
            <a:off x="6181200" y="6230160"/>
            <a:ext cx="132552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2 scores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7" name="Rectangle 123"/>
          <p:cNvSpPr/>
          <p:nvPr/>
        </p:nvSpPr>
        <p:spPr>
          <a:xfrm>
            <a:off x="7525440" y="6230160"/>
            <a:ext cx="3931560" cy="429840"/>
          </a:xfrm>
          <a:prstGeom prst="rect">
            <a:avLst/>
          </a:prstGeom>
          <a:solidFill>
            <a:srgbClr val="121e3a"/>
          </a:solidFill>
          <a:ln w="6350">
            <a:solidFill>
              <a:srgbClr val="3a4a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58" name="TextBox 124"/>
          <p:cNvSpPr/>
          <p:nvPr/>
        </p:nvSpPr>
        <p:spPr>
          <a:xfrm>
            <a:off x="7571160" y="6230160"/>
            <a:ext cx="388584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512×2 + 2 = 1,026 params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80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9" name="Rectangle 1"/>
          <p:cNvSpPr/>
          <p:nvPr/>
        </p:nvSpPr>
        <p:spPr>
          <a:xfrm>
            <a:off x="0" y="0"/>
            <a:ext cx="72720" cy="6857640"/>
          </a:xfrm>
          <a:prstGeom prst="rect">
            <a:avLst/>
          </a:prstGeom>
          <a:solidFill>
            <a:srgbClr val="ff50a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60" name="TextBox 2"/>
          <p:cNvSpPr/>
          <p:nvPr/>
        </p:nvSpPr>
        <p:spPr>
          <a:xfrm>
            <a:off x="320040" y="182880"/>
            <a:ext cx="114296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400" b="1" u="none" strike="noStrike">
                <a:solidFill>
                  <a:srgbClr val="ff50a0"/>
                </a:solidFill>
                <a:effectLst/>
                <a:uFillTx/>
                <a:latin typeface="Calibri"/>
              </a:rPr>
              <a:t>The Bias Term &amp; Full Conv2d Formula</a:t>
            </a:r>
            <a:endParaRPr lang="en-IN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1" name="TextBox 3"/>
          <p:cNvSpPr/>
          <p:nvPr/>
        </p:nvSpPr>
        <p:spPr>
          <a:xfrm>
            <a:off x="320040" y="868680"/>
            <a:ext cx="11429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Every filter also has a bias added to every output value</a:t>
            </a:r>
            <a:endParaRPr lang="en-IN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2" name="Rectangle 4"/>
          <p:cNvSpPr/>
          <p:nvPr/>
        </p:nvSpPr>
        <p:spPr>
          <a:xfrm>
            <a:off x="320040" y="1325880"/>
            <a:ext cx="11521080" cy="27000"/>
          </a:xfrm>
          <a:prstGeom prst="rect">
            <a:avLst/>
          </a:prstGeom>
          <a:solidFill>
            <a:srgbClr val="3a4a6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7640" bIns="-1764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63" name="Rectangle 5"/>
          <p:cNvSpPr/>
          <p:nvPr/>
        </p:nvSpPr>
        <p:spPr>
          <a:xfrm>
            <a:off x="274320" y="1508760"/>
            <a:ext cx="6400440" cy="5074560"/>
          </a:xfrm>
          <a:prstGeom prst="rect">
            <a:avLst/>
          </a:prstGeom>
          <a:solidFill>
            <a:srgbClr val="0f1732"/>
          </a:solidFill>
          <a:ln w="19050">
            <a:solidFill>
              <a:srgbClr val="ff50a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64" name="TextBox 6"/>
          <p:cNvSpPr/>
          <p:nvPr/>
        </p:nvSpPr>
        <p:spPr>
          <a:xfrm>
            <a:off x="457200" y="1645920"/>
            <a:ext cx="60346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ff50a0"/>
                </a:solidFill>
                <a:effectLst/>
                <a:uFillTx/>
                <a:latin typeface="Calibri"/>
              </a:rPr>
              <a:t>Complete Conv2d Formula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5" name="TextBox 7"/>
          <p:cNvSpPr/>
          <p:nvPr/>
        </p:nvSpPr>
        <p:spPr>
          <a:xfrm>
            <a:off x="457200" y="2194560"/>
            <a:ext cx="60346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Output[r, c]  =  Σ (patch[r,c] × filter_weights)  +  bias</a:t>
            </a:r>
            <a:endParaRPr lang="en-IN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6" name="Rectangle 8"/>
          <p:cNvSpPr/>
          <p:nvPr/>
        </p:nvSpPr>
        <p:spPr>
          <a:xfrm>
            <a:off x="457200" y="2788920"/>
            <a:ext cx="5943240" cy="36360"/>
          </a:xfrm>
          <a:prstGeom prst="rect">
            <a:avLst/>
          </a:prstGeom>
          <a:solidFill>
            <a:srgbClr val="3a4a6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8280" bIns="-828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67" name="TextBox 9"/>
          <p:cNvSpPr/>
          <p:nvPr/>
        </p:nvSpPr>
        <p:spPr>
          <a:xfrm>
            <a:off x="457200" y="2880360"/>
            <a:ext cx="914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50a0"/>
                </a:solidFill>
                <a:effectLst/>
                <a:uFillTx/>
                <a:latin typeface="Calibri"/>
              </a:rPr>
              <a:t>Step 1: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8" name="TextBox 10"/>
          <p:cNvSpPr/>
          <p:nvPr/>
        </p:nvSpPr>
        <p:spPr>
          <a:xfrm>
            <a:off x="1417320" y="2880360"/>
            <a:ext cx="4663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Extract 3×3 patch from the input at position (r, c)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9" name="TextBox 11"/>
          <p:cNvSpPr/>
          <p:nvPr/>
        </p:nvSpPr>
        <p:spPr>
          <a:xfrm>
            <a:off x="457200" y="3383280"/>
            <a:ext cx="914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50a0"/>
                </a:solidFill>
                <a:effectLst/>
                <a:uFillTx/>
                <a:latin typeface="Calibri"/>
              </a:rPr>
              <a:t>Step 2: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0" name="TextBox 12"/>
          <p:cNvSpPr/>
          <p:nvPr/>
        </p:nvSpPr>
        <p:spPr>
          <a:xfrm>
            <a:off x="1417320" y="3383280"/>
            <a:ext cx="4663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Multiply each of the 9 patch values by the matching filter weight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1" name="TextBox 13"/>
          <p:cNvSpPr/>
          <p:nvPr/>
        </p:nvSpPr>
        <p:spPr>
          <a:xfrm>
            <a:off x="457200" y="3886200"/>
            <a:ext cx="914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50a0"/>
                </a:solidFill>
                <a:effectLst/>
                <a:uFillTx/>
                <a:latin typeface="Calibri"/>
              </a:rPr>
              <a:t>Step 3: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2" name="TextBox 14"/>
          <p:cNvSpPr/>
          <p:nvPr/>
        </p:nvSpPr>
        <p:spPr>
          <a:xfrm>
            <a:off x="1417320" y="3886200"/>
            <a:ext cx="4663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Sum all 9 products  → one number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3" name="TextBox 15"/>
          <p:cNvSpPr/>
          <p:nvPr/>
        </p:nvSpPr>
        <p:spPr>
          <a:xfrm>
            <a:off x="457200" y="4389120"/>
            <a:ext cx="914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50a0"/>
                </a:solidFill>
                <a:effectLst/>
                <a:uFillTx/>
                <a:latin typeface="Calibri"/>
              </a:rPr>
              <a:t>Step 4: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4" name="TextBox 16"/>
          <p:cNvSpPr/>
          <p:nvPr/>
        </p:nvSpPr>
        <p:spPr>
          <a:xfrm>
            <a:off x="1417320" y="4389120"/>
            <a:ext cx="4663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Add the bias (one learnable value per filter)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5" name="TextBox 17"/>
          <p:cNvSpPr/>
          <p:nvPr/>
        </p:nvSpPr>
        <p:spPr>
          <a:xfrm>
            <a:off x="457200" y="4892040"/>
            <a:ext cx="914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50a0"/>
                </a:solidFill>
                <a:effectLst/>
                <a:uFillTx/>
                <a:latin typeface="Calibri"/>
              </a:rPr>
              <a:t>Step 5: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6" name="TextBox 18"/>
          <p:cNvSpPr/>
          <p:nvPr/>
        </p:nvSpPr>
        <p:spPr>
          <a:xfrm>
            <a:off x="1417320" y="4892040"/>
            <a:ext cx="4663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Result = the value written into the output feature map at (r, c)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7" name="TextBox 19"/>
          <p:cNvSpPr/>
          <p:nvPr/>
        </p:nvSpPr>
        <p:spPr>
          <a:xfrm>
            <a:off x="457200" y="5394960"/>
            <a:ext cx="914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50a0"/>
                </a:solidFill>
                <a:effectLst/>
                <a:uFillTx/>
                <a:latin typeface="Calibri"/>
              </a:rPr>
              <a:t>Step 6: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8" name="TextBox 20"/>
          <p:cNvSpPr/>
          <p:nvPr/>
        </p:nvSpPr>
        <p:spPr>
          <a:xfrm>
            <a:off x="1417320" y="5394960"/>
            <a:ext cx="4663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After all 128×128 positions: one complete 128×128 feature map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9" name="TextBox 21"/>
          <p:cNvSpPr/>
          <p:nvPr/>
        </p:nvSpPr>
        <p:spPr>
          <a:xfrm>
            <a:off x="457200" y="5897880"/>
            <a:ext cx="914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50a0"/>
                </a:solidFill>
                <a:effectLst/>
                <a:uFillTx/>
                <a:latin typeface="Calibri"/>
              </a:rPr>
              <a:t>Repeat: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0" name="TextBox 22"/>
          <p:cNvSpPr/>
          <p:nvPr/>
        </p:nvSpPr>
        <p:spPr>
          <a:xfrm>
            <a:off x="1417320" y="5897880"/>
            <a:ext cx="4663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For all 32 filters → 32 feature maps produced in parallel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1" name="TextBox 23"/>
          <p:cNvSpPr/>
          <p:nvPr/>
        </p:nvSpPr>
        <p:spPr>
          <a:xfrm>
            <a:off x="457200" y="6263640"/>
            <a:ext cx="5943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i="1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Total params per filter:  3×3×in_channels weights + 1 bias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2" name="Rectangle 24"/>
          <p:cNvSpPr/>
          <p:nvPr/>
        </p:nvSpPr>
        <p:spPr>
          <a:xfrm>
            <a:off x="6858000" y="1508760"/>
            <a:ext cx="5028840" cy="1911240"/>
          </a:xfrm>
          <a:prstGeom prst="rect">
            <a:avLst/>
          </a:prstGeom>
          <a:solidFill>
            <a:srgbClr val="0f1732"/>
          </a:solidFill>
          <a:ln w="19050">
            <a:solidFill>
              <a:srgbClr val="00d4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83" name="TextBox 25"/>
          <p:cNvSpPr/>
          <p:nvPr/>
        </p:nvSpPr>
        <p:spPr>
          <a:xfrm>
            <a:off x="7040880" y="1645920"/>
            <a:ext cx="4663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00d4ff"/>
                </a:solidFill>
                <a:effectLst/>
                <a:uFillTx/>
                <a:latin typeface="Calibri"/>
              </a:rPr>
              <a:t>What does the bias do?</a:t>
            </a:r>
            <a:endParaRPr lang="en-IN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4" name="TextBox 26"/>
          <p:cNvSpPr/>
          <p:nvPr/>
        </p:nvSpPr>
        <p:spPr>
          <a:xfrm>
            <a:off x="7040880" y="2103120"/>
            <a:ext cx="466308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3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The bias shifts the activation threshold.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3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Without bias: if all pixels are 0, all outputs are 0.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3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With bias: the filter can 'activate' even for moderate inputs.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Think of it as the filter's 'default sensitivity'.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5" name="Rectangle 27"/>
          <p:cNvSpPr/>
          <p:nvPr/>
        </p:nvSpPr>
        <p:spPr>
          <a:xfrm>
            <a:off x="6858000" y="3600000"/>
            <a:ext cx="5028840" cy="2992680"/>
          </a:xfrm>
          <a:prstGeom prst="rect">
            <a:avLst/>
          </a:prstGeom>
          <a:solidFill>
            <a:srgbClr val="0f1732"/>
          </a:solidFill>
          <a:ln w="19050">
            <a:solidFill>
              <a:srgbClr val="ffc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86" name="TextBox 28"/>
          <p:cNvSpPr/>
          <p:nvPr/>
        </p:nvSpPr>
        <p:spPr>
          <a:xfrm>
            <a:off x="7020000" y="3657240"/>
            <a:ext cx="4663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cc00"/>
                </a:solidFill>
                <a:effectLst/>
                <a:uFillTx/>
                <a:latin typeface="Calibri"/>
              </a:rPr>
              <a:t>Parameter count — Block 1 example</a:t>
            </a:r>
            <a:endParaRPr lang="en-IN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7" name="TextBox 29"/>
          <p:cNvSpPr/>
          <p:nvPr/>
        </p:nvSpPr>
        <p:spPr>
          <a:xfrm>
            <a:off x="7040880" y="3978000"/>
            <a:ext cx="274284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Input channels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8" name="TextBox 30"/>
          <p:cNvSpPr/>
          <p:nvPr/>
        </p:nvSpPr>
        <p:spPr>
          <a:xfrm>
            <a:off x="9829800" y="3978000"/>
            <a:ext cx="155412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3  (RGB)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9" name="TextBox 31"/>
          <p:cNvSpPr/>
          <p:nvPr/>
        </p:nvSpPr>
        <p:spPr>
          <a:xfrm>
            <a:off x="7040880" y="4257720"/>
            <a:ext cx="274284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Filter size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0" name="TextBox 32"/>
          <p:cNvSpPr/>
          <p:nvPr/>
        </p:nvSpPr>
        <p:spPr>
          <a:xfrm>
            <a:off x="9829800" y="4257720"/>
            <a:ext cx="155412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3×3 = 9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1" name="TextBox 33"/>
          <p:cNvSpPr/>
          <p:nvPr/>
        </p:nvSpPr>
        <p:spPr>
          <a:xfrm>
            <a:off x="7040880" y="4537440"/>
            <a:ext cx="274284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Weights per filter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2" name="TextBox 34"/>
          <p:cNvSpPr/>
          <p:nvPr/>
        </p:nvSpPr>
        <p:spPr>
          <a:xfrm>
            <a:off x="9829800" y="4537440"/>
            <a:ext cx="155412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9 × 3 = 27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3" name="TextBox 35"/>
          <p:cNvSpPr/>
          <p:nvPr/>
        </p:nvSpPr>
        <p:spPr>
          <a:xfrm>
            <a:off x="7040880" y="4817160"/>
            <a:ext cx="274284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Bias per filter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4" name="TextBox 36"/>
          <p:cNvSpPr/>
          <p:nvPr/>
        </p:nvSpPr>
        <p:spPr>
          <a:xfrm>
            <a:off x="9829800" y="4817160"/>
            <a:ext cx="155412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5" name="TextBox 37"/>
          <p:cNvSpPr/>
          <p:nvPr/>
        </p:nvSpPr>
        <p:spPr>
          <a:xfrm>
            <a:off x="7040880" y="5097240"/>
            <a:ext cx="274284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fcc00"/>
                </a:solidFill>
                <a:effectLst/>
                <a:uFillTx/>
                <a:latin typeface="Calibri"/>
              </a:rPr>
              <a:t>Total per filter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6" name="TextBox 38"/>
          <p:cNvSpPr/>
          <p:nvPr/>
        </p:nvSpPr>
        <p:spPr>
          <a:xfrm>
            <a:off x="9829800" y="5097240"/>
            <a:ext cx="155412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00e576"/>
                </a:solidFill>
                <a:effectLst/>
                <a:uFillTx/>
                <a:latin typeface="Calibri"/>
              </a:rPr>
              <a:t>27 + 1 = 28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7" name="TextBox 39"/>
          <p:cNvSpPr/>
          <p:nvPr/>
        </p:nvSpPr>
        <p:spPr>
          <a:xfrm>
            <a:off x="7040880" y="5376600"/>
            <a:ext cx="274284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Number of filters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8" name="TextBox 40"/>
          <p:cNvSpPr/>
          <p:nvPr/>
        </p:nvSpPr>
        <p:spPr>
          <a:xfrm>
            <a:off x="9829800" y="5376600"/>
            <a:ext cx="155412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32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9" name="TextBox 41"/>
          <p:cNvSpPr/>
          <p:nvPr/>
        </p:nvSpPr>
        <p:spPr>
          <a:xfrm>
            <a:off x="7040880" y="5656320"/>
            <a:ext cx="274284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fcc00"/>
                </a:solidFill>
                <a:effectLst/>
                <a:uFillTx/>
                <a:latin typeface="Calibri"/>
              </a:rPr>
              <a:t>Total Conv2d params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0" name="TextBox 42"/>
          <p:cNvSpPr/>
          <p:nvPr/>
        </p:nvSpPr>
        <p:spPr>
          <a:xfrm>
            <a:off x="9829800" y="5656320"/>
            <a:ext cx="155412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00e576"/>
                </a:solidFill>
                <a:effectLst/>
                <a:uFillTx/>
                <a:latin typeface="Calibri"/>
              </a:rPr>
              <a:t>28 × 32 = 896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1" name="TextBox 43"/>
          <p:cNvSpPr/>
          <p:nvPr/>
        </p:nvSpPr>
        <p:spPr>
          <a:xfrm>
            <a:off x="7040880" y="5936400"/>
            <a:ext cx="274284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+ BatchNorm params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2" name="TextBox 44"/>
          <p:cNvSpPr/>
          <p:nvPr/>
        </p:nvSpPr>
        <p:spPr>
          <a:xfrm>
            <a:off x="9829800" y="5936400"/>
            <a:ext cx="155412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32 × 2  = 64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3" name="TextBox 45"/>
          <p:cNvSpPr/>
          <p:nvPr/>
        </p:nvSpPr>
        <p:spPr>
          <a:xfrm>
            <a:off x="7040880" y="6216120"/>
            <a:ext cx="274284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fcc00"/>
                </a:solidFill>
                <a:effectLst/>
                <a:uFillTx/>
                <a:latin typeface="Calibri"/>
              </a:rPr>
              <a:t>Block 1 total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4" name="TextBox 46"/>
          <p:cNvSpPr/>
          <p:nvPr/>
        </p:nvSpPr>
        <p:spPr>
          <a:xfrm>
            <a:off x="9829800" y="6216120"/>
            <a:ext cx="155412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00e576"/>
                </a:solidFill>
                <a:effectLst/>
                <a:uFillTx/>
                <a:latin typeface="Calibri"/>
              </a:rPr>
              <a:t>896 + 64 = 960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Application>LibreOffice/25.8.6.2$Windows_X86_64 LibreOffice_project/b4b39682cd9868fa725bc664aff94278d315bd04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en-IN</dc:language>
  <cp:lastModifiedBy/>
  <dcterms:modified xsi:type="dcterms:W3CDTF">2026-05-12T22:58:31Z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